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8" r:id="rId3"/>
    <p:sldId id="257" r:id="rId4"/>
    <p:sldId id="296" r:id="rId5"/>
    <p:sldId id="297" r:id="rId6"/>
    <p:sldId id="298" r:id="rId7"/>
    <p:sldId id="281" r:id="rId8"/>
    <p:sldId id="260" r:id="rId9"/>
    <p:sldId id="261" r:id="rId10"/>
    <p:sldId id="295" r:id="rId11"/>
    <p:sldId id="294" r:id="rId12"/>
    <p:sldId id="293" r:id="rId13"/>
    <p:sldId id="292" r:id="rId14"/>
    <p:sldId id="291" r:id="rId15"/>
    <p:sldId id="290" r:id="rId16"/>
    <p:sldId id="263" r:id="rId17"/>
    <p:sldId id="259" r:id="rId18"/>
    <p:sldId id="266" r:id="rId19"/>
    <p:sldId id="267" r:id="rId20"/>
    <p:sldId id="268" r:id="rId21"/>
    <p:sldId id="287" r:id="rId22"/>
    <p:sldId id="288" r:id="rId23"/>
    <p:sldId id="269" r:id="rId24"/>
    <p:sldId id="270" r:id="rId25"/>
    <p:sldId id="271" r:id="rId26"/>
    <p:sldId id="272" r:id="rId27"/>
    <p:sldId id="273" r:id="rId28"/>
    <p:sldId id="274" r:id="rId29"/>
    <p:sldId id="275" r:id="rId30"/>
    <p:sldId id="276" r:id="rId31"/>
    <p:sldId id="277" r:id="rId32"/>
    <p:sldId id="278" r:id="rId33"/>
    <p:sldId id="262" r:id="rId34"/>
    <p:sldId id="279" r:id="rId35"/>
    <p:sldId id="264" r:id="rId36"/>
    <p:sldId id="280"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5182" autoAdjust="0"/>
  </p:normalViewPr>
  <p:slideViewPr>
    <p:cSldViewPr snapToGrid="0" snapToObjects="1">
      <p:cViewPr varScale="1">
        <p:scale>
          <a:sx n="119" d="100"/>
          <a:sy n="119" d="100"/>
        </p:scale>
        <p:origin x="1854" y="114"/>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nna XU" userId="4d119043-be89-4714-b6c0-a6c7f7a646ef" providerId="ADAL" clId="{09E25715-5500-4F5E-9640-715F0F1B9C93}"/>
    <pc:docChg chg="undo custSel addSld delSld modSld sldOrd">
      <pc:chgData name="Janna XU" userId="4d119043-be89-4714-b6c0-a6c7f7a646ef" providerId="ADAL" clId="{09E25715-5500-4F5E-9640-715F0F1B9C93}" dt="2026-10-16T08:31:47.374" v="1854" actId="47"/>
      <pc:docMkLst>
        <pc:docMk/>
      </pc:docMkLst>
      <pc:sldChg chg="addSp modSp del mod modNotes">
        <pc:chgData name="Janna XU" userId="4d119043-be89-4714-b6c0-a6c7f7a646ef" providerId="ADAL" clId="{09E25715-5500-4F5E-9640-715F0F1B9C93}" dt="2026-10-16T08:31:46.648" v="1853" actId="47"/>
        <pc:sldMkLst>
          <pc:docMk/>
          <pc:sldMk cId="921926763" sldId="282"/>
        </pc:sldMkLst>
      </pc:sldChg>
      <pc:sldChg chg="del modNotes">
        <pc:chgData name="Janna XU" userId="4d119043-be89-4714-b6c0-a6c7f7a646ef" providerId="ADAL" clId="{09E25715-5500-4F5E-9640-715F0F1B9C93}" dt="2026-10-16T08:31:47.374" v="1854" actId="47"/>
        <pc:sldMkLst>
          <pc:docMk/>
          <pc:sldMk cId="3645797983" sldId="283"/>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view3D>
      <c:rotX val="15"/>
      <c:rotY val="2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surface3DChart>
        <c:wireframe val="0"/>
        <c:ser>
          <c:idx val="0"/>
          <c:order val="0"/>
          <c:tx>
            <c:strRef>
              <c:f>Sheet1!$B$1</c:f>
              <c:strCache>
                <c:ptCount val="1"/>
                <c:pt idx="0">
                  <c:v>Series 1</c:v>
                </c:pt>
              </c:strCache>
            </c:strRef>
          </c:tx>
          <c:spPr>
            <a:solidFill>
              <a:schemeClr val="accent2">
                <a:shade val="65000"/>
              </a:schemeClr>
            </a:solidFill>
            <a:ln/>
            <a:effectLst/>
            <a:sp3d/>
          </c:spP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F5F3-42A4-85CE-A0EE7F5D6D73}"/>
            </c:ext>
          </c:extLst>
        </c:ser>
        <c:ser>
          <c:idx val="1"/>
          <c:order val="1"/>
          <c:tx>
            <c:strRef>
              <c:f>Sheet1!$C$1</c:f>
              <c:strCache>
                <c:ptCount val="1"/>
                <c:pt idx="0">
                  <c:v>Series 2</c:v>
                </c:pt>
              </c:strCache>
            </c:strRef>
          </c:tx>
          <c:spPr>
            <a:solidFill>
              <a:schemeClr val="accent2"/>
            </a:solidFill>
            <a:ln/>
            <a:effectLst/>
            <a:sp3d/>
          </c:spPr>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F5F3-42A4-85CE-A0EE7F5D6D73}"/>
            </c:ext>
          </c:extLst>
        </c:ser>
        <c:ser>
          <c:idx val="2"/>
          <c:order val="2"/>
          <c:tx>
            <c:strRef>
              <c:f>Sheet1!$D$1</c:f>
              <c:strCache>
                <c:ptCount val="1"/>
                <c:pt idx="0">
                  <c:v>Series 3</c:v>
                </c:pt>
              </c:strCache>
            </c:strRef>
          </c:tx>
          <c:spPr>
            <a:solidFill>
              <a:schemeClr val="accent2">
                <a:tint val="65000"/>
              </a:schemeClr>
            </a:solidFill>
            <a:ln/>
            <a:effectLst/>
            <a:sp3d/>
          </c:spPr>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F5F3-42A4-85CE-A0EE7F5D6D73}"/>
            </c:ext>
          </c:extLst>
        </c:ser>
        <c:bandFmts>
          <c:bandFmt>
            <c:idx val="0"/>
            <c:spPr>
              <a:solidFill>
                <a:schemeClr val="accent2">
                  <a:shade val="58000"/>
                </a:schemeClr>
              </a:solidFill>
              <a:ln/>
              <a:effectLst/>
              <a:sp3d/>
            </c:spPr>
          </c:bandFmt>
          <c:bandFmt>
            <c:idx val="1"/>
            <c:spPr>
              <a:solidFill>
                <a:schemeClr val="accent2">
                  <a:shade val="86000"/>
                </a:schemeClr>
              </a:solidFill>
              <a:ln/>
              <a:effectLst/>
              <a:sp3d/>
            </c:spPr>
          </c:bandFmt>
          <c:bandFmt>
            <c:idx val="2"/>
            <c:spPr>
              <a:solidFill>
                <a:schemeClr val="accent2">
                  <a:tint val="86000"/>
                </a:schemeClr>
              </a:solidFill>
              <a:ln/>
              <a:effectLst/>
              <a:sp3d/>
            </c:spPr>
          </c:bandFmt>
          <c:bandFmt>
            <c:idx val="3"/>
            <c:spPr>
              <a:solidFill>
                <a:schemeClr val="accent2">
                  <a:tint val="58000"/>
                </a:schemeClr>
              </a:solidFill>
              <a:ln/>
              <a:effectLst/>
              <a:sp3d/>
            </c:spPr>
          </c:bandFmt>
          <c:bandFmt>
            <c:idx val="4"/>
            <c:spPr>
              <a:solidFill>
                <a:schemeClr val="accent2">
                  <a:tint val="30000"/>
                </a:schemeClr>
              </a:solidFill>
              <a:ln/>
              <a:effectLst/>
              <a:sp3d/>
            </c:spPr>
          </c:bandFmt>
          <c:bandFmt>
            <c:idx val="5"/>
            <c:spPr>
              <a:solidFill>
                <a:schemeClr val="accent2">
                  <a:tint val="2000"/>
                </a:schemeClr>
              </a:solidFill>
              <a:ln/>
              <a:effectLst/>
              <a:sp3d/>
            </c:spPr>
          </c:bandFmt>
          <c:bandFmt>
            <c:idx val="6"/>
            <c:spPr>
              <a:solidFill>
                <a:schemeClr val="accent2">
                  <a:tint val="74000"/>
                </a:schemeClr>
              </a:solidFill>
              <a:ln/>
              <a:effectLst/>
              <a:sp3d/>
            </c:spPr>
          </c:bandFmt>
          <c:bandFmt>
            <c:idx val="7"/>
            <c:spPr>
              <a:solidFill>
                <a:schemeClr val="accent2">
                  <a:tint val="46000"/>
                </a:schemeClr>
              </a:solidFill>
              <a:ln/>
              <a:effectLst/>
              <a:sp3d/>
            </c:spPr>
          </c:bandFmt>
          <c:bandFmt>
            <c:idx val="8"/>
            <c:spPr>
              <a:solidFill>
                <a:schemeClr val="accent2">
                  <a:tint val="18000"/>
                </a:schemeClr>
              </a:solidFill>
              <a:ln/>
              <a:effectLst/>
              <a:sp3d/>
            </c:spPr>
          </c:bandFmt>
          <c:bandFmt>
            <c:idx val="9"/>
            <c:spPr>
              <a:solidFill>
                <a:schemeClr val="accent2">
                  <a:tint val="90000"/>
                </a:schemeClr>
              </a:solidFill>
              <a:ln/>
              <a:effectLst/>
              <a:sp3d/>
            </c:spPr>
          </c:bandFmt>
          <c:bandFmt>
            <c:idx val="10"/>
            <c:spPr>
              <a:solidFill>
                <a:schemeClr val="accent2">
                  <a:tint val="62000"/>
                </a:schemeClr>
              </a:solidFill>
              <a:ln/>
              <a:effectLst/>
              <a:sp3d/>
            </c:spPr>
          </c:bandFmt>
          <c:bandFmt>
            <c:idx val="11"/>
            <c:spPr>
              <a:solidFill>
                <a:schemeClr val="accent2">
                  <a:tint val="34000"/>
                </a:schemeClr>
              </a:solidFill>
              <a:ln/>
              <a:effectLst/>
              <a:sp3d/>
            </c:spPr>
          </c:bandFmt>
          <c:bandFmt>
            <c:idx val="12"/>
            <c:spPr>
              <a:solidFill>
                <a:schemeClr val="accent2">
                  <a:tint val="6000"/>
                </a:schemeClr>
              </a:solidFill>
              <a:ln/>
              <a:effectLst/>
              <a:sp3d/>
            </c:spPr>
          </c:bandFmt>
          <c:bandFmt>
            <c:idx val="13"/>
            <c:spPr>
              <a:solidFill>
                <a:schemeClr val="accent2">
                  <a:tint val="78000"/>
                </a:schemeClr>
              </a:solidFill>
              <a:ln/>
              <a:effectLst/>
              <a:sp3d/>
            </c:spPr>
          </c:bandFmt>
          <c:bandFmt>
            <c:idx val="14"/>
            <c:spPr>
              <a:solidFill>
                <a:schemeClr val="accent2">
                  <a:tint val="50000"/>
                </a:schemeClr>
              </a:solidFill>
              <a:ln/>
              <a:effectLst/>
              <a:sp3d/>
            </c:spPr>
          </c:bandFmt>
        </c:bandFmts>
        <c:axId val="1233663999"/>
        <c:axId val="1233661599"/>
        <c:axId val="1065684399"/>
      </c:surface3DChart>
      <c:catAx>
        <c:axId val="1233663999"/>
        <c:scaling>
          <c:orientation val="minMax"/>
        </c:scaling>
        <c:delete val="1"/>
        <c:axPos val="b"/>
        <c:numFmt formatCode="General" sourceLinked="1"/>
        <c:majorTickMark val="out"/>
        <c:minorTickMark val="none"/>
        <c:tickLblPos val="nextTo"/>
        <c:crossAx val="1233661599"/>
        <c:crosses val="autoZero"/>
        <c:auto val="1"/>
        <c:lblAlgn val="ctr"/>
        <c:lblOffset val="100"/>
        <c:noMultiLvlLbl val="0"/>
      </c:catAx>
      <c:valAx>
        <c:axId val="1233661599"/>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233663999"/>
        <c:crosses val="autoZero"/>
        <c:crossBetween val="midCat"/>
      </c:valAx>
      <c:serAx>
        <c:axId val="1065684399"/>
        <c:scaling>
          <c:orientation val="minMax"/>
        </c:scaling>
        <c:delete val="1"/>
        <c:axPos val="b"/>
        <c:majorTickMark val="out"/>
        <c:minorTickMark val="none"/>
        <c:tickLblPos val="nextTo"/>
        <c:crossAx val="1233661599"/>
        <c:crosses val="autoZero"/>
      </c:serAx>
      <c:spPr>
        <a:noFill/>
        <a:ln w="25400">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877484-4212-4FA6-B014-052347FDA4B1}" type="datetimeFigureOut">
              <a:rPr lang="en-SG" smtClean="0"/>
              <a:t>16/10/2026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68DA20-BD17-48DA-92CC-65CD40923A15}" type="slidenum">
              <a:rPr lang="en-SG" smtClean="0"/>
              <a:t>‹#›</a:t>
            </a:fld>
            <a:endParaRPr lang="en-SG"/>
          </a:p>
        </p:txBody>
      </p:sp>
    </p:spTree>
    <p:extLst>
      <p:ext uri="{BB962C8B-B14F-4D97-AF65-F5344CB8AC3E}">
        <p14:creationId xmlns:p14="http://schemas.microsoft.com/office/powerpoint/2010/main" val="7303499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Welcome, and thank you for coming. I'm Janna Xu Cong, Senior Data Curator at SMU Libraries.</a:t>
            </a:r>
          </a:p>
          <a:p>
            <a:r>
              <a:rPr lang="en-SG" dirty="0"/>
              <a:t>Today is a Python workshop supported by AI, not an AI-only workshop. Three things work together: Python builds the chart and the coding foundation, AI explains, recreates, improves and extends, and human judgement asks the better question and interprets responsibly.</a:t>
            </a:r>
          </a:p>
          <a:p>
            <a:r>
              <a:rPr lang="en-SG" dirty="0"/>
              <a:t>A note on how we will run today. I only have one screen, so I will talk through the slides first for each idea, and then switch over to the notebook to run the code. Everything you need to understand a chart is on the slide, so you will not lose anything when I switch across.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Ok, just to set a little bit expectation. We have only 1.5 hours, so we cannot include everything here. If not, it will be a one week workshop. My goal today is to give you an introduction of the some of commonly used Python  visualisations, and how we can make of AI to enhance them if needed.</a:t>
            </a:r>
          </a:p>
          <a:p>
            <a:r>
              <a:rPr lang="en-SG" dirty="0"/>
              <a:t>After this session, you should be able to choose a suitable chart for a data question, read and adapt Python visualisation code, use AI to explain, recreate, improve and extend that code, interpret visual patterns with care, and recognise when a chart is impressive but not actually useful.</a:t>
            </a:r>
          </a:p>
          <a:p>
            <a:r>
              <a:rPr lang="en-SG" dirty="0"/>
              <a:t>The goal is a repeatable workflow, not a list of functions you have to memorise. If you leave with the workflow, you can apply it to any dataset.</a:t>
            </a:r>
          </a:p>
        </p:txBody>
      </p:sp>
    </p:spTree>
    <p:extLst>
      <p:ext uri="{BB962C8B-B14F-4D97-AF65-F5344CB8AC3E}">
        <p14:creationId xmlns:p14="http://schemas.microsoft.com/office/powerpoint/2010/main" val="28641383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Before we touch any code, let's be clear about why we visualise at all.</a:t>
            </a:r>
          </a:p>
          <a:p>
            <a:r>
              <a:rPr lang="en-SG" dirty="0"/>
              <a:t>Data visualisation is not decoration. It is a way of thinking. Three reasons matter today. First, we see patterns that tables hide - shape, trends, clusters and outliers. Second, a good chart triggers curiosity; it makes you ask a better question rather than just showing you numbers. Third, a clear chart helps other people understand and decide.</a:t>
            </a:r>
          </a:p>
          <a:p>
            <a:r>
              <a:rPr lang="en-SG" dirty="0"/>
              <a:t>Keep that third one in mind. Most of the charts you make will be read by someone who was not in the room when you made them.</a:t>
            </a:r>
          </a:p>
        </p:txBody>
      </p:sp>
    </p:spTree>
    <p:extLst>
      <p:ext uri="{BB962C8B-B14F-4D97-AF65-F5344CB8AC3E}">
        <p14:creationId xmlns:p14="http://schemas.microsoft.com/office/powerpoint/2010/main" val="30886627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97D59-0F16-01FE-93B2-5D1B144BC8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2A6890-08E8-EBC5-68EF-E7BCE6E301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84FBDC-48C5-1B47-50D4-8715507A76B4}"/>
              </a:ext>
            </a:extLst>
          </p:cNvPr>
          <p:cNvSpPr>
            <a:spLocks noGrp="1"/>
          </p:cNvSpPr>
          <p:nvPr>
            <p:ph type="body" idx="1"/>
          </p:nvPr>
        </p:nvSpPr>
        <p:spPr/>
        <p:txBody>
          <a:bodyPr/>
          <a:lstStyle/>
          <a:p>
            <a:r>
              <a:rPr lang="en-SG" dirty="0"/>
              <a:t>Before we look at which library does what, the fair question is why Python at all. There are quicker tools for a single chart - Excel will draw you a bar chart in ten seconds.</a:t>
            </a:r>
          </a:p>
          <a:p>
            <a:r>
              <a:rPr lang="en-SG" dirty="0"/>
              <a:t>Three reasons. It is free and everywhere: no licence, runs in the browser through Colab, and the same code works on your laptop, a server or a colleague's machine. It is reproducible: the code is the record of what you did, so any chart can be remade and checked six months later - and that matters enormously for research. And it scales: the same two lines handle five hundred rows or five million, where a spreadsheet gives up.</a:t>
            </a:r>
          </a:p>
          <a:p>
            <a:r>
              <a:rPr lang="en-SG" dirty="0"/>
              <a:t>There is also a practical reason for today. Python is the language every AI assistant knows most deeply, so the help you get is better.</a:t>
            </a:r>
          </a:p>
          <a:p>
            <a:r>
              <a:rPr lang="en-SG" dirty="0"/>
              <a:t>Be honest about the trade-off, though. The start is steeper than Excel or Tableau. You are trading a few hours of learning for control, repeatability and scale. Whether that is worth it depends on whether you will make this chart once or fifty times.</a:t>
            </a:r>
          </a:p>
        </p:txBody>
      </p:sp>
    </p:spTree>
    <p:extLst>
      <p:ext uri="{BB962C8B-B14F-4D97-AF65-F5344CB8AC3E}">
        <p14:creationId xmlns:p14="http://schemas.microsoft.com/office/powerpoint/2010/main" val="19211151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7EAD2-5702-BEF4-AC8D-7DBE76B3B1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2CCA75-249B-53AA-58AC-DCEA3D21BF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EC78DB-5A63-38D8-97CB-ED62781646A3}"/>
              </a:ext>
            </a:extLst>
          </p:cNvPr>
          <p:cNvSpPr>
            <a:spLocks noGrp="1"/>
          </p:cNvSpPr>
          <p:nvPr>
            <p:ph type="body" idx="1"/>
          </p:nvPr>
        </p:nvSpPr>
        <p:spPr/>
        <p:txBody>
          <a:bodyPr/>
          <a:lstStyle/>
          <a:p>
            <a:r>
              <a:rPr lang="en-SG" dirty="0"/>
              <a:t>Before we run anything, let's talk about the toolbox, because you will see all of these in the notebook and I don't want them to be mysterious.</a:t>
            </a:r>
          </a:p>
          <a:p>
            <a:r>
              <a:rPr lang="en-SG" dirty="0"/>
              <a:t>pandas and numpy are the data layer. They load the CSV, clean it, group it and reshape it. Every chart starts from a tidy DataFrame - the plotting is often the last and shortest step.</a:t>
            </a:r>
          </a:p>
          <a:p>
            <a:r>
              <a:rPr lang="en-SG" dirty="0"/>
              <a:t>matplotlib is the foundation. Full control over every element, and it is what seaborn is built on top of. seaborn gives you statistical charts in roughly one line with much cleaner defaults. plotly.express gives you interactive charts you can hover, zoom and filter. And wordcloud turns free text into a frequency picture.</a:t>
            </a:r>
          </a:p>
          <a:p>
            <a:r>
              <a:rPr lang="en-SG" dirty="0"/>
              <a:t>How to choose: a static chart for a report, reach for seaborn. Something unusual, or you need fine control, drop down to matplotlib. Exploring, or demoing live, use Plotly.</a:t>
            </a:r>
          </a:p>
          <a:p>
            <a:r>
              <a:rPr lang="en-SG" dirty="0"/>
              <a:t>Why this matters for today - once you know which library owns which job, you can read any AI-generated code and judge whether it reached for the right tool. That is a real skill and it takes about five minutes to learn.</a:t>
            </a:r>
          </a:p>
        </p:txBody>
      </p:sp>
    </p:spTree>
    <p:extLst>
      <p:ext uri="{BB962C8B-B14F-4D97-AF65-F5344CB8AC3E}">
        <p14:creationId xmlns:p14="http://schemas.microsoft.com/office/powerpoint/2010/main" val="10513647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FD4FA-9AD9-CFFC-8258-CD7FEEB580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AF5A58-A2CF-76AE-39DC-3BC58A22E4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EE26EF-2F28-C66C-5055-8B06EDF1E719}"/>
              </a:ext>
            </a:extLst>
          </p:cNvPr>
          <p:cNvSpPr>
            <a:spLocks noGrp="1"/>
          </p:cNvSpPr>
          <p:nvPr>
            <p:ph type="body" idx="1"/>
          </p:nvPr>
        </p:nvSpPr>
        <p:spPr/>
        <p:txBody>
          <a:bodyPr/>
          <a:lstStyle/>
          <a:p>
            <a:r>
              <a:rPr lang="en-SG" dirty="0"/>
              <a:t>Now the data. We are using the TMDB 5000 Movies dataset - roughly five thousand films, each with a title, genres, budget, revenue, runtime, popularity, rating and vote count.</a:t>
            </a:r>
          </a:p>
          <a:p>
            <a:r>
              <a:rPr lang="en-SG" dirty="0"/>
              <a:t>There are four preparation steps and each one is a decision, not a formality. The genres column arrives as JSON text, so we extract the first genre into primary_genre. We pull release_year out of release_date. We replace zeros in budget and revenue with NaN, because a zero budget almost certainly means missing, not free. And we keep only films with more than fifty votes, so the averages are based on enough people.</a:t>
            </a:r>
          </a:p>
          <a:p>
            <a:r>
              <a:rPr lang="en-SG" dirty="0"/>
              <a:t>Two ways to load it in the notebook. Option A, upload tmdb_5000_movies.csv from your computer. Option B, pull it from Kaggle with kagglehub. If Option B does not work in your environment, just use Option A - it is not worth troubleshooting.</a:t>
            </a:r>
          </a:p>
          <a:p>
            <a:r>
              <a:rPr lang="en-SG" dirty="0"/>
              <a:t>The caution: every cleaning decision shapes the chart. Filtering by vote count removes obscure films, which is a reasonable choice - but it is one we should say out loud rather than hide.</a:t>
            </a:r>
          </a:p>
        </p:txBody>
      </p:sp>
    </p:spTree>
    <p:extLst>
      <p:ext uri="{BB962C8B-B14F-4D97-AF65-F5344CB8AC3E}">
        <p14:creationId xmlns:p14="http://schemas.microsoft.com/office/powerpoint/2010/main" val="30118615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Quick pause. Take thirty seconds and write down one question you are genuinely curious about - it can be about movies, or about your own research data.</a:t>
            </a:r>
          </a:p>
          <a:p>
            <a:r>
              <a:rPr lang="en-SG" dirty="0"/>
              <a:t>Don't overthink it. Just one question.</a:t>
            </a:r>
          </a:p>
          <a:p>
            <a:r>
              <a:rPr lang="en-SG" dirty="0"/>
              <a:t>Hold on to it. We will come back to these at the end of the session, and I want you to check whether you now know which chart would answer yours.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We are now in Part 1. This part is deliberately code-free.</a:t>
            </a:r>
          </a:p>
          <a:p>
            <a:r>
              <a:rPr lang="en-SG" dirty="0"/>
              <a:t>The aim here is to build a visualisation mindset before we write anything. If the thinking is right, the code is the easy part.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This is the single most useful slide in the deck. Before you plot, ask what you are trying to see.</a:t>
            </a:r>
          </a:p>
          <a:p>
            <a:r>
              <a:rPr lang="en-SG" dirty="0"/>
              <a:t>Distribution - how is one variable spread? Histogram or box plot. Comparison and ranking - which group is higher or lower? Bar chart or treemap. Relationship - do variables move together? Scatter or heatmap. Time and trend - what changes over time? Line chart. Density - where do points concentrate? Hexbin or a 2D density plot. And for text themes or interactive detail - a word cloud, a Plotly chart, or a 3D scatter.</a:t>
            </a:r>
          </a:p>
          <a:p>
            <a:r>
              <a:rPr lang="en-SG" dirty="0"/>
              <a:t>Chart choice is a thinking decision, not just a technical decision. If you can name the question type, the chart almost picks itself.</a:t>
            </a:r>
          </a:p>
        </p:txBody>
      </p:sp>
    </p:spTree>
    <p:extLst>
      <p:ext uri="{BB962C8B-B14F-4D97-AF65-F5344CB8AC3E}">
        <p14:creationId xmlns:p14="http://schemas.microsoft.com/office/powerpoint/2010/main" val="42896123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Before we open the notebook, I want to show you what we are actually going to build, and - more importantly - what each chart is good for. Two per slide. For each one: what it is best for, and two sample scenarios so you can map it onto your own work.</a:t>
            </a:r>
          </a:p>
          <a:p>
            <a:r>
              <a:rPr lang="en-SG" dirty="0"/>
              <a:t>Both of these answer questions about the shape of data. The histogram takes one numeric variable and shows you how it is spread - where the centre is, how wide, whether it is skewed. Its y-axis is a count, so it must start from zero.</a:t>
            </a:r>
          </a:p>
          <a:p>
            <a:r>
              <a:rPr lang="en-SG" dirty="0"/>
              <a:t>The box plot does the same job across groups. The box is the middle fifty per cent, the line is the median, and the dots are outliers. That is what lets you say 'these two genres have the same average but completely different spreads'.</a:t>
            </a:r>
          </a:p>
          <a:p>
            <a:r>
              <a:rPr lang="en-SG" dirty="0"/>
              <a:t>Sample scenarios beyond movies: distribution of exam scores, or salary range by department.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These two are about comparison and composition, and they are not interchangeable.</a:t>
            </a:r>
          </a:p>
          <a:p>
            <a:r>
              <a:rPr lang="en-SG" dirty="0"/>
              <a:t>A bar chart ranks categories. The one rule people break constantly: the value axis must start from zero, because with a bar chart we read length as quantity. Truncate the axis and you exaggerate the difference - that is how misleading charts get made, usually by accident.</a:t>
            </a:r>
          </a:p>
          <a:p>
            <a:r>
              <a:rPr lang="en-SG" dirty="0"/>
              <a:t>A treemap answers a different question: how does the whole divide up? Area shows quantity, so it handles many categories at once and shows you the dominant one plus the long tail in a single view.</a:t>
            </a:r>
          </a:p>
          <a:p>
            <a:r>
              <a:rPr lang="en-SG" dirty="0"/>
              <a:t>Rule of thumb: ranking, use a bar. Share of a whole with lots of categories, use a treemap.</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Now relationships. Does one thing move with another?</a:t>
            </a:r>
          </a:p>
          <a:p>
            <a:r>
              <a:rPr lang="en-SG" dirty="0"/>
              <a:t>The scatter plot is the workhorse - two numeric variables, one point per case. Rating against number of votes, or study hours against exam score.</a:t>
            </a:r>
          </a:p>
          <a:p>
            <a:r>
              <a:rPr lang="en-SG" dirty="0"/>
              <a:t>The bubble chart pushes that to three or four variables by adding size and colour. It is genuinely more informative, and it is also where charts start to fight themselves. Four encodings is roughly the ceiling before your audience stops reading and starts squinting.</a:t>
            </a:r>
          </a:p>
          <a:p>
            <a:r>
              <a:rPr lang="en-SG" dirty="0"/>
              <a:t>The caution for both: a pattern here suggests a relationship. It never proves cause and effect.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Two very different jobs on this slide.</a:t>
            </a:r>
          </a:p>
          <a:p>
            <a:r>
              <a:rPr lang="en-SG" dirty="0"/>
              <a:t>The line chart is for change over time, and it is the one exception to the start-at-zero rule - because with a line we read the slope, not the length, so the y-axis does not have to start from zero. Average rating by release year, or monthly library visits over a decade.</a:t>
            </a:r>
          </a:p>
          <a:p>
            <a:r>
              <a:rPr lang="en-SG" dirty="0"/>
              <a:t>The heatmap is for scanning many pairwise relationships at once. Instead of drawing fifteen scatter plots, you get one grid with the correlation values printed in. It is a screening tool - you use it to decide which pair is worth a proper look.</a:t>
            </a:r>
          </a:p>
          <a:p>
            <a:r>
              <a:rPr lang="en-SG" dirty="0"/>
              <a:t>And the phrase from earlier applies here more than anywhere: correlation is a clue, not a conclusion.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These two are what you reach for when the standard chart stops working.</a:t>
            </a:r>
          </a:p>
          <a:p>
            <a:r>
              <a:rPr lang="en-SG" dirty="0"/>
              <a:t>When a scatter plot has thousands of points, they pile on top of each other and you can no longer see where the mass of the data is. A hexbin bins them and colours by count, so you get concentration back. What you give up is the individual case - this chart is about the crowd, not the person.</a:t>
            </a:r>
          </a:p>
          <a:p>
            <a:r>
              <a:rPr lang="en-SG" dirty="0"/>
              <a:t>The 3D scatter adds a third numeric axis. I have included it deliberately as the cautionary example. It is exciting to look at, it is hard to read, depth is genuinely difficult to judge, and points hide behind other points. Great for exploring on your own screen where you can rotate it. Rarely the right choice for a report.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Last pair, and both are slightly unusual.</a:t>
            </a:r>
          </a:p>
          <a:p>
            <a:r>
              <a:rPr lang="en-SG" dirty="0"/>
              <a:t>The word cloud handles text rather than numbers - a quick feel for which words recur in free text. Common words in movie overviews, or themes in open-ended survey answers. The caution matters here: size shows frequency, not importance. Word clouds present beautifully and analyse weakly, which makes them a perfect test of the judgement question we keep returning to.</a:t>
            </a:r>
          </a:p>
          <a:p>
            <a:r>
              <a:rPr lang="en-SG" dirty="0"/>
              <a:t>The interactive Plotly chart is for exploring rather than presenting. You hover, you zoom, you identify a single case. That is how you find the hidden-gem films. And if you share it as an HTML file, your reader can explore it themselves rather than taking your word for it.</a:t>
            </a:r>
          </a:p>
          <a:p>
            <a:r>
              <a:rPr lang="en-SG" dirty="0"/>
              <a:t>That is the full set. Now let's go and build them.</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Part 2. Now we bring AI in.</a:t>
            </a:r>
          </a:p>
          <a:p>
            <a:r>
              <a:rPr lang="en-SG" dirty="0"/>
              <a:t>The framing matters: AI is a visualisation partner, not a replacement for learning.</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This is the loop we will repeat for every single visualisation today.</a:t>
            </a:r>
          </a:p>
          <a:p>
            <a:r>
              <a:rPr lang="en-SG" dirty="0"/>
              <a:t>Ask - start with a data question. Code - study the Python script before you run it. See - run it and interpret the chart. Prompt - use AI to explain or improve it. Compare - check the Python output against what AI gives you.</a:t>
            </a:r>
          </a:p>
          <a:p>
            <a:r>
              <a:rPr lang="en-SG" dirty="0"/>
              <a:t>The habit I want to build is: understand first, prompt second. If you prompt first, you get an answer you cannot check. If you understand first, AI becomes an accelerator instead of a substitute.</a:t>
            </a:r>
          </a:p>
        </p:txBody>
      </p:sp>
    </p:spTree>
    <p:extLst>
      <p:ext uri="{BB962C8B-B14F-4D97-AF65-F5344CB8AC3E}">
        <p14:creationId xmlns:p14="http://schemas.microsoft.com/office/powerpoint/2010/main" val="33482893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Part 3. This is where we start switching between the slides and the notebook.</a:t>
            </a:r>
          </a:p>
          <a:p>
            <a:r>
              <a:rPr lang="en-SG" dirty="0"/>
              <a:t>For each chart I will set it up here on the slide - the question, the code, and how the code works - and then we go across and run it. Same loop every time: Python first, AI second.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Chart one. The question: what is the distribution of movie ratings?</a:t>
            </a:r>
          </a:p>
          <a:p>
            <a:r>
              <a:rPr lang="en-SG" dirty="0"/>
              <a:t>One line of seaborn does it: sns.histplot with vote_average, thirty bins, and kde=True. bins=30 controls how finely the ratings are grouped - change it and the shape of the story changes, which is worth knowing. kde=True lays a smooth density curve over the bars. And the titles and axis labels are what actually make it readable to someone else.</a:t>
            </a:r>
          </a:p>
          <a:p>
            <a:r>
              <a:rPr lang="en-SG" dirty="0"/>
              <a:t>When it comes up, look for four things: where the centre is, how wide the spread is, whether it is skewed, and whether there are unusual values at either end.</a:t>
            </a:r>
          </a:p>
          <a:p>
            <a:r>
              <a:rPr lang="en-SG" dirty="0"/>
              <a:t>Then run the AI prompt - ask it to recreate this and explain each line - and compare. Write down one insight and one caution.</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Chart two. Which genre has the highest average rating?</a:t>
            </a:r>
          </a:p>
          <a:p>
            <a:r>
              <a:rPr lang="en-SG" dirty="0"/>
              <a:t>Before I run it - predict. Which genre do you think comes out on top? Hold your guess.</a:t>
            </a:r>
          </a:p>
          <a:p>
            <a:r>
              <a:rPr lang="en-SG" dirty="0"/>
              <a:t>The code groups by primary_genre, takes the mean of vote_average, sorts the values, and plots horizontal bars. groupby plus mean gives one number per genre. sort_values puts them in order, which is what makes a bar chart readable. And barh - horizontal bars - is the right choice here because genre names are long.</a:t>
            </a:r>
          </a:p>
          <a:p>
            <a:r>
              <a:rPr lang="en-SG" dirty="0"/>
              <a:t>After it runs: was your guess right? Are the differences actually large, or are they all within half a point? And should we trust an average alone, when some genres have far fewer films than others? Hold that thought, because the box plot answers it.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Chart three, and this one is new. A treemap - how is the whole divided?</a:t>
            </a:r>
          </a:p>
          <a:p>
            <a:r>
              <a:rPr lang="en-SG" dirty="0"/>
              <a:t>The question: how are movies distributed across genres? We count the films in each genre with groupby and size, reset_index names that count column, and px.treemap draws it.</a:t>
            </a:r>
          </a:p>
          <a:p>
            <a:r>
              <a:rPr lang="en-SG" dirty="0"/>
              <a:t>The thing to understand about a treemap is that area encodes quantity. A bigger rectangle simply means more movies. That makes it very good at showing you a dominant category and the long tail of small ones at the same time, which a bar chart does less vividly.</a:t>
            </a:r>
          </a:p>
          <a:p>
            <a:r>
              <a:rPr lang="en-SG" dirty="0"/>
              <a:t>Ask AI to recreate it in Plotly and explain how to read a treemap - the interpretation is the part people get wrong.</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Chart four, also new, and this one is a different kind of data entirely - text.</a:t>
            </a:r>
          </a:p>
          <a:p>
            <a:r>
              <a:rPr lang="en-SG" dirty="0"/>
              <a:t>The question: which words appear most often in movie overviews? We join every overview into one long string, then WordCloud generates the image. Stopwords are doing a lot of work here - they strip out filler like 'the', 'movie' and 'story' which would otherwise dominate.</a:t>
            </a:r>
          </a:p>
          <a:p>
            <a:r>
              <a:rPr lang="en-SG" dirty="0"/>
              <a:t>Now the caution, and it is the most important one on this slide. Word size shows frequency, not importance. A word can be everywhere and mean nothing. Word clouds look impressive in a presentation and are genuinely weak as analysis - which makes this a perfect example of the judgement question we keep coming back to.</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Chart five. Do ratings vary widely across genres? This is the follow-up to the bar chart.</a:t>
            </a:r>
          </a:p>
          <a:p>
            <a:r>
              <a:rPr lang="en-SG" dirty="0"/>
              <a:t>A box plot shows what an average hides. The box is the middle fifty per cent of films, the line inside is the median, the whiskers show the range, and the dots beyond them are outliers. Rotating the x labels by forty-five degrees is what keeps the genre names readable.</a:t>
            </a:r>
          </a:p>
          <a:p>
            <a:r>
              <a:rPr lang="en-SG" dirty="0"/>
              <a:t>Look for which genre has a wide spread, which is consistent, and where the outliers cluster.</a:t>
            </a:r>
          </a:p>
          <a:p>
            <a:r>
              <a:rPr lang="en-SG" dirty="0"/>
              <a:t>The message to land: two genres can have the same average and completely different stories. Averages can hide stories - that is why this chart exists.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Chart six. Is rating related to number of votes?</a:t>
            </a:r>
          </a:p>
          <a:p>
            <a:r>
              <a:rPr lang="en-SG" dirty="0"/>
              <a:t>Each point is one movie. alpha=0.6 makes the points semi-transparent so you can see where they pile up.</a:t>
            </a:r>
          </a:p>
          <a:p>
            <a:r>
              <a:rPr lang="en-SG" dirty="0"/>
              <a:t>Read it in quadrants. High rating with high votes - popular and well-rated. High rating with few votes - possible hidden gems, and that is the interesting corner. Low rating with high votes - popular but not loved. Low rating with few votes - films that never found an audience.</a:t>
            </a:r>
          </a:p>
          <a:p>
            <a:r>
              <a:rPr lang="en-SG" dirty="0"/>
              <a:t>And the caution: a scatter plot can suggest a relationship. It does not prove cause and effect. Do not let a nice-looking cloud of points talk you into a causal claim.</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Chart seven. Which numeric variables are related to each other?</a:t>
            </a:r>
          </a:p>
          <a:p>
            <a:r>
              <a:rPr lang="en-SG" dirty="0"/>
              <a:t>We select the numeric columns, call .corr() to compute correlations between them, and hand that matrix to sns.heatmap. annot=True prints the actual values, fmt='.2f' rounds them to two decimals, and cmap='coolwarm' shows both direction and strength through colour.</a:t>
            </a:r>
          </a:p>
          <a:p>
            <a:r>
              <a:rPr lang="en-SG" dirty="0"/>
              <a:t>Look for the strongest pair, and then ask whether it actually makes sense. Budget and revenue will be strong - that is unsurprising. The interesting ones are the weak relationships you expected to be strong.</a:t>
            </a:r>
          </a:p>
          <a:p>
            <a:r>
              <a:rPr lang="en-SG" dirty="0"/>
              <a:t>The key phrase for this slide, and please write it down: correlation is a clue, not a conclusion.</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Chart eight. How have average ratings changed over time?</a:t>
            </a:r>
          </a:p>
          <a:p>
            <a:r>
              <a:rPr lang="en-SG" dirty="0"/>
              <a:t>We group by release_year, take the mean, reset_index to get a DataFrame back, and draw a line.</a:t>
            </a:r>
          </a:p>
          <a:p>
            <a:r>
              <a:rPr lang="en-SG" dirty="0"/>
              <a:t>Three things to look for: is there a trend, how much is just noise, and are there sample-size problems. That third one matters here - the early years have very few films in this dataset, so those points swing wildly. That is not a change in film quality, it is a change in how much data we have.</a:t>
            </a:r>
          </a:p>
          <a:p>
            <a:r>
              <a:rPr lang="en-SG" dirty="0"/>
              <a:t>Ask AI to add a rolling average and explain the volatility. It is a good example of AI making a chart genuinely better rather than just prettier.</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Chart nine. Now we go interactive. Can we identify individual movies?</a:t>
            </a:r>
          </a:p>
          <a:p>
            <a:r>
              <a:rPr lang="en-SG" dirty="0"/>
              <a:t>plotly.express builds this. hover_data controls what appears when you hover, and labels renames the axes so they read as English rather than column names.</a:t>
            </a:r>
          </a:p>
          <a:p>
            <a:r>
              <a:rPr lang="en-SG" dirty="0"/>
              <a:t>When I run this, hover around and find three things: one highly rated film with many votes, one highly rated film with very few votes, and one point that just looks odd.</a:t>
            </a:r>
          </a:p>
          <a:p>
            <a:r>
              <a:rPr lang="en-SG" dirty="0"/>
              <a:t>This is the shift from overview to detail. A static chart tells you the shape. An interactive one lets you ask 'which one is that?' - and that question is usually where the real insight starts.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Chart ten. How do budget, revenue, popularity and genre relate - all at once?</a:t>
            </a:r>
          </a:p>
          <a:p>
            <a:r>
              <a:rPr lang="en-SG" dirty="0"/>
              <a:t>Four variables on one chart. Budget on x, revenue on y, bubble size shows popularity, colour shows genre. The log scales on both axes matter, because budgets and revenues span several orders of magnitude and without them everything collapses into one corner.</a:t>
            </a:r>
          </a:p>
          <a:p>
            <a:r>
              <a:rPr lang="en-SG" dirty="0"/>
              <a:t>Look for the low-budget high-revenue films, and the expensive flops.</a:t>
            </a:r>
          </a:p>
          <a:p>
            <a:r>
              <a:rPr lang="en-SG" dirty="0"/>
              <a:t>Then the honest question: is this richer insight, or visual overload? Four variables is roughly where a chart starts fighting itself. Ask AI to critique whether it is too complex - it is surprisingly good at that.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Chart eleven. Our scatter plot had thousands of overlapping points. What do we do when scatter gets too crowded?</a:t>
            </a:r>
          </a:p>
          <a:p>
            <a:r>
              <a:rPr lang="en-SG" dirty="0"/>
              <a:t>hexbin groups the points into hexagonal bins and colours them by how many fall in each. gridsize controls how fine those bins are. Darker areas simply mean more movies.</a:t>
            </a:r>
          </a:p>
          <a:p>
            <a:r>
              <a:rPr lang="en-SG" dirty="0"/>
              <a:t>What this shows that the scatter plot could not is the concentration - where the mass of the data actually sits. What you lose is the individual point.</a:t>
            </a:r>
          </a:p>
          <a:p>
            <a:r>
              <a:rPr lang="en-SG" dirty="0"/>
              <a:t>That trade-off is the lesson: sometimes the clearer chart is the one that shows less.</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Chart twelve, and I have saved this one for last on purpose.</a:t>
            </a:r>
          </a:p>
          <a:p>
            <a:r>
              <a:rPr lang="en-SG" dirty="0"/>
              <a:t>Budget, revenue and rating in three dimensions. The z-axis adds the third variable, colour shows genre, and you can rotate it.</a:t>
            </a:r>
          </a:p>
          <a:p>
            <a:r>
              <a:rPr lang="en-SG" dirty="0"/>
              <a:t>Now be honest with yourself. Is it visually exciting? Yes. Is it easy to read? Not really - depth is hard to judge, points hide behind other points, and every reader sees it from a different angle unless they rotate it themselves.</a:t>
            </a:r>
          </a:p>
          <a:p>
            <a:r>
              <a:rPr lang="en-SG" dirty="0"/>
              <a:t>Would you put this in a report? Would a simple 2D chart communicate better? Almost always, yes. Advanced charts are not the same thing as better charts, and knowing the difference is the whole point of this workshop.</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Step back from the code for a moment. This is the skill that outlasts every library on the earlier slide.</a:t>
            </a:r>
          </a:p>
          <a:p>
            <a:r>
              <a:rPr lang="en-SG" dirty="0"/>
              <a:t>A chart can be technically correct and still misleading, confusing or simply unsuitable.</a:t>
            </a:r>
          </a:p>
          <a:p>
            <a:r>
              <a:rPr lang="en-SG" dirty="0"/>
              <a:t>Before you present, ask: what question does this answer, who is the audience, and is the chart type suitable. Before you trust an AI-generated chart, check: did it use the right column, are missing values handled, are the labels clear. And when you interpret, ask: what pattern do I see, what else could explain it, and what should I not overclaim.</a:t>
            </a:r>
          </a:p>
          <a:p>
            <a:r>
              <a:rPr lang="en-SG" dirty="0"/>
              <a:t>Good visualisation is not about showing everything. It is about showing what matters.</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Your turn. One chart, one insight.</a:t>
            </a:r>
          </a:p>
          <a:p>
            <a:r>
              <a:rPr lang="en-SG" dirty="0"/>
              <a:t>Step one, choose a question - budget versus revenue, ratings by genre, ratings over time, hidden gems, or outliers. Or use the question you wrote down at the start.</a:t>
            </a:r>
          </a:p>
          <a:p>
            <a:r>
              <a:rPr lang="en-SG" dirty="0"/>
              <a:t>Step two, run the Python code first, then ask AI to recreate, explain, improve or extend it.</a:t>
            </a:r>
          </a:p>
          <a:p>
            <a:r>
              <a:rPr lang="en-SG" dirty="0"/>
              <a:t>Step three, be ready to share: your chart type, your question, what Python helped you with, what AI helped you with, one insight and one caution.</a:t>
            </a:r>
          </a:p>
          <a:p>
            <a:r>
              <a:rPr lang="en-SG" dirty="0"/>
              <a:t>You have about fifteen minutes. I'll come round - flag me if the data won't load.</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Let's test that immediately. Four questions, four chart types. Think first, don't call it out yet.</a:t>
            </a:r>
          </a:p>
          <a:p>
            <a:r>
              <a:rPr lang="en-SG" dirty="0"/>
              <a:t>Distribution of movie ratings - histogram. Which genre has the most movies - treemap or bar chart. Do ratings vary across genres - box plot. Common themes in movie overviews - a word cloud.</a:t>
            </a:r>
          </a:p>
          <a:p>
            <a:r>
              <a:rPr lang="en-SG" dirty="0"/>
              <a:t>Now the harder question, and this is the one I really want you to sit with. If AI suggests a beautiful but unsuitable chart, would you still use it? Most people say no in a workshop and yes at 11pm before a deadline.</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Last reflection before we close. What will you do differently?</a:t>
            </a:r>
          </a:p>
          <a:p>
            <a:r>
              <a:rPr lang="en-SG" dirty="0"/>
              <a:t>Start with a question, not a chart type. Learn the Python logic before relying on AI. Use AI to explain, improve and extend - not to replace thinking. Choose clarity over complexity. And end with an insight and a caution, every time.</a:t>
            </a:r>
          </a:p>
          <a:p>
            <a:r>
              <a:rPr lang="en-SG" dirty="0"/>
              <a:t>The closing message is the one from the first slide, and I hope it means more now: Python builds the chart. AI supports the learning. Humans decide what is meaningful, clear and responsible.</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Let's be specific about the division of labour.</a:t>
            </a:r>
          </a:p>
          <a:p>
            <a:r>
              <a:rPr lang="en-SG" dirty="0"/>
              <a:t>AI is genuinely good at generating code, explaining code you did not write, improving labels and colours, suggesting alternative charts, helping interpret patterns and flagging limitations.</a:t>
            </a:r>
          </a:p>
          <a:p>
            <a:r>
              <a:rPr lang="en-SG" dirty="0"/>
              <a:t>AI should not replace your question, your understanding, your judgement, your responsibility to verify, or your awareness of who the audience is.</a:t>
            </a:r>
          </a:p>
          <a:p>
            <a:r>
              <a:rPr lang="en-SG" dirty="0"/>
              <a:t>Our rule today is simple: Python first, AI second, compare always. And the thing to notice as we go - AI responds better when our own thinking is clearer. A vague prompt is usually a symptom of a vague question.</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That's everything. Thank you for your time and your questions.</a:t>
            </a:r>
          </a:p>
          <a:p>
            <a:r>
              <a:rPr lang="en-SG" dirty="0"/>
              <a:t>My email is on the first slide - do get in touch if you get stuck with your own data, that is exactly what the Libraries data team is here for.</a:t>
            </a:r>
          </a:p>
          <a:p>
            <a:r>
              <a:rPr lang="en-SG" dirty="0"/>
              <a:t>Code first. Prompt second. Think throughout. Happy to take questions now.</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6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301752"/>
            <a:ext cx="10972800" cy="502920"/>
          </a:xfrm>
          <a:prstGeom prst="rect">
            <a:avLst/>
          </a:prstGeom>
          <a:noFill/>
        </p:spPr>
        <p:txBody>
          <a:bodyPr wrap="square">
            <a:spAutoFit/>
          </a:bodyPr>
          <a:lstStyle/>
          <a:p>
            <a:pPr algn="l">
              <a:defRPr sz="2700" b="1">
                <a:solidFill>
                  <a:srgbClr val="FFFFFF"/>
                </a:solidFill>
              </a:defRPr>
            </a:pPr>
            <a:r>
              <a:t>Data Visualisation with Python and AI Tools</a:t>
            </a:r>
          </a:p>
        </p:txBody>
      </p:sp>
      <p:sp>
        <p:nvSpPr>
          <p:cNvPr id="4" name="TextBox 3"/>
          <p:cNvSpPr txBox="1"/>
          <p:nvPr/>
        </p:nvSpPr>
        <p:spPr>
          <a:xfrm>
            <a:off x="777240" y="1508760"/>
            <a:ext cx="10698480" cy="548640"/>
          </a:xfrm>
          <a:prstGeom prst="rect">
            <a:avLst/>
          </a:prstGeom>
          <a:noFill/>
        </p:spPr>
        <p:txBody>
          <a:bodyPr wrap="square">
            <a:spAutoFit/>
          </a:bodyPr>
          <a:lstStyle/>
          <a:p>
            <a:pPr algn="ctr">
              <a:defRPr sz="3000" b="1">
                <a:solidFill>
                  <a:srgbClr val="162D4E"/>
                </a:solidFill>
              </a:defRPr>
            </a:pPr>
            <a:r>
              <a:rPr dirty="0"/>
              <a:t>Code</a:t>
            </a:r>
            <a:r>
              <a:rPr lang="en-US" dirty="0"/>
              <a:t>,</a:t>
            </a:r>
            <a:r>
              <a:rPr dirty="0"/>
              <a:t> prompt</a:t>
            </a:r>
            <a:r>
              <a:rPr lang="en-US" dirty="0"/>
              <a:t>,</a:t>
            </a:r>
            <a:r>
              <a:rPr dirty="0"/>
              <a:t> think throughout</a:t>
            </a:r>
          </a:p>
        </p:txBody>
      </p:sp>
      <p:sp>
        <p:nvSpPr>
          <p:cNvPr id="5" name="Rounded Rectangle 4"/>
          <p:cNvSpPr/>
          <p:nvPr/>
        </p:nvSpPr>
        <p:spPr>
          <a:xfrm>
            <a:off x="822960" y="2743199"/>
            <a:ext cx="3246120" cy="2057401"/>
          </a:xfrm>
          <a:prstGeom prst="roundRect">
            <a:avLst/>
          </a:prstGeom>
          <a:solidFill>
            <a:srgbClr val="E2EFFD"/>
          </a:solidFill>
          <a:ln w="15240">
            <a:solidFill>
              <a:srgbClr val="2F69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87552" y="2852928"/>
            <a:ext cx="2916936" cy="1264449"/>
          </a:xfrm>
          <a:prstGeom prst="rect">
            <a:avLst/>
          </a:prstGeom>
          <a:noFill/>
        </p:spPr>
        <p:txBody>
          <a:bodyPr wrap="square">
            <a:spAutoFit/>
          </a:bodyPr>
          <a:lstStyle/>
          <a:p>
            <a:pPr>
              <a:defRPr sz="1800" b="1">
                <a:solidFill>
                  <a:srgbClr val="2F69B4"/>
                </a:solidFill>
              </a:defRPr>
            </a:pPr>
            <a:r>
              <a:rPr sz="2200" dirty="0"/>
              <a:t>Python</a:t>
            </a:r>
            <a:endParaRPr lang="en-US" sz="2200" dirty="0"/>
          </a:p>
          <a:p>
            <a:pPr>
              <a:defRPr sz="1800" b="1">
                <a:solidFill>
                  <a:srgbClr val="2F69B4"/>
                </a:solidFill>
              </a:defRPr>
            </a:pPr>
            <a:endParaRPr sz="2200" dirty="0"/>
          </a:p>
          <a:p>
            <a:pPr>
              <a:spcBef>
                <a:spcPts val="500"/>
              </a:spcBef>
              <a:defRPr sz="1400">
                <a:solidFill>
                  <a:srgbClr val="232323"/>
                </a:solidFill>
              </a:defRPr>
            </a:pPr>
            <a:r>
              <a:rPr b="1" dirty="0"/>
              <a:t>Builds the chart</a:t>
            </a:r>
            <a:br>
              <a:rPr b="1" dirty="0"/>
            </a:br>
            <a:r>
              <a:rPr b="1" dirty="0"/>
              <a:t>and the coding foundation</a:t>
            </a:r>
          </a:p>
        </p:txBody>
      </p:sp>
      <p:sp>
        <p:nvSpPr>
          <p:cNvPr id="7" name="Rounded Rectangle 6"/>
          <p:cNvSpPr/>
          <p:nvPr/>
        </p:nvSpPr>
        <p:spPr>
          <a:xfrm>
            <a:off x="4480560" y="2743200"/>
            <a:ext cx="3246120" cy="2057400"/>
          </a:xfrm>
          <a:prstGeom prst="roundRect">
            <a:avLst/>
          </a:prstGeom>
          <a:solidFill>
            <a:srgbClr val="E8F8F4"/>
          </a:solidFill>
          <a:ln w="15240">
            <a:solidFill>
              <a:srgbClr val="2A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45152" y="2852928"/>
            <a:ext cx="2916936" cy="1264449"/>
          </a:xfrm>
          <a:prstGeom prst="rect">
            <a:avLst/>
          </a:prstGeom>
          <a:noFill/>
        </p:spPr>
        <p:txBody>
          <a:bodyPr wrap="square">
            <a:spAutoFit/>
          </a:bodyPr>
          <a:lstStyle/>
          <a:p>
            <a:pPr>
              <a:defRPr sz="1800" b="1">
                <a:solidFill>
                  <a:srgbClr val="2A9688"/>
                </a:solidFill>
              </a:defRPr>
            </a:pPr>
            <a:r>
              <a:rPr sz="2200" dirty="0"/>
              <a:t>AI</a:t>
            </a:r>
            <a:endParaRPr lang="en-US" sz="2200" dirty="0"/>
          </a:p>
          <a:p>
            <a:pPr>
              <a:defRPr sz="1800" b="1">
                <a:solidFill>
                  <a:srgbClr val="2A9688"/>
                </a:solidFill>
              </a:defRPr>
            </a:pPr>
            <a:endParaRPr sz="2200" dirty="0"/>
          </a:p>
          <a:p>
            <a:pPr>
              <a:spcBef>
                <a:spcPts val="500"/>
              </a:spcBef>
              <a:defRPr sz="1400">
                <a:solidFill>
                  <a:srgbClr val="232323"/>
                </a:solidFill>
              </a:defRPr>
            </a:pPr>
            <a:r>
              <a:rPr b="1" dirty="0"/>
              <a:t>Explains, recreates,</a:t>
            </a:r>
            <a:br>
              <a:rPr b="1" dirty="0"/>
            </a:br>
            <a:r>
              <a:rPr b="1" dirty="0"/>
              <a:t>improves and extends</a:t>
            </a:r>
          </a:p>
        </p:txBody>
      </p:sp>
      <p:sp>
        <p:nvSpPr>
          <p:cNvPr id="9" name="Rounded Rectangle 8"/>
          <p:cNvSpPr/>
          <p:nvPr/>
        </p:nvSpPr>
        <p:spPr>
          <a:xfrm>
            <a:off x="8138160" y="2743200"/>
            <a:ext cx="3246120" cy="2057400"/>
          </a:xfrm>
          <a:prstGeom prst="roundRect">
            <a:avLst/>
          </a:prstGeom>
          <a:solidFill>
            <a:srgbClr val="FFF4E8"/>
          </a:solidFill>
          <a:ln w="15240">
            <a:solidFill>
              <a:srgbClr val="E88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02752" y="2852928"/>
            <a:ext cx="2916936" cy="1264449"/>
          </a:xfrm>
          <a:prstGeom prst="rect">
            <a:avLst/>
          </a:prstGeom>
          <a:noFill/>
        </p:spPr>
        <p:txBody>
          <a:bodyPr wrap="square">
            <a:spAutoFit/>
          </a:bodyPr>
          <a:lstStyle/>
          <a:p>
            <a:pPr>
              <a:defRPr sz="1800" b="1">
                <a:solidFill>
                  <a:srgbClr val="E88A2D"/>
                </a:solidFill>
              </a:defRPr>
            </a:pPr>
            <a:r>
              <a:rPr sz="2200" dirty="0"/>
              <a:t>Human judgement</a:t>
            </a:r>
            <a:endParaRPr lang="en-US" sz="2200" dirty="0"/>
          </a:p>
          <a:p>
            <a:pPr>
              <a:defRPr sz="1800" b="1">
                <a:solidFill>
                  <a:srgbClr val="E88A2D"/>
                </a:solidFill>
              </a:defRPr>
            </a:pPr>
            <a:endParaRPr sz="2200" dirty="0"/>
          </a:p>
          <a:p>
            <a:pPr>
              <a:spcBef>
                <a:spcPts val="500"/>
              </a:spcBef>
              <a:defRPr sz="1400">
                <a:solidFill>
                  <a:srgbClr val="232323"/>
                </a:solidFill>
              </a:defRPr>
            </a:pPr>
            <a:r>
              <a:rPr b="1" dirty="0"/>
              <a:t>Asks better questions</a:t>
            </a:r>
            <a:br>
              <a:rPr b="1" dirty="0"/>
            </a:br>
            <a:r>
              <a:rPr b="1" dirty="0"/>
              <a:t>and interprets responsibly</a:t>
            </a:r>
          </a:p>
        </p:txBody>
      </p:sp>
      <p:sp>
        <p:nvSpPr>
          <p:cNvPr id="11" name="TextBox 10"/>
          <p:cNvSpPr txBox="1"/>
          <p:nvPr/>
        </p:nvSpPr>
        <p:spPr>
          <a:xfrm>
            <a:off x="777240" y="5074920"/>
            <a:ext cx="10698480" cy="584775"/>
          </a:xfrm>
          <a:prstGeom prst="rect">
            <a:avLst/>
          </a:prstGeom>
          <a:noFill/>
        </p:spPr>
        <p:txBody>
          <a:bodyPr wrap="square">
            <a:spAutoFit/>
          </a:bodyPr>
          <a:lstStyle/>
          <a:p>
            <a:pPr algn="ctr">
              <a:defRPr sz="1600" b="0">
                <a:solidFill>
                  <a:srgbClr val="606060"/>
                </a:solidFill>
              </a:defRPr>
            </a:pPr>
            <a:r>
              <a:rPr lang="en-US" dirty="0"/>
              <a:t>Janna Xu Cong (jannaxu@smu.edu.sg) </a:t>
            </a:r>
          </a:p>
          <a:p>
            <a:pPr algn="ctr">
              <a:defRPr sz="1600" b="0">
                <a:solidFill>
                  <a:srgbClr val="606060"/>
                </a:solidFill>
              </a:defRPr>
            </a:pPr>
            <a:r>
              <a:rPr lang="en-US" dirty="0"/>
              <a:t>Research &amp; Data Services, SMU Libraries</a:t>
            </a:r>
          </a:p>
        </p:txBody>
      </p:sp>
      <p:sp>
        <p:nvSpPr>
          <p:cNvPr id="12" name="TextBox 11"/>
          <p:cNvSpPr txBox="1"/>
          <p:nvPr/>
        </p:nvSpPr>
        <p:spPr>
          <a:xfrm>
            <a:off x="594360" y="6473952"/>
            <a:ext cx="10972800" cy="228600"/>
          </a:xfrm>
          <a:prstGeom prst="rect">
            <a:avLst/>
          </a:prstGeom>
          <a:noFill/>
        </p:spPr>
        <p:txBody>
          <a:bodyPr wrap="none">
            <a:spAutoFit/>
          </a:bodyPr>
          <a:lstStyle/>
          <a:p>
            <a:pPr algn="r">
              <a:defRPr sz="850">
                <a:solidFill>
                  <a:srgbClr val="8C8C8C"/>
                </a:solidFill>
              </a:defRPr>
            </a:pPr>
            <a:r>
              <a:t>Data Visualisation with Python and AI  |  1</a:t>
            </a:r>
          </a:p>
        </p:txBody>
      </p:sp>
      <p:sp>
        <p:nvSpPr>
          <p:cNvPr id="13" name="TextBox 12">
            <a:extLst>
              <a:ext uri="{FF2B5EF4-FFF2-40B4-BE49-F238E27FC236}">
                <a16:creationId xmlns:a16="http://schemas.microsoft.com/office/drawing/2014/main" id="{8F6CDF0A-3B6A-3AD3-D97C-F838D92F248A}"/>
              </a:ext>
            </a:extLst>
          </p:cNvPr>
          <p:cNvSpPr txBox="1"/>
          <p:nvPr/>
        </p:nvSpPr>
        <p:spPr>
          <a:xfrm>
            <a:off x="2794000" y="5822434"/>
            <a:ext cx="7848600" cy="369332"/>
          </a:xfrm>
          <a:prstGeom prst="rect">
            <a:avLst/>
          </a:prstGeom>
          <a:noFill/>
        </p:spPr>
        <p:txBody>
          <a:bodyPr wrap="square" rtlCol="0">
            <a:spAutoFit/>
          </a:bodyPr>
          <a:lstStyle/>
          <a:p>
            <a:r>
              <a:rPr lang="en-US" b="1" dirty="0">
                <a:highlight>
                  <a:srgbClr val="FFFF00"/>
                </a:highlight>
              </a:rPr>
              <a:t>Please scan the QR code to record your attendance and earn your badge.</a:t>
            </a:r>
            <a:endParaRPr lang="en-SG" b="1" dirty="0">
              <a:highlight>
                <a:srgbClr val="FFFF00"/>
              </a:high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658368"/>
          </a:xfrm>
          <a:prstGeom prst="rect">
            <a:avLst/>
          </a:prstGeom>
          <a:noFill/>
        </p:spPr>
        <p:txBody>
          <a:bodyPr wrap="none">
            <a:spAutoFit/>
          </a:bodyPr>
          <a:lstStyle/>
          <a:p>
            <a:pPr>
              <a:defRPr sz="3000" b="1">
                <a:solidFill>
                  <a:srgbClr val="162D4E"/>
                </a:solidFill>
              </a:defRPr>
            </a:pPr>
            <a:r>
              <a:t>By the End of This Workshop</a:t>
            </a:r>
          </a:p>
        </p:txBody>
      </p:sp>
      <p:sp>
        <p:nvSpPr>
          <p:cNvPr id="3" name="TextBox 2"/>
          <p:cNvSpPr txBox="1"/>
          <p:nvPr/>
        </p:nvSpPr>
        <p:spPr>
          <a:xfrm>
            <a:off x="621792" y="960120"/>
            <a:ext cx="10789920" cy="384048"/>
          </a:xfrm>
          <a:prstGeom prst="rect">
            <a:avLst/>
          </a:prstGeom>
          <a:noFill/>
        </p:spPr>
        <p:txBody>
          <a:bodyPr wrap="none">
            <a:spAutoFit/>
          </a:bodyPr>
          <a:lstStyle/>
          <a:p>
            <a:pPr>
              <a:defRPr sz="1500">
                <a:solidFill>
                  <a:srgbClr val="606060"/>
                </a:solidFill>
              </a:defRPr>
            </a:pPr>
            <a:r>
              <a:t>You should leave with a repeatable workflow, not just a list of chart commands.</a:t>
            </a:r>
          </a:p>
        </p:txBody>
      </p:sp>
      <p:sp>
        <p:nvSpPr>
          <p:cNvPr id="4" name="TextBox 3"/>
          <p:cNvSpPr txBox="1"/>
          <p:nvPr/>
        </p:nvSpPr>
        <p:spPr>
          <a:xfrm>
            <a:off x="9511789" y="6473952"/>
            <a:ext cx="2055371" cy="223138"/>
          </a:xfrm>
          <a:prstGeom prst="rect">
            <a:avLst/>
          </a:prstGeom>
          <a:noFill/>
        </p:spPr>
        <p:txBody>
          <a:bodyPr wrap="none">
            <a:spAutoFit/>
          </a:bodyPr>
          <a:lstStyle/>
          <a:p>
            <a:pPr algn="r">
              <a:defRPr sz="850">
                <a:solidFill>
                  <a:srgbClr val="8C8C8C"/>
                </a:solidFill>
              </a:defRPr>
            </a:pPr>
            <a:r>
              <a:rPr dirty="0"/>
              <a:t>Data </a:t>
            </a:r>
            <a:r>
              <a:rPr dirty="0" err="1"/>
              <a:t>Visualisation</a:t>
            </a:r>
            <a:r>
              <a:rPr dirty="0"/>
              <a:t> with Python and AI  |  </a:t>
            </a:r>
            <a:r>
              <a:rPr lang="en-US" dirty="0"/>
              <a:t>2</a:t>
            </a:r>
            <a:endParaRPr dirty="0"/>
          </a:p>
        </p:txBody>
      </p:sp>
      <p:sp>
        <p:nvSpPr>
          <p:cNvPr id="5" name="TextBox 4"/>
          <p:cNvSpPr txBox="1"/>
          <p:nvPr/>
        </p:nvSpPr>
        <p:spPr>
          <a:xfrm>
            <a:off x="960120" y="1600200"/>
            <a:ext cx="10058400" cy="2221121"/>
          </a:xfrm>
          <a:prstGeom prst="rect">
            <a:avLst/>
          </a:prstGeom>
          <a:noFill/>
        </p:spPr>
        <p:txBody>
          <a:bodyPr wrap="square" lIns="45720">
            <a:spAutoFit/>
          </a:bodyPr>
          <a:lstStyle/>
          <a:p>
            <a:pPr marL="457200" indent="-342900">
              <a:spcAft>
                <a:spcPts val="700"/>
              </a:spcAft>
              <a:buFont typeface="Arial" panose="020B0604020202020204" pitchFamily="34" charset="0"/>
              <a:buChar char="•"/>
              <a:defRPr sz="2300">
                <a:solidFill>
                  <a:srgbClr val="232323"/>
                </a:solidFill>
              </a:defRPr>
            </a:pPr>
            <a:r>
              <a:rPr b="1" dirty="0"/>
              <a:t>Choose a suitable chart for a data question</a:t>
            </a:r>
          </a:p>
          <a:p>
            <a:pPr marL="457200" indent="-342900">
              <a:spcAft>
                <a:spcPts val="700"/>
              </a:spcAft>
              <a:buFont typeface="Arial" panose="020B0604020202020204" pitchFamily="34" charset="0"/>
              <a:buChar char="•"/>
              <a:defRPr sz="2300">
                <a:solidFill>
                  <a:srgbClr val="232323"/>
                </a:solidFill>
              </a:defRPr>
            </a:pPr>
            <a:r>
              <a:rPr b="1" dirty="0"/>
              <a:t>Read and adapt Python </a:t>
            </a:r>
            <a:r>
              <a:rPr b="1" dirty="0" err="1"/>
              <a:t>visualisation</a:t>
            </a:r>
            <a:r>
              <a:rPr b="1" dirty="0"/>
              <a:t> code</a:t>
            </a:r>
          </a:p>
          <a:p>
            <a:pPr marL="457200" indent="-342900">
              <a:spcAft>
                <a:spcPts val="700"/>
              </a:spcAft>
              <a:buFont typeface="Arial" panose="020B0604020202020204" pitchFamily="34" charset="0"/>
              <a:buChar char="•"/>
              <a:defRPr sz="2300">
                <a:solidFill>
                  <a:srgbClr val="232323"/>
                </a:solidFill>
              </a:defRPr>
            </a:pPr>
            <a:r>
              <a:rPr b="1" dirty="0"/>
              <a:t>Use AI to explain, recreate, improve and extend Python code</a:t>
            </a:r>
          </a:p>
          <a:p>
            <a:pPr marL="457200" indent="-342900">
              <a:spcAft>
                <a:spcPts val="700"/>
              </a:spcAft>
              <a:buFont typeface="Arial" panose="020B0604020202020204" pitchFamily="34" charset="0"/>
              <a:buChar char="•"/>
              <a:defRPr sz="2300">
                <a:solidFill>
                  <a:srgbClr val="232323"/>
                </a:solidFill>
              </a:defRPr>
            </a:pPr>
            <a:r>
              <a:rPr b="1" dirty="0"/>
              <a:t>Interpret visual patterns with care</a:t>
            </a:r>
          </a:p>
          <a:p>
            <a:pPr marL="457200" indent="-342900">
              <a:spcAft>
                <a:spcPts val="700"/>
              </a:spcAft>
              <a:buFont typeface="Arial" panose="020B0604020202020204" pitchFamily="34" charset="0"/>
              <a:buChar char="•"/>
              <a:defRPr sz="2300">
                <a:solidFill>
                  <a:srgbClr val="232323"/>
                </a:solidFill>
              </a:defRPr>
            </a:pPr>
            <a:r>
              <a:rPr b="1" dirty="0"/>
              <a:t>Know when a chart is impressive but not necessarily useful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658368"/>
          </a:xfrm>
          <a:prstGeom prst="rect">
            <a:avLst/>
          </a:prstGeom>
          <a:noFill/>
        </p:spPr>
        <p:txBody>
          <a:bodyPr wrap="none">
            <a:spAutoFit/>
          </a:bodyPr>
          <a:lstStyle/>
          <a:p>
            <a:pPr>
              <a:defRPr sz="3000" b="1">
                <a:solidFill>
                  <a:srgbClr val="162D4E"/>
                </a:solidFill>
              </a:defRPr>
            </a:pPr>
            <a:r>
              <a:t>Why Do We Visualise Data?</a:t>
            </a:r>
          </a:p>
        </p:txBody>
      </p:sp>
      <p:sp>
        <p:nvSpPr>
          <p:cNvPr id="3" name="TextBox 2"/>
          <p:cNvSpPr txBox="1"/>
          <p:nvPr/>
        </p:nvSpPr>
        <p:spPr>
          <a:xfrm>
            <a:off x="621792" y="960120"/>
            <a:ext cx="10789920" cy="384048"/>
          </a:xfrm>
          <a:prstGeom prst="rect">
            <a:avLst/>
          </a:prstGeom>
          <a:noFill/>
        </p:spPr>
        <p:txBody>
          <a:bodyPr wrap="none">
            <a:spAutoFit/>
          </a:bodyPr>
          <a:lstStyle/>
          <a:p>
            <a:pPr>
              <a:defRPr sz="1500">
                <a:solidFill>
                  <a:srgbClr val="606060"/>
                </a:solidFill>
              </a:defRPr>
            </a:pPr>
            <a:r>
              <a:t>Data visualisation is not decoration. It is a way of thinking.</a:t>
            </a:r>
          </a:p>
        </p:txBody>
      </p:sp>
      <p:sp>
        <p:nvSpPr>
          <p:cNvPr id="4" name="TextBox 3"/>
          <p:cNvSpPr txBox="1"/>
          <p:nvPr/>
        </p:nvSpPr>
        <p:spPr>
          <a:xfrm>
            <a:off x="9511789" y="6473952"/>
            <a:ext cx="2055371" cy="223138"/>
          </a:xfrm>
          <a:prstGeom prst="rect">
            <a:avLst/>
          </a:prstGeom>
          <a:noFill/>
        </p:spPr>
        <p:txBody>
          <a:bodyPr wrap="none">
            <a:spAutoFit/>
          </a:bodyPr>
          <a:lstStyle/>
          <a:p>
            <a:pPr algn="r">
              <a:defRPr sz="850">
                <a:solidFill>
                  <a:srgbClr val="8C8C8C"/>
                </a:solidFill>
              </a:defRPr>
            </a:pPr>
            <a:r>
              <a:rPr dirty="0"/>
              <a:t>Data </a:t>
            </a:r>
            <a:r>
              <a:rPr dirty="0" err="1"/>
              <a:t>Visualisation</a:t>
            </a:r>
            <a:r>
              <a:rPr dirty="0"/>
              <a:t> with Python and AI  |  </a:t>
            </a:r>
            <a:r>
              <a:rPr lang="en-US" dirty="0"/>
              <a:t>3</a:t>
            </a:r>
            <a:endParaRPr dirty="0"/>
          </a:p>
        </p:txBody>
      </p:sp>
      <p:sp>
        <p:nvSpPr>
          <p:cNvPr id="5" name="Rounded Rectangle 4"/>
          <p:cNvSpPr/>
          <p:nvPr/>
        </p:nvSpPr>
        <p:spPr>
          <a:xfrm>
            <a:off x="777240" y="1600200"/>
            <a:ext cx="3474720" cy="1097280"/>
          </a:xfrm>
          <a:prstGeom prst="roundRect">
            <a:avLst/>
          </a:prstGeom>
          <a:solidFill>
            <a:srgbClr val="E2EFFD"/>
          </a:solidFill>
          <a:ln w="15240">
            <a:solidFill>
              <a:srgbClr val="2F69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611003" y="1899216"/>
            <a:ext cx="3145536" cy="400110"/>
          </a:xfrm>
          <a:prstGeom prst="rect">
            <a:avLst/>
          </a:prstGeom>
          <a:noFill/>
        </p:spPr>
        <p:txBody>
          <a:bodyPr wrap="square">
            <a:spAutoFit/>
          </a:bodyPr>
          <a:lstStyle/>
          <a:p>
            <a:pPr>
              <a:defRPr sz="1500" b="1">
                <a:solidFill>
                  <a:srgbClr val="2F69B4"/>
                </a:solidFill>
              </a:defRPr>
            </a:pPr>
            <a:r>
              <a:rPr sz="2000" dirty="0"/>
              <a:t>See patterns</a:t>
            </a:r>
          </a:p>
        </p:txBody>
      </p:sp>
      <p:sp>
        <p:nvSpPr>
          <p:cNvPr id="7" name="Rounded Rectangle 6"/>
          <p:cNvSpPr/>
          <p:nvPr/>
        </p:nvSpPr>
        <p:spPr>
          <a:xfrm>
            <a:off x="777240" y="3177540"/>
            <a:ext cx="3474720" cy="1097280"/>
          </a:xfrm>
          <a:prstGeom prst="roundRect">
            <a:avLst/>
          </a:prstGeom>
          <a:solidFill>
            <a:srgbClr val="E8F8F4"/>
          </a:solidFill>
          <a:ln w="15240">
            <a:solidFill>
              <a:srgbClr val="2A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58520" y="3472492"/>
            <a:ext cx="3145536" cy="400110"/>
          </a:xfrm>
          <a:prstGeom prst="rect">
            <a:avLst/>
          </a:prstGeom>
          <a:noFill/>
        </p:spPr>
        <p:txBody>
          <a:bodyPr wrap="square">
            <a:spAutoFit/>
          </a:bodyPr>
          <a:lstStyle/>
          <a:p>
            <a:pPr>
              <a:defRPr sz="1500" b="1">
                <a:solidFill>
                  <a:srgbClr val="2A9688"/>
                </a:solidFill>
              </a:defRPr>
            </a:pPr>
            <a:r>
              <a:rPr sz="2000" dirty="0"/>
              <a:t>Ask better questions</a:t>
            </a:r>
          </a:p>
        </p:txBody>
      </p:sp>
      <p:sp>
        <p:nvSpPr>
          <p:cNvPr id="17" name="Rounded Rectangle 8"/>
          <p:cNvSpPr/>
          <p:nvPr/>
        </p:nvSpPr>
        <p:spPr>
          <a:xfrm>
            <a:off x="777240" y="4700016"/>
            <a:ext cx="3474720" cy="1097280"/>
          </a:xfrm>
          <a:prstGeom prst="roundRect">
            <a:avLst/>
          </a:prstGeom>
          <a:solidFill>
            <a:srgbClr val="FFF4E8"/>
          </a:solidFill>
          <a:ln w="15240">
            <a:solidFill>
              <a:srgbClr val="E88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358520" y="5022370"/>
            <a:ext cx="3145536" cy="400110"/>
          </a:xfrm>
          <a:prstGeom prst="rect">
            <a:avLst/>
          </a:prstGeom>
          <a:noFill/>
        </p:spPr>
        <p:txBody>
          <a:bodyPr wrap="square">
            <a:spAutoFit/>
          </a:bodyPr>
          <a:lstStyle/>
          <a:p>
            <a:pPr>
              <a:defRPr sz="1500" b="1">
                <a:solidFill>
                  <a:srgbClr val="E88A2D"/>
                </a:solidFill>
              </a:defRPr>
            </a:pPr>
            <a:r>
              <a:rPr sz="2000" dirty="0"/>
              <a:t>Communicate insight</a:t>
            </a:r>
          </a:p>
        </p:txBody>
      </p:sp>
      <p:sp>
        <p:nvSpPr>
          <p:cNvPr id="19" name="TextBox 18">
            <a:extLst>
              <a:ext uri="{FF2B5EF4-FFF2-40B4-BE49-F238E27FC236}">
                <a16:creationId xmlns:a16="http://schemas.microsoft.com/office/drawing/2014/main" id="{E26A6A68-8759-70D1-6FAE-644EA0C97602}"/>
              </a:ext>
            </a:extLst>
          </p:cNvPr>
          <p:cNvSpPr txBox="1"/>
          <p:nvPr/>
        </p:nvSpPr>
        <p:spPr>
          <a:xfrm>
            <a:off x="5515760" y="1860744"/>
            <a:ext cx="7123794" cy="400110"/>
          </a:xfrm>
          <a:prstGeom prst="rect">
            <a:avLst/>
          </a:prstGeom>
          <a:noFill/>
        </p:spPr>
        <p:txBody>
          <a:bodyPr wrap="square">
            <a:spAutoFit/>
          </a:bodyPr>
          <a:lstStyle/>
          <a:p>
            <a:pPr>
              <a:spcBef>
                <a:spcPts val="500"/>
              </a:spcBef>
              <a:defRPr sz="1250">
                <a:solidFill>
                  <a:srgbClr val="232323"/>
                </a:solidFill>
              </a:defRPr>
            </a:pPr>
            <a:r>
              <a:rPr sz="2000" b="1" dirty="0">
                <a:solidFill>
                  <a:schemeClr val="tx2"/>
                </a:solidFill>
              </a:rPr>
              <a:t>Find shape, trends, clusters and outliers that tables hide.</a:t>
            </a:r>
          </a:p>
        </p:txBody>
      </p:sp>
      <p:sp>
        <p:nvSpPr>
          <p:cNvPr id="23" name="TextBox 22">
            <a:extLst>
              <a:ext uri="{FF2B5EF4-FFF2-40B4-BE49-F238E27FC236}">
                <a16:creationId xmlns:a16="http://schemas.microsoft.com/office/drawing/2014/main" id="{78AF54E3-4038-A16C-10E9-7A135F177AF5}"/>
              </a:ext>
            </a:extLst>
          </p:cNvPr>
          <p:cNvSpPr txBox="1"/>
          <p:nvPr/>
        </p:nvSpPr>
        <p:spPr>
          <a:xfrm>
            <a:off x="5515760" y="4696351"/>
            <a:ext cx="6051399" cy="695062"/>
          </a:xfrm>
          <a:prstGeom prst="rect">
            <a:avLst/>
          </a:prstGeom>
          <a:noFill/>
        </p:spPr>
        <p:txBody>
          <a:bodyPr wrap="square">
            <a:spAutoFit/>
          </a:bodyPr>
          <a:lstStyle/>
          <a:p>
            <a:pPr>
              <a:defRPr sz="1500" b="1">
                <a:solidFill>
                  <a:srgbClr val="E88A2D"/>
                </a:solidFill>
              </a:defRPr>
            </a:pPr>
            <a:endParaRPr dirty="0"/>
          </a:p>
          <a:p>
            <a:pPr>
              <a:spcBef>
                <a:spcPts val="500"/>
              </a:spcBef>
              <a:defRPr sz="1250">
                <a:solidFill>
                  <a:srgbClr val="232323"/>
                </a:solidFill>
              </a:defRPr>
            </a:pPr>
            <a:r>
              <a:rPr sz="2000" b="1" dirty="0">
                <a:solidFill>
                  <a:schemeClr val="accent6"/>
                </a:solidFill>
              </a:rPr>
              <a:t>A clear chart helps people understand and decide.</a:t>
            </a:r>
          </a:p>
        </p:txBody>
      </p:sp>
      <p:sp>
        <p:nvSpPr>
          <p:cNvPr id="9" name="TextBox 8">
            <a:extLst>
              <a:ext uri="{FF2B5EF4-FFF2-40B4-BE49-F238E27FC236}">
                <a16:creationId xmlns:a16="http://schemas.microsoft.com/office/drawing/2014/main" id="{E5C428FB-021D-4F93-2981-06298BF778FE}"/>
              </a:ext>
            </a:extLst>
          </p:cNvPr>
          <p:cNvSpPr txBox="1"/>
          <p:nvPr/>
        </p:nvSpPr>
        <p:spPr>
          <a:xfrm>
            <a:off x="5515759" y="3177540"/>
            <a:ext cx="6051399" cy="695062"/>
          </a:xfrm>
          <a:prstGeom prst="rect">
            <a:avLst/>
          </a:prstGeom>
          <a:noFill/>
        </p:spPr>
        <p:txBody>
          <a:bodyPr wrap="square">
            <a:spAutoFit/>
          </a:bodyPr>
          <a:lstStyle/>
          <a:p>
            <a:pPr>
              <a:defRPr sz="1500" b="1">
                <a:solidFill>
                  <a:srgbClr val="E88A2D"/>
                </a:solidFill>
              </a:defRPr>
            </a:pPr>
            <a:endParaRPr dirty="0"/>
          </a:p>
          <a:p>
            <a:pPr>
              <a:spcBef>
                <a:spcPts val="500"/>
              </a:spcBef>
              <a:defRPr sz="1250">
                <a:solidFill>
                  <a:srgbClr val="232323"/>
                </a:solidFill>
              </a:defRPr>
            </a:pPr>
            <a:r>
              <a:rPr lang="en-US" sz="2000" b="1" dirty="0">
                <a:solidFill>
                  <a:srgbClr val="2A9688"/>
                </a:solidFill>
              </a:rPr>
              <a:t>A chart should trigger curiosity, not just show numbers.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13C0B-9A25-50C5-A200-14BEB44321B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B56E901-F43A-9EBA-7776-5BFD3D003859}"/>
              </a:ext>
            </a:extLst>
          </p:cNvPr>
          <p:cNvSpPr txBox="1"/>
          <p:nvPr/>
        </p:nvSpPr>
        <p:spPr>
          <a:xfrm>
            <a:off x="594360" y="320040"/>
            <a:ext cx="10972800" cy="658368"/>
          </a:xfrm>
          <a:prstGeom prst="rect">
            <a:avLst/>
          </a:prstGeom>
          <a:noFill/>
        </p:spPr>
        <p:txBody>
          <a:bodyPr wrap="none">
            <a:spAutoFit/>
          </a:bodyPr>
          <a:lstStyle/>
          <a:p>
            <a:pPr>
              <a:defRPr sz="2800" b="1">
                <a:solidFill>
                  <a:srgbClr val="162D4E"/>
                </a:solidFill>
              </a:defRPr>
            </a:pPr>
            <a:r>
              <a:t>Why Python for Data Visualisation?</a:t>
            </a:r>
          </a:p>
        </p:txBody>
      </p:sp>
      <p:sp>
        <p:nvSpPr>
          <p:cNvPr id="3" name="TextBox 2">
            <a:extLst>
              <a:ext uri="{FF2B5EF4-FFF2-40B4-BE49-F238E27FC236}">
                <a16:creationId xmlns:a16="http://schemas.microsoft.com/office/drawing/2014/main" id="{E561EAF9-4530-CA17-62C7-DBBECCB2D8F1}"/>
              </a:ext>
            </a:extLst>
          </p:cNvPr>
          <p:cNvSpPr txBox="1"/>
          <p:nvPr/>
        </p:nvSpPr>
        <p:spPr>
          <a:xfrm>
            <a:off x="621792" y="960120"/>
            <a:ext cx="10789920" cy="384048"/>
          </a:xfrm>
          <a:prstGeom prst="rect">
            <a:avLst/>
          </a:prstGeom>
          <a:noFill/>
        </p:spPr>
        <p:txBody>
          <a:bodyPr wrap="none">
            <a:spAutoFit/>
          </a:bodyPr>
          <a:lstStyle/>
          <a:p>
            <a:pPr>
              <a:defRPr sz="1500">
                <a:solidFill>
                  <a:srgbClr val="606060"/>
                </a:solidFill>
              </a:defRPr>
            </a:pPr>
            <a:r>
              <a:t>There are quicker tools. Here is what you get in exchange.</a:t>
            </a:r>
          </a:p>
        </p:txBody>
      </p:sp>
      <p:sp>
        <p:nvSpPr>
          <p:cNvPr id="4" name="TextBox 3">
            <a:extLst>
              <a:ext uri="{FF2B5EF4-FFF2-40B4-BE49-F238E27FC236}">
                <a16:creationId xmlns:a16="http://schemas.microsoft.com/office/drawing/2014/main" id="{E1065D58-6A48-F5EB-09A4-9442CB9783C0}"/>
              </a:ext>
            </a:extLst>
          </p:cNvPr>
          <p:cNvSpPr txBox="1"/>
          <p:nvPr/>
        </p:nvSpPr>
        <p:spPr>
          <a:xfrm>
            <a:off x="9457288" y="6473952"/>
            <a:ext cx="2109872" cy="223138"/>
          </a:xfrm>
          <a:prstGeom prst="rect">
            <a:avLst/>
          </a:prstGeom>
          <a:noFill/>
        </p:spPr>
        <p:txBody>
          <a:bodyPr wrap="none">
            <a:spAutoFit/>
          </a:bodyPr>
          <a:lstStyle/>
          <a:p>
            <a:pPr algn="r">
              <a:defRPr sz="850">
                <a:solidFill>
                  <a:srgbClr val="8C8C8C"/>
                </a:solidFill>
              </a:defRPr>
            </a:pPr>
            <a:r>
              <a:t>Data Visualisation with Python and AI  |  </a:t>
            </a:r>
            <a:r>
              <a:rPr lang="en-SG"/>
              <a:t>4</a:t>
            </a:r>
            <a:endParaRPr/>
          </a:p>
        </p:txBody>
      </p:sp>
      <p:sp>
        <p:nvSpPr>
          <p:cNvPr id="5" name="Rounded Rectangle 4">
            <a:extLst>
              <a:ext uri="{FF2B5EF4-FFF2-40B4-BE49-F238E27FC236}">
                <a16:creationId xmlns:a16="http://schemas.microsoft.com/office/drawing/2014/main" id="{C3159EB4-BD7D-DBC2-D724-9FE178489E4D}"/>
              </a:ext>
            </a:extLst>
          </p:cNvPr>
          <p:cNvSpPr/>
          <p:nvPr/>
        </p:nvSpPr>
        <p:spPr>
          <a:xfrm>
            <a:off x="685800" y="1450000"/>
            <a:ext cx="2743200" cy="2900000"/>
          </a:xfrm>
          <a:prstGeom prst="roundRect">
            <a:avLst/>
          </a:prstGeom>
          <a:solidFill>
            <a:srgbClr val="F5F7FA"/>
          </a:solidFill>
          <a:ln w="15240">
            <a:solidFill>
              <a:srgbClr val="2F69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D73F7566-54C7-3054-3AE8-7F831A898A2B}"/>
              </a:ext>
            </a:extLst>
          </p:cNvPr>
          <p:cNvSpPr txBox="1"/>
          <p:nvPr/>
        </p:nvSpPr>
        <p:spPr>
          <a:xfrm>
            <a:off x="850392" y="1560000"/>
            <a:ext cx="2414016" cy="2200602"/>
          </a:xfrm>
          <a:prstGeom prst="rect">
            <a:avLst/>
          </a:prstGeom>
          <a:noFill/>
        </p:spPr>
        <p:txBody>
          <a:bodyPr wrap="square">
            <a:spAutoFit/>
          </a:bodyPr>
          <a:lstStyle/>
          <a:p>
            <a:pPr>
              <a:spcBef>
                <a:spcPts val="0"/>
              </a:spcBef>
              <a:defRPr sz="1200" b="1">
                <a:solidFill>
                  <a:srgbClr val="2F69B4"/>
                </a:solidFill>
              </a:defRPr>
            </a:pPr>
            <a:r>
              <a:rPr sz="1400" dirty="0"/>
              <a:t>Free, and everywhere</a:t>
            </a:r>
            <a:endParaRPr lang="en-SG" sz="1400" dirty="0"/>
          </a:p>
          <a:p>
            <a:pPr marL="171450" indent="-171450">
              <a:spcBef>
                <a:spcPts val="260"/>
              </a:spcBef>
              <a:buFont typeface="Wingdings" panose="05000000000000000000" pitchFamily="2" charset="2"/>
              <a:buChar char="§"/>
              <a:defRPr sz="1000">
                <a:solidFill>
                  <a:srgbClr val="232323"/>
                </a:solidFill>
              </a:defRPr>
            </a:pPr>
            <a:r>
              <a:rPr sz="1050" dirty="0"/>
              <a:t>No </a:t>
            </a:r>
            <a:r>
              <a:rPr sz="1050" dirty="0" err="1"/>
              <a:t>licence</a:t>
            </a:r>
            <a:r>
              <a:rPr sz="1050" dirty="0"/>
              <a:t> to buy</a:t>
            </a:r>
            <a:r>
              <a:rPr lang="en-US" sz="1050" dirty="0"/>
              <a:t>, and nothing to install for today</a:t>
            </a:r>
            <a:endParaRPr lang="en-SG" sz="1050" dirty="0"/>
          </a:p>
          <a:p>
            <a:pPr marL="171450" indent="-171450">
              <a:spcBef>
                <a:spcPts val="260"/>
              </a:spcBef>
              <a:buFont typeface="Wingdings" panose="05000000000000000000" pitchFamily="2" charset="2"/>
              <a:buChar char="§"/>
              <a:defRPr sz="1000">
                <a:solidFill>
                  <a:srgbClr val="232323"/>
                </a:solidFill>
              </a:defRPr>
            </a:pPr>
            <a:r>
              <a:rPr lang="en-SG" sz="1050" dirty="0"/>
              <a:t>The </a:t>
            </a:r>
            <a:r>
              <a:rPr sz="1050" dirty="0"/>
              <a:t>same code works on your laptop, a server, or a </a:t>
            </a:r>
            <a:r>
              <a:rPr lang="en-US" sz="1050" dirty="0"/>
              <a:t>classmate or </a:t>
            </a:r>
            <a:r>
              <a:rPr lang="en-SG" sz="1050" dirty="0"/>
              <a:t>colleague’s </a:t>
            </a:r>
            <a:r>
              <a:rPr sz="1050" dirty="0"/>
              <a:t>machine</a:t>
            </a:r>
            <a:r>
              <a:rPr lang="en-US" sz="1050" dirty="0"/>
              <a:t>, which is why it has become the shared language of research computing.</a:t>
            </a:r>
          </a:p>
          <a:p>
            <a:pPr marL="171450" indent="-171450">
              <a:spcBef>
                <a:spcPts val="260"/>
              </a:spcBef>
              <a:buFont typeface="Wingdings" panose="05000000000000000000" pitchFamily="2" charset="2"/>
              <a:buChar char="§"/>
              <a:defRPr sz="1000">
                <a:solidFill>
                  <a:srgbClr val="232323"/>
                </a:solidFill>
              </a:defRPr>
            </a:pPr>
            <a:r>
              <a:rPr lang="en-US" sz="1050" dirty="0"/>
              <a:t>It is also the most widely taught language in data work, so what you learn today transfers to almost any team, lab or project you join later</a:t>
            </a:r>
            <a:r>
              <a:rPr sz="1050" dirty="0"/>
              <a:t>.</a:t>
            </a:r>
            <a:endParaRPr lang="en-SG" sz="1050" dirty="0"/>
          </a:p>
        </p:txBody>
      </p:sp>
      <p:sp>
        <p:nvSpPr>
          <p:cNvPr id="12" name="Rounded Rectangle 11">
            <a:extLst>
              <a:ext uri="{FF2B5EF4-FFF2-40B4-BE49-F238E27FC236}">
                <a16:creationId xmlns:a16="http://schemas.microsoft.com/office/drawing/2014/main" id="{DE0C0A8F-49C0-4019-DD76-66F42A455251}"/>
              </a:ext>
            </a:extLst>
          </p:cNvPr>
          <p:cNvSpPr/>
          <p:nvPr/>
        </p:nvSpPr>
        <p:spPr>
          <a:xfrm>
            <a:off x="3703320" y="1450000"/>
            <a:ext cx="4023360" cy="2900000"/>
          </a:xfrm>
          <a:prstGeom prst="roundRect">
            <a:avLst/>
          </a:prstGeom>
          <a:solidFill>
            <a:srgbClr val="FAFAFA"/>
          </a:solidFill>
          <a:ln>
            <a:solidFill>
              <a:srgbClr val="CDD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C466169F-A98D-B2E8-CC26-64D133119893}"/>
              </a:ext>
            </a:extLst>
          </p:cNvPr>
          <p:cNvSpPr txBox="1"/>
          <p:nvPr/>
        </p:nvSpPr>
        <p:spPr>
          <a:xfrm>
            <a:off x="3849624" y="1560000"/>
            <a:ext cx="3730752" cy="2739211"/>
          </a:xfrm>
          <a:prstGeom prst="rect">
            <a:avLst/>
          </a:prstGeom>
          <a:noFill/>
        </p:spPr>
        <p:txBody>
          <a:bodyPr wrap="square">
            <a:spAutoFit/>
          </a:bodyPr>
          <a:lstStyle/>
          <a:p>
            <a:pPr>
              <a:spcBef>
                <a:spcPts val="0"/>
              </a:spcBef>
              <a:defRPr sz="1100" b="1">
                <a:solidFill>
                  <a:srgbClr val="2F69B4"/>
                </a:solidFill>
              </a:defRPr>
            </a:pPr>
            <a:r>
              <a:rPr lang="en-US" sz="1400" dirty="0"/>
              <a:t>Why we teach it here</a:t>
            </a:r>
          </a:p>
          <a:p>
            <a:pPr marL="171450" indent="-171450">
              <a:spcBef>
                <a:spcPts val="260"/>
              </a:spcBef>
              <a:buFont typeface="Arial" panose="020B0604020202020204" pitchFamily="34" charset="0"/>
              <a:buChar char="•"/>
              <a:defRPr sz="1000">
                <a:solidFill>
                  <a:srgbClr val="232323"/>
                </a:solidFill>
              </a:defRPr>
            </a:pPr>
            <a:r>
              <a:rPr sz="1100" b="1" dirty="0"/>
              <a:t>Reproducible</a:t>
            </a:r>
            <a:r>
              <a:rPr sz="1100" dirty="0"/>
              <a:t> </a:t>
            </a:r>
            <a:r>
              <a:rPr lang="en-US" sz="1100" dirty="0"/>
              <a:t> T</a:t>
            </a:r>
            <a:r>
              <a:rPr sz="1100" dirty="0"/>
              <a:t>he code is the record of what you did, so any chart can be remade and checked</a:t>
            </a:r>
            <a:r>
              <a:rPr lang="en-SG" sz="1100" dirty="0"/>
              <a:t> months later</a:t>
            </a:r>
            <a:r>
              <a:rPr sz="1100" dirty="0"/>
              <a:t>.</a:t>
            </a:r>
            <a:endParaRPr lang="en-SG" sz="1100" dirty="0"/>
          </a:p>
          <a:p>
            <a:pPr marL="171450" indent="-171450">
              <a:spcBef>
                <a:spcPts val="260"/>
              </a:spcBef>
              <a:buFont typeface="Arial" panose="020B0604020202020204" pitchFamily="34" charset="0"/>
              <a:buChar char="•"/>
              <a:defRPr sz="1000">
                <a:solidFill>
                  <a:srgbClr val="232323"/>
                </a:solidFill>
              </a:defRPr>
            </a:pPr>
            <a:r>
              <a:rPr sz="1100" b="1" dirty="0"/>
              <a:t>Scales</a:t>
            </a:r>
            <a:r>
              <a:rPr sz="1100" dirty="0"/>
              <a:t> </a:t>
            </a:r>
            <a:r>
              <a:rPr lang="en-US" sz="1100" dirty="0"/>
              <a:t> T</a:t>
            </a:r>
            <a:r>
              <a:rPr sz="1100" dirty="0"/>
              <a:t>he same script handles 500 rows or 5 million. A spreadsheet </a:t>
            </a:r>
            <a:r>
              <a:rPr lang="en-US" sz="1100" dirty="0"/>
              <a:t>gives up long before that</a:t>
            </a:r>
            <a:r>
              <a:rPr sz="1100" dirty="0"/>
              <a:t>.</a:t>
            </a:r>
            <a:endParaRPr lang="en-SG" sz="1100" dirty="0"/>
          </a:p>
          <a:p>
            <a:pPr marL="171450" indent="-171450">
              <a:spcBef>
                <a:spcPts val="260"/>
              </a:spcBef>
              <a:buFont typeface="Arial" panose="020B0604020202020204" pitchFamily="34" charset="0"/>
              <a:buChar char="•"/>
              <a:defRPr sz="1000">
                <a:solidFill>
                  <a:srgbClr val="232323"/>
                </a:solidFill>
              </a:defRPr>
            </a:pPr>
            <a:r>
              <a:rPr sz="1100" b="1" dirty="0"/>
              <a:t>One place for the whole job</a:t>
            </a:r>
            <a:r>
              <a:rPr sz="1100" dirty="0"/>
              <a:t> </a:t>
            </a:r>
            <a:r>
              <a:rPr lang="en-US" sz="1100" dirty="0"/>
              <a:t> C</a:t>
            </a:r>
            <a:r>
              <a:rPr sz="1100" dirty="0"/>
              <a:t>leaning, analysis and charting without switching </a:t>
            </a:r>
            <a:r>
              <a:rPr lang="en-SG" sz="1100" dirty="0"/>
              <a:t>between </a:t>
            </a:r>
            <a:r>
              <a:rPr sz="1100" dirty="0"/>
              <a:t>tools.</a:t>
            </a:r>
            <a:endParaRPr lang="en-SG" sz="1100" dirty="0"/>
          </a:p>
          <a:p>
            <a:pPr marL="171450" indent="-171450">
              <a:spcBef>
                <a:spcPts val="260"/>
              </a:spcBef>
              <a:buFont typeface="Arial" panose="020B0604020202020204" pitchFamily="34" charset="0"/>
              <a:buChar char="•"/>
              <a:defRPr sz="1000">
                <a:solidFill>
                  <a:srgbClr val="232323"/>
                </a:solidFill>
              </a:defRPr>
            </a:pPr>
            <a:r>
              <a:rPr sz="1100" b="1" dirty="0"/>
              <a:t>Best supported by AI </a:t>
            </a:r>
            <a:r>
              <a:rPr lang="en-US" sz="1100" b="1" dirty="0"/>
              <a:t> </a:t>
            </a:r>
            <a:r>
              <a:rPr sz="1100" dirty="0"/>
              <a:t>Python is the language every AI assistant knows most deeply</a:t>
            </a:r>
            <a:r>
              <a:rPr lang="en-US" sz="1100" dirty="0"/>
              <a:t>, so the help you get is more reliable.</a:t>
            </a:r>
          </a:p>
          <a:p>
            <a:pPr marL="171450" indent="-171450">
              <a:spcBef>
                <a:spcPts val="260"/>
              </a:spcBef>
              <a:buFont typeface="Arial" panose="020B0604020202020204" pitchFamily="34" charset="0"/>
              <a:buChar char="•"/>
              <a:defRPr sz="1000">
                <a:solidFill>
                  <a:srgbClr val="232323"/>
                </a:solidFill>
              </a:defRPr>
            </a:pPr>
            <a:r>
              <a:rPr lang="en-US" sz="1100" b="1" dirty="0"/>
              <a:t>Transferable</a:t>
            </a:r>
            <a:r>
              <a:rPr lang="en-US" sz="1100" dirty="0"/>
              <a:t>  The same skills carry straight into data analysis, machine learning and automation.</a:t>
            </a:r>
          </a:p>
          <a:p>
            <a:pPr marL="171450" indent="-171450">
              <a:spcBef>
                <a:spcPts val="260"/>
              </a:spcBef>
              <a:buFont typeface="Arial" panose="020B0604020202020204" pitchFamily="34" charset="0"/>
              <a:buChar char="•"/>
              <a:defRPr sz="1000">
                <a:solidFill>
                  <a:srgbClr val="232323"/>
                </a:solidFill>
              </a:defRPr>
            </a:pPr>
            <a:r>
              <a:rPr lang="en-US" sz="1100" b="1" dirty="0"/>
              <a:t>Honest</a:t>
            </a:r>
            <a:r>
              <a:rPr lang="en-US" sz="1100" dirty="0"/>
              <a:t>  A chart you built yourself is one you can explain when someone questions it</a:t>
            </a:r>
            <a:r>
              <a:rPr sz="1100" dirty="0"/>
              <a:t>.</a:t>
            </a:r>
            <a:endParaRPr lang="en-SG" sz="1100" dirty="0"/>
          </a:p>
        </p:txBody>
      </p:sp>
      <p:sp>
        <p:nvSpPr>
          <p:cNvPr id="14" name="Rounded Rectangle 13">
            <a:extLst>
              <a:ext uri="{FF2B5EF4-FFF2-40B4-BE49-F238E27FC236}">
                <a16:creationId xmlns:a16="http://schemas.microsoft.com/office/drawing/2014/main" id="{939B7B90-732A-A397-9CD5-19009BE3572F}"/>
              </a:ext>
            </a:extLst>
          </p:cNvPr>
          <p:cNvSpPr/>
          <p:nvPr/>
        </p:nvSpPr>
        <p:spPr>
          <a:xfrm>
            <a:off x="8001000" y="1450000"/>
            <a:ext cx="3520440" cy="2900000"/>
          </a:xfrm>
          <a:prstGeom prst="roundRect">
            <a:avLst/>
          </a:prstGeom>
          <a:solidFill>
            <a:srgbClr val="E8F8F4"/>
          </a:solidFill>
          <a:ln w="15240">
            <a:solidFill>
              <a:srgbClr val="2A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4F2D6C5C-E5F7-42FD-26FA-3D06A22A1C79}"/>
              </a:ext>
            </a:extLst>
          </p:cNvPr>
          <p:cNvSpPr txBox="1"/>
          <p:nvPr/>
        </p:nvSpPr>
        <p:spPr>
          <a:xfrm>
            <a:off x="8165592" y="1560000"/>
            <a:ext cx="3191256" cy="1715854"/>
          </a:xfrm>
          <a:prstGeom prst="rect">
            <a:avLst/>
          </a:prstGeom>
          <a:noFill/>
        </p:spPr>
        <p:txBody>
          <a:bodyPr wrap="square">
            <a:spAutoFit/>
          </a:bodyPr>
          <a:lstStyle/>
          <a:p>
            <a:pPr>
              <a:spcBef>
                <a:spcPts val="0"/>
              </a:spcBef>
              <a:defRPr sz="1200" b="1">
                <a:solidFill>
                  <a:srgbClr val="2F69B4"/>
                </a:solidFill>
              </a:defRPr>
            </a:pPr>
            <a:r>
              <a:rPr sz="1400" dirty="0"/>
              <a:t>What you give up</a:t>
            </a:r>
            <a:endParaRPr lang="en-SG" sz="1400" dirty="0"/>
          </a:p>
          <a:p>
            <a:pPr marL="171450" indent="-171450">
              <a:spcBef>
                <a:spcPts val="260"/>
              </a:spcBef>
              <a:buFont typeface="Arial" panose="020B0604020202020204" pitchFamily="34" charset="0"/>
              <a:buChar char="•"/>
              <a:defRPr sz="1000">
                <a:solidFill>
                  <a:srgbClr val="232323"/>
                </a:solidFill>
              </a:defRPr>
            </a:pPr>
            <a:r>
              <a:rPr sz="1050" dirty="0"/>
              <a:t>A steeper start than Excel or Tableau. You trade a few hours of learning for control, repeatability and scale.</a:t>
            </a:r>
            <a:endParaRPr lang="en-US" sz="1050" dirty="0"/>
          </a:p>
          <a:p>
            <a:pPr marL="171450" indent="-171450">
              <a:spcBef>
                <a:spcPts val="260"/>
              </a:spcBef>
              <a:buFont typeface="Arial" panose="020B0604020202020204" pitchFamily="34" charset="0"/>
              <a:buChar char="•"/>
              <a:defRPr sz="1000">
                <a:solidFill>
                  <a:srgbClr val="232323"/>
                </a:solidFill>
              </a:defRPr>
            </a:pPr>
            <a:r>
              <a:rPr lang="en-US" sz="1050" dirty="0"/>
              <a:t>Worth it if you will make a chart fifty times. Less so if you need one bar chart, once.</a:t>
            </a:r>
          </a:p>
          <a:p>
            <a:pPr marL="171450" indent="-171450">
              <a:spcBef>
                <a:spcPts val="260"/>
              </a:spcBef>
              <a:buFont typeface="Arial" panose="020B0604020202020204" pitchFamily="34" charset="0"/>
              <a:buChar char="•"/>
              <a:defRPr sz="1000">
                <a:solidFill>
                  <a:srgbClr val="232323"/>
                </a:solidFill>
              </a:defRPr>
            </a:pPr>
            <a:r>
              <a:rPr lang="en-US" sz="1050" dirty="0"/>
              <a:t>You do not need to </a:t>
            </a:r>
            <a:r>
              <a:rPr lang="en-US" sz="1050" dirty="0" err="1"/>
              <a:t>memorise</a:t>
            </a:r>
            <a:r>
              <a:rPr lang="en-US" sz="1050" dirty="0"/>
              <a:t> the syntax. Being able to read the code and know what to change is already enough to be useful.</a:t>
            </a:r>
          </a:p>
        </p:txBody>
      </p:sp>
      <p:sp>
        <p:nvSpPr>
          <p:cNvPr id="16" name="Rounded Rectangle 15">
            <a:extLst>
              <a:ext uri="{FF2B5EF4-FFF2-40B4-BE49-F238E27FC236}">
                <a16:creationId xmlns:a16="http://schemas.microsoft.com/office/drawing/2014/main" id="{48303B2B-F9BA-5F11-9BF7-255FDDC6B688}"/>
              </a:ext>
            </a:extLst>
          </p:cNvPr>
          <p:cNvSpPr/>
          <p:nvPr/>
        </p:nvSpPr>
        <p:spPr>
          <a:xfrm>
            <a:off x="3703320" y="4520000"/>
            <a:ext cx="7818120" cy="1300000"/>
          </a:xfrm>
          <a:prstGeom prst="roundRect">
            <a:avLst/>
          </a:prstGeom>
          <a:solidFill>
            <a:srgbClr val="FFF4E8"/>
          </a:solidFill>
          <a:ln w="15240">
            <a:solidFill>
              <a:srgbClr val="E88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EB862542-EB40-51D7-3372-D7400751EBF9}"/>
              </a:ext>
            </a:extLst>
          </p:cNvPr>
          <p:cNvSpPr txBox="1"/>
          <p:nvPr/>
        </p:nvSpPr>
        <p:spPr>
          <a:xfrm>
            <a:off x="3867911" y="4640000"/>
            <a:ext cx="7488936" cy="728405"/>
          </a:xfrm>
          <a:prstGeom prst="rect">
            <a:avLst/>
          </a:prstGeom>
          <a:noFill/>
        </p:spPr>
        <p:txBody>
          <a:bodyPr wrap="square">
            <a:spAutoFit/>
          </a:bodyPr>
          <a:lstStyle/>
          <a:p>
            <a:pPr>
              <a:defRPr sz="1400" b="1">
                <a:solidFill>
                  <a:srgbClr val="E88A2D"/>
                </a:solidFill>
              </a:defRPr>
            </a:pPr>
            <a:r>
              <a:rPr dirty="0"/>
              <a:t>Why this matters today</a:t>
            </a:r>
          </a:p>
          <a:p>
            <a:pPr>
              <a:spcBef>
                <a:spcPts val="400"/>
              </a:spcBef>
              <a:defRPr sz="1200">
                <a:solidFill>
                  <a:srgbClr val="232323"/>
                </a:solidFill>
              </a:defRPr>
            </a:pPr>
            <a:r>
              <a:rPr dirty="0"/>
              <a:t>Every chart we build today is two or three readable lines. Once you can read them, you can change them</a:t>
            </a:r>
            <a:r>
              <a:rPr lang="en-SG" dirty="0"/>
              <a:t>, </a:t>
            </a:r>
            <a:r>
              <a:rPr dirty="0"/>
              <a:t>and you can judge whether AI's version is right.</a:t>
            </a:r>
          </a:p>
        </p:txBody>
      </p:sp>
    </p:spTree>
    <p:extLst>
      <p:ext uri="{BB962C8B-B14F-4D97-AF65-F5344CB8AC3E}">
        <p14:creationId xmlns:p14="http://schemas.microsoft.com/office/powerpoint/2010/main" val="3604849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AD0FA-2D4F-BD0D-E82C-8F97FA5CF15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EBE3DB2-EA3F-753E-0F62-BF9972600DCD}"/>
              </a:ext>
            </a:extLst>
          </p:cNvPr>
          <p:cNvSpPr txBox="1"/>
          <p:nvPr/>
        </p:nvSpPr>
        <p:spPr>
          <a:xfrm>
            <a:off x="594360" y="320040"/>
            <a:ext cx="10972800" cy="658368"/>
          </a:xfrm>
          <a:prstGeom prst="rect">
            <a:avLst/>
          </a:prstGeom>
          <a:noFill/>
        </p:spPr>
        <p:txBody>
          <a:bodyPr wrap="none">
            <a:spAutoFit/>
          </a:bodyPr>
          <a:lstStyle/>
          <a:p>
            <a:pPr>
              <a:defRPr sz="2800" b="1">
                <a:solidFill>
                  <a:srgbClr val="162D4E"/>
                </a:solidFill>
              </a:defRPr>
            </a:pPr>
            <a:r>
              <a:t>Why These Python Libraries?</a:t>
            </a:r>
          </a:p>
        </p:txBody>
      </p:sp>
      <p:sp>
        <p:nvSpPr>
          <p:cNvPr id="3" name="TextBox 2">
            <a:extLst>
              <a:ext uri="{FF2B5EF4-FFF2-40B4-BE49-F238E27FC236}">
                <a16:creationId xmlns:a16="http://schemas.microsoft.com/office/drawing/2014/main" id="{8FF802DA-C56D-C799-A0D8-CCBA3C32EB8F}"/>
              </a:ext>
            </a:extLst>
          </p:cNvPr>
          <p:cNvSpPr txBox="1"/>
          <p:nvPr/>
        </p:nvSpPr>
        <p:spPr>
          <a:xfrm>
            <a:off x="621792" y="960120"/>
            <a:ext cx="10789920" cy="384048"/>
          </a:xfrm>
          <a:prstGeom prst="rect">
            <a:avLst/>
          </a:prstGeom>
          <a:noFill/>
        </p:spPr>
        <p:txBody>
          <a:bodyPr wrap="none">
            <a:spAutoFit/>
          </a:bodyPr>
          <a:lstStyle/>
          <a:p>
            <a:pPr>
              <a:defRPr sz="1500">
                <a:solidFill>
                  <a:srgbClr val="606060"/>
                </a:solidFill>
              </a:defRPr>
            </a:pPr>
            <a:r>
              <a:t>Each library has a job. Knowing which is which is part of the thinking.</a:t>
            </a:r>
          </a:p>
        </p:txBody>
      </p:sp>
      <p:sp>
        <p:nvSpPr>
          <p:cNvPr id="4" name="TextBox 3">
            <a:extLst>
              <a:ext uri="{FF2B5EF4-FFF2-40B4-BE49-F238E27FC236}">
                <a16:creationId xmlns:a16="http://schemas.microsoft.com/office/drawing/2014/main" id="{946942A7-339A-F7FB-A7FB-25962F6E1566}"/>
              </a:ext>
            </a:extLst>
          </p:cNvPr>
          <p:cNvSpPr txBox="1"/>
          <p:nvPr/>
        </p:nvSpPr>
        <p:spPr>
          <a:xfrm>
            <a:off x="9457288" y="6473952"/>
            <a:ext cx="2109872" cy="223138"/>
          </a:xfrm>
          <a:prstGeom prst="rect">
            <a:avLst/>
          </a:prstGeom>
          <a:noFill/>
        </p:spPr>
        <p:txBody>
          <a:bodyPr wrap="none">
            <a:spAutoFit/>
          </a:bodyPr>
          <a:lstStyle/>
          <a:p>
            <a:pPr algn="r">
              <a:defRPr sz="850">
                <a:solidFill>
                  <a:srgbClr val="8C8C8C"/>
                </a:solidFill>
              </a:defRPr>
            </a:pPr>
            <a:r>
              <a:t>Data Visualisation with Python and AI  |  </a:t>
            </a:r>
            <a:r>
              <a:rPr lang="en-SG"/>
              <a:t>5</a:t>
            </a:r>
            <a:endParaRPr/>
          </a:p>
        </p:txBody>
      </p:sp>
      <p:sp>
        <p:nvSpPr>
          <p:cNvPr id="5" name="Rounded Rectangle 4">
            <a:extLst>
              <a:ext uri="{FF2B5EF4-FFF2-40B4-BE49-F238E27FC236}">
                <a16:creationId xmlns:a16="http://schemas.microsoft.com/office/drawing/2014/main" id="{91CEA837-10E3-D4B2-5D3D-2266E50704DC}"/>
              </a:ext>
            </a:extLst>
          </p:cNvPr>
          <p:cNvSpPr/>
          <p:nvPr/>
        </p:nvSpPr>
        <p:spPr>
          <a:xfrm>
            <a:off x="685800" y="1450000"/>
            <a:ext cx="2743200" cy="2900000"/>
          </a:xfrm>
          <a:prstGeom prst="roundRect">
            <a:avLst/>
          </a:prstGeom>
          <a:solidFill>
            <a:srgbClr val="F5F7FA"/>
          </a:solidFill>
          <a:ln w="15240">
            <a:solidFill>
              <a:srgbClr val="2F69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2DB09FF0-626D-B3A0-8F1C-B9A535A84AF3}"/>
              </a:ext>
            </a:extLst>
          </p:cNvPr>
          <p:cNvSpPr txBox="1"/>
          <p:nvPr/>
        </p:nvSpPr>
        <p:spPr>
          <a:xfrm>
            <a:off x="850392" y="1560000"/>
            <a:ext cx="2414016" cy="715581"/>
          </a:xfrm>
          <a:prstGeom prst="rect">
            <a:avLst/>
          </a:prstGeom>
          <a:noFill/>
        </p:spPr>
        <p:txBody>
          <a:bodyPr wrap="square">
            <a:spAutoFit/>
          </a:bodyPr>
          <a:lstStyle/>
          <a:p>
            <a:pPr>
              <a:spcBef>
                <a:spcPts val="0"/>
              </a:spcBef>
              <a:defRPr sz="1200" b="1">
                <a:solidFill>
                  <a:srgbClr val="2F69B4"/>
                </a:solidFill>
              </a:defRPr>
            </a:pPr>
            <a:r>
              <a:rPr sz="1600" dirty="0"/>
              <a:t>The data layer</a:t>
            </a:r>
            <a:endParaRPr lang="en-SG" sz="1600" dirty="0"/>
          </a:p>
          <a:p>
            <a:pPr marL="171450" indent="-171450">
              <a:spcBef>
                <a:spcPts val="260"/>
              </a:spcBef>
              <a:buFont typeface="Arial" panose="020B0604020202020204" pitchFamily="34" charset="0"/>
              <a:buChar char="•"/>
              <a:defRPr sz="1000">
                <a:solidFill>
                  <a:srgbClr val="232323"/>
                </a:solidFill>
              </a:defRPr>
            </a:pPr>
            <a:r>
              <a:rPr sz="1100" dirty="0"/>
              <a:t>pandas and </a:t>
            </a:r>
            <a:r>
              <a:rPr sz="1100" dirty="0" err="1"/>
              <a:t>numpy</a:t>
            </a:r>
            <a:r>
              <a:rPr sz="1100" dirty="0"/>
              <a:t> load the </a:t>
            </a:r>
            <a:r>
              <a:rPr lang="en-SG" sz="1100" dirty="0"/>
              <a:t>file</a:t>
            </a:r>
            <a:r>
              <a:rPr sz="1100" dirty="0"/>
              <a:t>, clean it, group it and reshape it.</a:t>
            </a:r>
            <a:endParaRPr lang="en-SG" sz="1100" dirty="0"/>
          </a:p>
        </p:txBody>
      </p:sp>
      <p:sp>
        <p:nvSpPr>
          <p:cNvPr id="12" name="Rounded Rectangle 11">
            <a:extLst>
              <a:ext uri="{FF2B5EF4-FFF2-40B4-BE49-F238E27FC236}">
                <a16:creationId xmlns:a16="http://schemas.microsoft.com/office/drawing/2014/main" id="{9FBB7448-F656-7515-3F89-FAA1C3AB961C}"/>
              </a:ext>
            </a:extLst>
          </p:cNvPr>
          <p:cNvSpPr/>
          <p:nvPr/>
        </p:nvSpPr>
        <p:spPr>
          <a:xfrm>
            <a:off x="3703320" y="1450000"/>
            <a:ext cx="4023360" cy="2900000"/>
          </a:xfrm>
          <a:prstGeom prst="roundRect">
            <a:avLst/>
          </a:prstGeom>
          <a:solidFill>
            <a:srgbClr val="FAFAFA"/>
          </a:solidFill>
          <a:ln>
            <a:solidFill>
              <a:srgbClr val="CDD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910CF4E7-BB3E-5306-B1DC-44CF59197DB8}"/>
              </a:ext>
            </a:extLst>
          </p:cNvPr>
          <p:cNvSpPr txBox="1"/>
          <p:nvPr/>
        </p:nvSpPr>
        <p:spPr>
          <a:xfrm>
            <a:off x="3849624" y="1560000"/>
            <a:ext cx="3730752" cy="2823850"/>
          </a:xfrm>
          <a:prstGeom prst="rect">
            <a:avLst/>
          </a:prstGeom>
          <a:noFill/>
        </p:spPr>
        <p:txBody>
          <a:bodyPr wrap="square">
            <a:spAutoFit/>
          </a:bodyPr>
          <a:lstStyle/>
          <a:p>
            <a:pPr>
              <a:spcBef>
                <a:spcPts val="0"/>
              </a:spcBef>
              <a:defRPr sz="1200" b="1">
                <a:solidFill>
                  <a:srgbClr val="2F69B4"/>
                </a:solidFill>
              </a:defRPr>
            </a:pPr>
            <a:r>
              <a:rPr lang="en-SG" sz="1600" dirty="0"/>
              <a:t>matplotlib vs seaborn</a:t>
            </a:r>
          </a:p>
          <a:p>
            <a:pPr marL="171450" indent="-171450">
              <a:spcBef>
                <a:spcPts val="260"/>
              </a:spcBef>
              <a:buFont typeface="Arial" panose="020B0604020202020204" pitchFamily="34" charset="0"/>
              <a:buChar char="•"/>
              <a:defRPr sz="950">
                <a:solidFill>
                  <a:srgbClr val="232323"/>
                </a:solidFill>
              </a:defRPr>
            </a:pPr>
            <a:r>
              <a:rPr sz="1400" dirty="0"/>
              <a:t>matplotlib </a:t>
            </a:r>
            <a:r>
              <a:rPr lang="en-SG" sz="1400" dirty="0"/>
              <a:t>is </a:t>
            </a:r>
            <a:r>
              <a:rPr sz="1400" dirty="0"/>
              <a:t>the </a:t>
            </a:r>
            <a:r>
              <a:rPr lang="en-US" sz="1400" dirty="0"/>
              <a:t>engine. You place every element yourself: draw the chart, then set the title, the axis labels</a:t>
            </a:r>
            <a:r>
              <a:rPr sz="1400" dirty="0"/>
              <a:t>, </a:t>
            </a:r>
            <a:r>
              <a:rPr lang="en-SG" sz="1400" dirty="0"/>
              <a:t>the ticks </a:t>
            </a:r>
            <a:r>
              <a:rPr sz="1400" dirty="0"/>
              <a:t>and </a:t>
            </a:r>
            <a:r>
              <a:rPr lang="en-US" sz="1400" dirty="0"/>
              <a:t>the </a:t>
            </a:r>
            <a:r>
              <a:rPr lang="en-US" sz="1400" dirty="0" err="1"/>
              <a:t>colours</a:t>
            </a:r>
            <a:r>
              <a:rPr lang="en-US" sz="1400" dirty="0"/>
              <a:t>. Full control, more lines</a:t>
            </a:r>
            <a:r>
              <a:rPr sz="1400" dirty="0"/>
              <a:t>.</a:t>
            </a:r>
            <a:endParaRPr lang="en-SG" sz="1400" dirty="0"/>
          </a:p>
          <a:p>
            <a:pPr marL="171450" indent="-171450">
              <a:spcBef>
                <a:spcPts val="260"/>
              </a:spcBef>
              <a:buFont typeface="Arial" panose="020B0604020202020204" pitchFamily="34" charset="0"/>
              <a:buChar char="•"/>
              <a:defRPr sz="950">
                <a:solidFill>
                  <a:srgbClr val="232323"/>
                </a:solidFill>
              </a:defRPr>
            </a:pPr>
            <a:r>
              <a:rPr sz="1400" dirty="0"/>
              <a:t>seaborn </a:t>
            </a:r>
            <a:r>
              <a:rPr lang="en-US" sz="1400" dirty="0"/>
              <a:t>sits on top of </a:t>
            </a:r>
            <a:r>
              <a:rPr lang="en-US" sz="1400" dirty="0" err="1"/>
              <a:t>matplot</a:t>
            </a:r>
            <a:r>
              <a:rPr sz="1400" dirty="0"/>
              <a:t>.</a:t>
            </a:r>
            <a:r>
              <a:rPr lang="en-US" sz="1400" dirty="0"/>
              <a:t> One call reads your table, picks sensible </a:t>
            </a:r>
            <a:r>
              <a:rPr lang="en-US" sz="1400" dirty="0" err="1"/>
              <a:t>colours</a:t>
            </a:r>
            <a:r>
              <a:rPr lang="en-US" sz="1400" dirty="0"/>
              <a:t>, labels the axes from your column names and works out the statistics for you.</a:t>
            </a:r>
          </a:p>
          <a:p>
            <a:pPr marL="171450" indent="-171450">
              <a:spcBef>
                <a:spcPts val="260"/>
              </a:spcBef>
              <a:buFont typeface="Arial" panose="020B0604020202020204" pitchFamily="34" charset="0"/>
              <a:buChar char="•"/>
              <a:defRPr sz="950">
                <a:solidFill>
                  <a:srgbClr val="232323"/>
                </a:solidFill>
              </a:defRPr>
            </a:pPr>
            <a:r>
              <a:rPr lang="en-US" sz="1400" dirty="0"/>
              <a:t>A seaborn chart is still a matplotlib chart underneath, so you can fine-tune it with matplotlib afterwards</a:t>
            </a:r>
            <a:r>
              <a:rPr sz="1400" dirty="0"/>
              <a:t>.</a:t>
            </a:r>
            <a:endParaRPr lang="en-SG" sz="1400" dirty="0"/>
          </a:p>
        </p:txBody>
      </p:sp>
      <p:sp>
        <p:nvSpPr>
          <p:cNvPr id="14" name="Rounded Rectangle 13">
            <a:extLst>
              <a:ext uri="{FF2B5EF4-FFF2-40B4-BE49-F238E27FC236}">
                <a16:creationId xmlns:a16="http://schemas.microsoft.com/office/drawing/2014/main" id="{9F4350B5-6396-44B2-B6BE-5265F55ACB79}"/>
              </a:ext>
            </a:extLst>
          </p:cNvPr>
          <p:cNvSpPr/>
          <p:nvPr/>
        </p:nvSpPr>
        <p:spPr>
          <a:xfrm>
            <a:off x="8001000" y="1450000"/>
            <a:ext cx="3520440" cy="2900000"/>
          </a:xfrm>
          <a:prstGeom prst="roundRect">
            <a:avLst/>
          </a:prstGeom>
          <a:solidFill>
            <a:srgbClr val="E8F8F4"/>
          </a:solidFill>
          <a:ln w="15240">
            <a:solidFill>
              <a:srgbClr val="2A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D1F65A18-BCAB-40E7-DF49-B5687A557885}"/>
              </a:ext>
            </a:extLst>
          </p:cNvPr>
          <p:cNvSpPr txBox="1"/>
          <p:nvPr/>
        </p:nvSpPr>
        <p:spPr>
          <a:xfrm>
            <a:off x="8165592" y="1560000"/>
            <a:ext cx="3191256" cy="2000548"/>
          </a:xfrm>
          <a:prstGeom prst="rect">
            <a:avLst/>
          </a:prstGeom>
          <a:noFill/>
        </p:spPr>
        <p:txBody>
          <a:bodyPr wrap="square">
            <a:spAutoFit/>
          </a:bodyPr>
          <a:lstStyle/>
          <a:p>
            <a:pPr>
              <a:spcBef>
                <a:spcPts val="0"/>
              </a:spcBef>
              <a:defRPr sz="1200" b="1">
                <a:solidFill>
                  <a:srgbClr val="2F69B4"/>
                </a:solidFill>
              </a:defRPr>
            </a:pPr>
            <a:r>
              <a:rPr lang="en-US" sz="1600" dirty="0"/>
              <a:t>What each one covers</a:t>
            </a:r>
          </a:p>
          <a:p>
            <a:pPr>
              <a:spcBef>
                <a:spcPts val="260"/>
              </a:spcBef>
              <a:defRPr sz="950">
                <a:solidFill>
                  <a:srgbClr val="232323"/>
                </a:solidFill>
              </a:defRPr>
            </a:pPr>
            <a:r>
              <a:rPr lang="en-US" sz="1400" b="1" dirty="0"/>
              <a:t>matplotlib </a:t>
            </a:r>
            <a:r>
              <a:rPr lang="en-US" sz="1400" dirty="0"/>
              <a:t>  Almost anything: line, bar, scatter, histogram, box, pie, </a:t>
            </a:r>
            <a:r>
              <a:rPr lang="en-US" sz="1400" dirty="0" err="1"/>
              <a:t>hexbin</a:t>
            </a:r>
            <a:r>
              <a:rPr lang="en-US" sz="1400" dirty="0"/>
              <a:t>, 3D</a:t>
            </a:r>
            <a:r>
              <a:rPr sz="1400" dirty="0"/>
              <a:t>.</a:t>
            </a:r>
            <a:endParaRPr lang="en-US" sz="1400" dirty="0"/>
          </a:p>
          <a:p>
            <a:pPr>
              <a:spcBef>
                <a:spcPts val="260"/>
              </a:spcBef>
              <a:defRPr sz="950">
                <a:solidFill>
                  <a:srgbClr val="232323"/>
                </a:solidFill>
              </a:defRPr>
            </a:pPr>
            <a:r>
              <a:rPr lang="en-US" sz="1400" b="1" dirty="0"/>
              <a:t>seaborn</a:t>
            </a:r>
            <a:r>
              <a:rPr lang="en-US" sz="1400" dirty="0"/>
              <a:t>   The statistical set: histogram, box, violin, scatter, heatmap, regression</a:t>
            </a:r>
            <a:r>
              <a:rPr sz="1400" dirty="0"/>
              <a:t>.</a:t>
            </a:r>
            <a:endParaRPr lang="en-US" sz="1400" dirty="0"/>
          </a:p>
          <a:p>
            <a:pPr>
              <a:spcBef>
                <a:spcPts val="260"/>
              </a:spcBef>
              <a:defRPr sz="950">
                <a:solidFill>
                  <a:srgbClr val="232323"/>
                </a:solidFill>
              </a:defRPr>
            </a:pPr>
            <a:r>
              <a:rPr lang="en-US" sz="1400" b="1" dirty="0" err="1"/>
              <a:t>plotly.express</a:t>
            </a:r>
            <a:r>
              <a:rPr lang="en-US" sz="1400" b="1" dirty="0"/>
              <a:t>   </a:t>
            </a:r>
            <a:r>
              <a:rPr lang="en-US" sz="1400" dirty="0"/>
              <a:t>Interactive versions of most of the above, plus maps</a:t>
            </a:r>
            <a:r>
              <a:rPr sz="1400" dirty="0"/>
              <a:t>.</a:t>
            </a:r>
            <a:endParaRPr lang="en-US" sz="1400" dirty="0"/>
          </a:p>
          <a:p>
            <a:pPr>
              <a:spcBef>
                <a:spcPts val="260"/>
              </a:spcBef>
              <a:defRPr sz="950">
                <a:solidFill>
                  <a:srgbClr val="232323"/>
                </a:solidFill>
              </a:defRPr>
            </a:pPr>
            <a:r>
              <a:rPr lang="en-US" sz="1400" b="1" dirty="0" err="1"/>
              <a:t>wordcloud</a:t>
            </a:r>
            <a:r>
              <a:rPr lang="en-US" sz="1400" dirty="0"/>
              <a:t>   Word clouds.</a:t>
            </a:r>
          </a:p>
        </p:txBody>
      </p:sp>
      <p:sp>
        <p:nvSpPr>
          <p:cNvPr id="16" name="Rounded Rectangle 15">
            <a:extLst>
              <a:ext uri="{FF2B5EF4-FFF2-40B4-BE49-F238E27FC236}">
                <a16:creationId xmlns:a16="http://schemas.microsoft.com/office/drawing/2014/main" id="{90855C62-B4D7-5517-B04A-EAC11F41338E}"/>
              </a:ext>
            </a:extLst>
          </p:cNvPr>
          <p:cNvSpPr/>
          <p:nvPr/>
        </p:nvSpPr>
        <p:spPr>
          <a:xfrm>
            <a:off x="3703320" y="4520000"/>
            <a:ext cx="7818120" cy="1300000"/>
          </a:xfrm>
          <a:prstGeom prst="roundRect">
            <a:avLst/>
          </a:prstGeom>
          <a:solidFill>
            <a:srgbClr val="FFF4E8"/>
          </a:solidFill>
          <a:ln w="15240">
            <a:solidFill>
              <a:srgbClr val="E88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C7107338-1DCA-B5BF-CF07-AAD532A1911D}"/>
              </a:ext>
            </a:extLst>
          </p:cNvPr>
          <p:cNvSpPr txBox="1"/>
          <p:nvPr/>
        </p:nvSpPr>
        <p:spPr>
          <a:xfrm>
            <a:off x="3867911" y="4640000"/>
            <a:ext cx="7488936" cy="500137"/>
          </a:xfrm>
          <a:prstGeom prst="rect">
            <a:avLst/>
          </a:prstGeom>
          <a:noFill/>
        </p:spPr>
        <p:txBody>
          <a:bodyPr wrap="square">
            <a:spAutoFit/>
          </a:bodyPr>
          <a:lstStyle/>
          <a:p>
            <a:pPr>
              <a:spcBef>
                <a:spcPts val="0"/>
              </a:spcBef>
              <a:defRPr sz="1200" b="1">
                <a:solidFill>
                  <a:srgbClr val="2F69B4"/>
                </a:solidFill>
              </a:defRPr>
            </a:pPr>
            <a:r>
              <a:t>Why this matters</a:t>
            </a:r>
            <a:endParaRPr lang="en-SG"/>
          </a:p>
          <a:p>
            <a:pPr>
              <a:spcBef>
                <a:spcPts val="260"/>
              </a:spcBef>
              <a:defRPr sz="1000">
                <a:solidFill>
                  <a:srgbClr val="232323"/>
                </a:solidFill>
              </a:defRPr>
            </a:pPr>
            <a:r>
              <a:t>Knowing which library owns which job lets you read any AI-generated code and judge whether it reached for the right tool.</a:t>
            </a:r>
            <a:endParaRPr lang="en-SG"/>
          </a:p>
        </p:txBody>
      </p:sp>
    </p:spTree>
    <p:extLst>
      <p:ext uri="{BB962C8B-B14F-4D97-AF65-F5344CB8AC3E}">
        <p14:creationId xmlns:p14="http://schemas.microsoft.com/office/powerpoint/2010/main" val="3385241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DF8A3-5D7B-B5F8-4EE2-D00A302AC5F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6E921C4-D83C-5F76-5F4C-91BDFE7E1521}"/>
              </a:ext>
            </a:extLst>
          </p:cNvPr>
          <p:cNvSpPr txBox="1"/>
          <p:nvPr/>
        </p:nvSpPr>
        <p:spPr>
          <a:xfrm>
            <a:off x="594360" y="320040"/>
            <a:ext cx="10972800" cy="658368"/>
          </a:xfrm>
          <a:prstGeom prst="rect">
            <a:avLst/>
          </a:prstGeom>
          <a:noFill/>
        </p:spPr>
        <p:txBody>
          <a:bodyPr wrap="none">
            <a:spAutoFit/>
          </a:bodyPr>
          <a:lstStyle/>
          <a:p>
            <a:pPr>
              <a:defRPr sz="2800" b="1">
                <a:solidFill>
                  <a:srgbClr val="162D4E"/>
                </a:solidFill>
              </a:defRPr>
            </a:pPr>
            <a:r>
              <a:t>The Dataset: TMDB 5000 Movies</a:t>
            </a:r>
          </a:p>
        </p:txBody>
      </p:sp>
      <p:sp>
        <p:nvSpPr>
          <p:cNvPr id="3" name="TextBox 2">
            <a:extLst>
              <a:ext uri="{FF2B5EF4-FFF2-40B4-BE49-F238E27FC236}">
                <a16:creationId xmlns:a16="http://schemas.microsoft.com/office/drawing/2014/main" id="{508CFE36-0866-50D1-0210-F09DC11D8F9C}"/>
              </a:ext>
            </a:extLst>
          </p:cNvPr>
          <p:cNvSpPr txBox="1"/>
          <p:nvPr/>
        </p:nvSpPr>
        <p:spPr>
          <a:xfrm>
            <a:off x="621792" y="960120"/>
            <a:ext cx="4636590" cy="323165"/>
          </a:xfrm>
          <a:prstGeom prst="rect">
            <a:avLst/>
          </a:prstGeom>
          <a:noFill/>
        </p:spPr>
        <p:txBody>
          <a:bodyPr wrap="none">
            <a:spAutoFit/>
          </a:bodyPr>
          <a:lstStyle/>
          <a:p>
            <a:pPr>
              <a:defRPr sz="1500">
                <a:solidFill>
                  <a:srgbClr val="606060"/>
                </a:solidFill>
              </a:defRPr>
            </a:pPr>
            <a:r>
              <a:rPr lang="en-US"/>
              <a:t>A quick look at the data </a:t>
            </a:r>
            <a:r>
              <a:t>we </a:t>
            </a:r>
            <a:r>
              <a:rPr lang="en-US"/>
              <a:t>will use for every chart today</a:t>
            </a:r>
            <a:r>
              <a:t>.</a:t>
            </a:r>
          </a:p>
        </p:txBody>
      </p:sp>
      <p:sp>
        <p:nvSpPr>
          <p:cNvPr id="4" name="TextBox 3">
            <a:extLst>
              <a:ext uri="{FF2B5EF4-FFF2-40B4-BE49-F238E27FC236}">
                <a16:creationId xmlns:a16="http://schemas.microsoft.com/office/drawing/2014/main" id="{9158B564-42FB-52B3-E6B6-C402994D99F9}"/>
              </a:ext>
            </a:extLst>
          </p:cNvPr>
          <p:cNvSpPr txBox="1"/>
          <p:nvPr/>
        </p:nvSpPr>
        <p:spPr>
          <a:xfrm>
            <a:off x="9457288" y="6473952"/>
            <a:ext cx="2109872" cy="223138"/>
          </a:xfrm>
          <a:prstGeom prst="rect">
            <a:avLst/>
          </a:prstGeom>
          <a:noFill/>
        </p:spPr>
        <p:txBody>
          <a:bodyPr wrap="none">
            <a:spAutoFit/>
          </a:bodyPr>
          <a:lstStyle/>
          <a:p>
            <a:pPr algn="r">
              <a:defRPr sz="850">
                <a:solidFill>
                  <a:srgbClr val="8C8C8C"/>
                </a:solidFill>
              </a:defRPr>
            </a:pPr>
            <a:r>
              <a:t>Data Visualisation with Python and AI  |  </a:t>
            </a:r>
            <a:r>
              <a:rPr lang="en-SG"/>
              <a:t>6</a:t>
            </a:r>
            <a:endParaRPr/>
          </a:p>
        </p:txBody>
      </p:sp>
      <p:sp>
        <p:nvSpPr>
          <p:cNvPr id="5" name="Rounded Rectangle 4">
            <a:extLst>
              <a:ext uri="{FF2B5EF4-FFF2-40B4-BE49-F238E27FC236}">
                <a16:creationId xmlns:a16="http://schemas.microsoft.com/office/drawing/2014/main" id="{98312B22-1402-E30E-76F7-2D2CCBA5B82F}"/>
              </a:ext>
            </a:extLst>
          </p:cNvPr>
          <p:cNvSpPr/>
          <p:nvPr/>
        </p:nvSpPr>
        <p:spPr>
          <a:xfrm>
            <a:off x="685800" y="1450000"/>
            <a:ext cx="2743200" cy="2900000"/>
          </a:xfrm>
          <a:prstGeom prst="roundRect">
            <a:avLst/>
          </a:prstGeom>
          <a:solidFill>
            <a:srgbClr val="F5F7FA"/>
          </a:solidFill>
          <a:ln w="15240">
            <a:solidFill>
              <a:srgbClr val="2F69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A4AB184E-CCDE-474A-8727-9126C64F5E07}"/>
              </a:ext>
            </a:extLst>
          </p:cNvPr>
          <p:cNvSpPr txBox="1"/>
          <p:nvPr/>
        </p:nvSpPr>
        <p:spPr>
          <a:xfrm>
            <a:off x="850392" y="1560000"/>
            <a:ext cx="2414016" cy="1461939"/>
          </a:xfrm>
          <a:prstGeom prst="rect">
            <a:avLst/>
          </a:prstGeom>
          <a:noFill/>
        </p:spPr>
        <p:txBody>
          <a:bodyPr wrap="square">
            <a:spAutoFit/>
          </a:bodyPr>
          <a:lstStyle/>
          <a:p>
            <a:pPr>
              <a:spcBef>
                <a:spcPts val="0"/>
              </a:spcBef>
              <a:defRPr sz="1200" b="1">
                <a:solidFill>
                  <a:srgbClr val="2F69B4"/>
                </a:solidFill>
              </a:defRPr>
            </a:pPr>
            <a:r>
              <a:rPr lang="en-US" sz="1400" dirty="0"/>
              <a:t>The dataset</a:t>
            </a:r>
          </a:p>
          <a:p>
            <a:pPr>
              <a:spcBef>
                <a:spcPts val="260"/>
              </a:spcBef>
              <a:defRPr sz="1000">
                <a:solidFill>
                  <a:srgbClr val="232323"/>
                </a:solidFill>
              </a:defRPr>
            </a:pPr>
            <a:r>
              <a:rPr lang="en-US" sz="1400" dirty="0"/>
              <a:t>TMDB 5000 Movies — about 4,800 </a:t>
            </a:r>
            <a:r>
              <a:rPr sz="1400" dirty="0"/>
              <a:t>films</a:t>
            </a:r>
            <a:r>
              <a:rPr lang="en-SG" sz="1400" dirty="0"/>
              <a:t> from The Movie Database</a:t>
            </a:r>
            <a:r>
              <a:rPr sz="1400" dirty="0"/>
              <a:t>.</a:t>
            </a:r>
            <a:endParaRPr lang="en-US" sz="1400" dirty="0"/>
          </a:p>
          <a:p>
            <a:pPr>
              <a:spcBef>
                <a:spcPts val="260"/>
              </a:spcBef>
              <a:defRPr sz="1000">
                <a:solidFill>
                  <a:srgbClr val="232323"/>
                </a:solidFill>
              </a:defRPr>
            </a:pPr>
            <a:r>
              <a:rPr lang="en-US" sz="1400" dirty="0"/>
              <a:t>A public dataset, widely used for teaching data analysis.</a:t>
            </a:r>
          </a:p>
        </p:txBody>
      </p:sp>
      <p:sp>
        <p:nvSpPr>
          <p:cNvPr id="12" name="Rounded Rectangle 11">
            <a:extLst>
              <a:ext uri="{FF2B5EF4-FFF2-40B4-BE49-F238E27FC236}">
                <a16:creationId xmlns:a16="http://schemas.microsoft.com/office/drawing/2014/main" id="{1D342778-4B5F-3DE8-2B23-63B1B57F9A19}"/>
              </a:ext>
            </a:extLst>
          </p:cNvPr>
          <p:cNvSpPr/>
          <p:nvPr/>
        </p:nvSpPr>
        <p:spPr>
          <a:xfrm>
            <a:off x="3703320" y="1450000"/>
            <a:ext cx="4023360" cy="2900000"/>
          </a:xfrm>
          <a:prstGeom prst="roundRect">
            <a:avLst/>
          </a:prstGeom>
          <a:solidFill>
            <a:srgbClr val="FAFAFA"/>
          </a:solidFill>
          <a:ln>
            <a:solidFill>
              <a:srgbClr val="CDD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F4D83AEC-8AE6-5F9A-F6CC-961E4DF1400C}"/>
              </a:ext>
            </a:extLst>
          </p:cNvPr>
          <p:cNvSpPr txBox="1"/>
          <p:nvPr/>
        </p:nvSpPr>
        <p:spPr>
          <a:xfrm>
            <a:off x="3849624" y="1560000"/>
            <a:ext cx="3730752" cy="2262158"/>
          </a:xfrm>
          <a:prstGeom prst="rect">
            <a:avLst/>
          </a:prstGeom>
          <a:noFill/>
        </p:spPr>
        <p:txBody>
          <a:bodyPr wrap="square">
            <a:spAutoFit/>
          </a:bodyPr>
          <a:lstStyle/>
          <a:p>
            <a:pPr>
              <a:spcBef>
                <a:spcPts val="0"/>
              </a:spcBef>
              <a:defRPr sz="1200" b="1">
                <a:solidFill>
                  <a:srgbClr val="2F69B4"/>
                </a:solidFill>
              </a:defRPr>
            </a:pPr>
            <a:r>
              <a:rPr lang="en-SG" sz="1400" dirty="0"/>
              <a:t>What each row contains</a:t>
            </a:r>
          </a:p>
          <a:p>
            <a:pPr marL="285750" indent="-285750">
              <a:spcBef>
                <a:spcPts val="260"/>
              </a:spcBef>
              <a:buFont typeface="Arial" panose="020B0604020202020204" pitchFamily="34" charset="0"/>
              <a:buChar char="•"/>
              <a:defRPr sz="1000">
                <a:solidFill>
                  <a:srgbClr val="232323"/>
                </a:solidFill>
              </a:defRPr>
            </a:pPr>
            <a:r>
              <a:rPr lang="en-SG" sz="1400" dirty="0"/>
              <a:t>title</a:t>
            </a:r>
            <a:r>
              <a:rPr sz="1400" dirty="0"/>
              <a:t>, </a:t>
            </a:r>
            <a:r>
              <a:rPr lang="en-US" sz="1400" dirty="0" err="1"/>
              <a:t>release_date</a:t>
            </a:r>
            <a:r>
              <a:rPr lang="en-US" sz="1400" dirty="0"/>
              <a:t> — the film and when it came out</a:t>
            </a:r>
          </a:p>
          <a:p>
            <a:pPr marL="285750" indent="-285750">
              <a:spcBef>
                <a:spcPts val="260"/>
              </a:spcBef>
              <a:buFont typeface="Arial" panose="020B0604020202020204" pitchFamily="34" charset="0"/>
              <a:buChar char="•"/>
              <a:defRPr sz="1000">
                <a:solidFill>
                  <a:srgbClr val="232323"/>
                </a:solidFill>
              </a:defRPr>
            </a:pPr>
            <a:r>
              <a:rPr lang="en-US" sz="1400" dirty="0"/>
              <a:t>genres — categories, stored as text</a:t>
            </a:r>
          </a:p>
          <a:p>
            <a:pPr marL="285750" indent="-285750">
              <a:spcBef>
                <a:spcPts val="260"/>
              </a:spcBef>
              <a:buFont typeface="Arial" panose="020B0604020202020204" pitchFamily="34" charset="0"/>
              <a:buChar char="•"/>
              <a:defRPr sz="1000">
                <a:solidFill>
                  <a:srgbClr val="232323"/>
                </a:solidFill>
              </a:defRPr>
            </a:pPr>
            <a:r>
              <a:rPr sz="1400" dirty="0"/>
              <a:t>budget, </a:t>
            </a:r>
            <a:r>
              <a:rPr lang="en-SG" sz="1400" dirty="0"/>
              <a:t>revenue </a:t>
            </a:r>
            <a:r>
              <a:rPr sz="1400" dirty="0"/>
              <a:t>— </a:t>
            </a:r>
            <a:r>
              <a:rPr lang="en-SG" sz="1400" dirty="0"/>
              <a:t>amounts in US dollars</a:t>
            </a:r>
          </a:p>
          <a:p>
            <a:pPr marL="285750" indent="-285750">
              <a:spcBef>
                <a:spcPts val="260"/>
              </a:spcBef>
              <a:buFont typeface="Arial" panose="020B0604020202020204" pitchFamily="34" charset="0"/>
              <a:buChar char="•"/>
              <a:defRPr sz="1000">
                <a:solidFill>
                  <a:srgbClr val="232323"/>
                </a:solidFill>
              </a:defRPr>
            </a:pPr>
            <a:r>
              <a:rPr lang="en-US" sz="1400" dirty="0"/>
              <a:t>runtime — length in minutes</a:t>
            </a:r>
          </a:p>
          <a:p>
            <a:pPr marL="285750" indent="-285750">
              <a:spcBef>
                <a:spcPts val="260"/>
              </a:spcBef>
              <a:buFont typeface="Arial" panose="020B0604020202020204" pitchFamily="34" charset="0"/>
              <a:buChar char="•"/>
              <a:defRPr sz="1000">
                <a:solidFill>
                  <a:srgbClr val="232323"/>
                </a:solidFill>
              </a:defRPr>
            </a:pPr>
            <a:r>
              <a:rPr lang="en-US" sz="1400" dirty="0" err="1"/>
              <a:t>vote_average</a:t>
            </a:r>
            <a:r>
              <a:rPr lang="en-US" sz="1400" dirty="0"/>
              <a:t>, </a:t>
            </a:r>
            <a:r>
              <a:rPr lang="en-US" sz="1400" dirty="0" err="1"/>
              <a:t>vote_count</a:t>
            </a:r>
            <a:r>
              <a:rPr lang="en-US" sz="1400" dirty="0"/>
              <a:t> — audience rating and how many people voted</a:t>
            </a:r>
          </a:p>
          <a:p>
            <a:pPr marL="285750" indent="-285750">
              <a:spcBef>
                <a:spcPts val="260"/>
              </a:spcBef>
              <a:buFont typeface="Arial" panose="020B0604020202020204" pitchFamily="34" charset="0"/>
              <a:buChar char="•"/>
              <a:defRPr sz="1000">
                <a:solidFill>
                  <a:srgbClr val="232323"/>
                </a:solidFill>
              </a:defRPr>
            </a:pPr>
            <a:r>
              <a:rPr lang="en-US" sz="1400" dirty="0"/>
              <a:t>popularity — TMDB’s own attention score </a:t>
            </a:r>
            <a:endParaRPr lang="en-SG" sz="1400" dirty="0"/>
          </a:p>
        </p:txBody>
      </p:sp>
      <p:sp>
        <p:nvSpPr>
          <p:cNvPr id="14" name="Rounded Rectangle 13">
            <a:extLst>
              <a:ext uri="{FF2B5EF4-FFF2-40B4-BE49-F238E27FC236}">
                <a16:creationId xmlns:a16="http://schemas.microsoft.com/office/drawing/2014/main" id="{3F71FEA7-9660-414E-0340-3BC674B849B8}"/>
              </a:ext>
            </a:extLst>
          </p:cNvPr>
          <p:cNvSpPr/>
          <p:nvPr/>
        </p:nvSpPr>
        <p:spPr>
          <a:xfrm>
            <a:off x="8001000" y="1450000"/>
            <a:ext cx="3520440" cy="2900000"/>
          </a:xfrm>
          <a:prstGeom prst="roundRect">
            <a:avLst/>
          </a:prstGeom>
          <a:solidFill>
            <a:srgbClr val="E8F8F4"/>
          </a:solidFill>
          <a:ln w="15240">
            <a:solidFill>
              <a:srgbClr val="2A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7AC1A7D8-99DA-997A-8866-959BA8E83602}"/>
              </a:ext>
            </a:extLst>
          </p:cNvPr>
          <p:cNvSpPr txBox="1"/>
          <p:nvPr/>
        </p:nvSpPr>
        <p:spPr>
          <a:xfrm>
            <a:off x="8165592" y="1560000"/>
            <a:ext cx="3191256" cy="1246495"/>
          </a:xfrm>
          <a:prstGeom prst="rect">
            <a:avLst/>
          </a:prstGeom>
          <a:noFill/>
        </p:spPr>
        <p:txBody>
          <a:bodyPr wrap="square">
            <a:spAutoFit/>
          </a:bodyPr>
          <a:lstStyle/>
          <a:p>
            <a:pPr>
              <a:spcBef>
                <a:spcPts val="0"/>
              </a:spcBef>
              <a:defRPr sz="1200" b="1">
                <a:solidFill>
                  <a:srgbClr val="2F69B4"/>
                </a:solidFill>
              </a:defRPr>
            </a:pPr>
            <a:r>
              <a:rPr lang="en-US" sz="1400" dirty="0"/>
              <a:t>Why this one</a:t>
            </a:r>
          </a:p>
          <a:p>
            <a:pPr>
              <a:spcBef>
                <a:spcPts val="260"/>
              </a:spcBef>
              <a:defRPr sz="1000">
                <a:solidFill>
                  <a:srgbClr val="232323"/>
                </a:solidFill>
              </a:defRPr>
            </a:pPr>
            <a:r>
              <a:rPr lang="en-US" sz="1400" dirty="0"/>
              <a:t>It mixes numbers, categories</a:t>
            </a:r>
            <a:r>
              <a:rPr sz="1400" dirty="0"/>
              <a:t>, </a:t>
            </a:r>
            <a:r>
              <a:rPr lang="en-US" sz="1400" dirty="0"/>
              <a:t>dates and free text in a single file.</a:t>
            </a:r>
          </a:p>
          <a:p>
            <a:pPr>
              <a:spcBef>
                <a:spcPts val="260"/>
              </a:spcBef>
              <a:defRPr sz="1000">
                <a:solidFill>
                  <a:srgbClr val="232323"/>
                </a:solidFill>
              </a:defRPr>
            </a:pPr>
            <a:r>
              <a:rPr lang="en-US" sz="1400" dirty="0"/>
              <a:t>That means one dataset can demonstrate every chart type in this workshop</a:t>
            </a:r>
            <a:r>
              <a:rPr sz="1400" dirty="0"/>
              <a:t>.</a:t>
            </a:r>
            <a:endParaRPr lang="en-SG" sz="1400" dirty="0"/>
          </a:p>
        </p:txBody>
      </p:sp>
      <p:sp>
        <p:nvSpPr>
          <p:cNvPr id="16" name="Rounded Rectangle 15">
            <a:extLst>
              <a:ext uri="{FF2B5EF4-FFF2-40B4-BE49-F238E27FC236}">
                <a16:creationId xmlns:a16="http://schemas.microsoft.com/office/drawing/2014/main" id="{54D34888-F73F-05AE-E350-57CD75F2FCD3}"/>
              </a:ext>
            </a:extLst>
          </p:cNvPr>
          <p:cNvSpPr/>
          <p:nvPr/>
        </p:nvSpPr>
        <p:spPr>
          <a:xfrm>
            <a:off x="3703320" y="4520000"/>
            <a:ext cx="7818120" cy="1300000"/>
          </a:xfrm>
          <a:prstGeom prst="roundRect">
            <a:avLst/>
          </a:prstGeom>
          <a:solidFill>
            <a:srgbClr val="FFF4E8"/>
          </a:solidFill>
          <a:ln w="15240">
            <a:solidFill>
              <a:srgbClr val="E88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41A51615-301D-DE34-DA95-93A55B3A3F20}"/>
              </a:ext>
            </a:extLst>
          </p:cNvPr>
          <p:cNvSpPr txBox="1"/>
          <p:nvPr/>
        </p:nvSpPr>
        <p:spPr>
          <a:xfrm>
            <a:off x="3867911" y="4640000"/>
            <a:ext cx="7488936" cy="469359"/>
          </a:xfrm>
          <a:prstGeom prst="rect">
            <a:avLst/>
          </a:prstGeom>
          <a:noFill/>
        </p:spPr>
        <p:txBody>
          <a:bodyPr wrap="square">
            <a:spAutoFit/>
          </a:bodyPr>
          <a:lstStyle/>
          <a:p>
            <a:pPr>
              <a:spcBef>
                <a:spcPts val="0"/>
              </a:spcBef>
              <a:defRPr sz="1200" b="1">
                <a:solidFill>
                  <a:srgbClr val="2F69B4"/>
                </a:solidFill>
              </a:defRPr>
            </a:pPr>
            <a:r>
              <a:rPr lang="en-US"/>
              <a:t>Size and shape</a:t>
            </a:r>
          </a:p>
          <a:p>
            <a:pPr>
              <a:spcBef>
                <a:spcPts val="260"/>
              </a:spcBef>
              <a:defRPr sz="1000">
                <a:solidFill>
                  <a:srgbClr val="232323"/>
                </a:solidFill>
              </a:defRPr>
            </a:pPr>
            <a:r>
              <a:rPr lang="en-US"/>
              <a:t>About 4,800 rows and 20 columns </a:t>
            </a:r>
            <a:r>
              <a:t>— </a:t>
            </a:r>
            <a:r>
              <a:rPr lang="en-US"/>
              <a:t>small enough to load instantly</a:t>
            </a:r>
            <a:r>
              <a:t>, </a:t>
            </a:r>
            <a:r>
              <a:rPr lang="en-US"/>
              <a:t>varied enough to work with all day</a:t>
            </a:r>
            <a:r>
              <a:t>.</a:t>
            </a:r>
            <a:endParaRPr lang="en-SG"/>
          </a:p>
        </p:txBody>
      </p:sp>
    </p:spTree>
    <p:extLst>
      <p:ext uri="{BB962C8B-B14F-4D97-AF65-F5344CB8AC3E}">
        <p14:creationId xmlns:p14="http://schemas.microsoft.com/office/powerpoint/2010/main" val="2552897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1" name="Freeform: Shape 10">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C6871835-C1BB-743C-084A-6C63039E7E50}"/>
              </a:ext>
            </a:extLst>
          </p:cNvPr>
          <p:cNvPicPr>
            <a:picLocks noChangeAspect="1"/>
          </p:cNvPicPr>
          <p:nvPr/>
        </p:nvPicPr>
        <p:blipFill>
          <a:blip r:embed="rId3"/>
          <a:srcRect l="3478" t="28206" r="27808" b="59060"/>
          <a:stretch>
            <a:fillRect/>
          </a:stretch>
        </p:blipFill>
        <p:spPr>
          <a:xfrm>
            <a:off x="517358" y="2661653"/>
            <a:ext cx="11442082" cy="858787"/>
          </a:xfrm>
          <a:prstGeom prst="rect">
            <a:avLst/>
          </a:prstGeom>
          <a:ln>
            <a:noFill/>
          </a:ln>
        </p:spPr>
      </p:pic>
      <p:sp>
        <p:nvSpPr>
          <p:cNvPr id="5" name="TextBox 4"/>
          <p:cNvSpPr txBox="1"/>
          <p:nvPr/>
        </p:nvSpPr>
        <p:spPr>
          <a:xfrm>
            <a:off x="1102818" y="792722"/>
            <a:ext cx="2743200" cy="338554"/>
          </a:xfrm>
          <a:prstGeom prst="rect">
            <a:avLst/>
          </a:prstGeom>
          <a:noFill/>
        </p:spPr>
        <p:txBody>
          <a:bodyPr wrap="square">
            <a:spAutoFit/>
          </a:bodyPr>
          <a:lstStyle/>
          <a:p>
            <a:pPr algn="l">
              <a:defRPr sz="1600" b="1">
                <a:solidFill>
                  <a:srgbClr val="2F69B4"/>
                </a:solidFill>
              </a:defRPr>
            </a:pPr>
            <a:r>
              <a:rPr lang="en-US" dirty="0"/>
              <a:t>Q</a:t>
            </a:r>
            <a:r>
              <a:rPr dirty="0"/>
              <a:t>uestion</a:t>
            </a:r>
            <a:r>
              <a:rPr lang="en-US" dirty="0"/>
              <a:t>?</a:t>
            </a:r>
            <a:endParaRPr dirty="0"/>
          </a:p>
        </p:txBody>
      </p:sp>
    </p:spTree>
    <p:extLst>
      <p:ext uri="{BB962C8B-B14F-4D97-AF65-F5344CB8AC3E}">
        <p14:creationId xmlns:p14="http://schemas.microsoft.com/office/powerpoint/2010/main" val="35026590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2EFFD"/>
        </a:solidFill>
        <a:effectLst/>
      </p:bgPr>
    </p:bg>
    <p:spTree>
      <p:nvGrpSpPr>
        <p:cNvPr id="1" name=""/>
        <p:cNvGrpSpPr/>
        <p:nvPr/>
      </p:nvGrpSpPr>
      <p:grpSpPr>
        <a:xfrm>
          <a:off x="0" y="0"/>
          <a:ext cx="0" cy="0"/>
          <a:chOff x="0" y="0"/>
          <a:chExt cx="0" cy="0"/>
        </a:xfrm>
      </p:grpSpPr>
      <p:sp>
        <p:nvSpPr>
          <p:cNvPr id="2" name="TextBox 1"/>
          <p:cNvSpPr txBox="1"/>
          <p:nvPr/>
        </p:nvSpPr>
        <p:spPr>
          <a:xfrm>
            <a:off x="822960" y="2194560"/>
            <a:ext cx="10515600" cy="731520"/>
          </a:xfrm>
          <a:prstGeom prst="rect">
            <a:avLst/>
          </a:prstGeom>
          <a:noFill/>
        </p:spPr>
        <p:txBody>
          <a:bodyPr wrap="square">
            <a:spAutoFit/>
          </a:bodyPr>
          <a:lstStyle/>
          <a:p>
            <a:pPr algn="ctr">
              <a:defRPr sz="3400" b="1">
                <a:solidFill>
                  <a:srgbClr val="162D4E"/>
                </a:solidFill>
              </a:defRPr>
            </a:pPr>
            <a:r>
              <a:t>Part 1</a:t>
            </a:r>
          </a:p>
        </p:txBody>
      </p:sp>
      <p:sp>
        <p:nvSpPr>
          <p:cNvPr id="3" name="TextBox 2"/>
          <p:cNvSpPr txBox="1"/>
          <p:nvPr/>
        </p:nvSpPr>
        <p:spPr>
          <a:xfrm>
            <a:off x="1737360" y="2971800"/>
            <a:ext cx="8686800" cy="640080"/>
          </a:xfrm>
          <a:prstGeom prst="rect">
            <a:avLst/>
          </a:prstGeom>
          <a:noFill/>
        </p:spPr>
        <p:txBody>
          <a:bodyPr wrap="square">
            <a:spAutoFit/>
          </a:bodyPr>
          <a:lstStyle/>
          <a:p>
            <a:pPr algn="ctr">
              <a:defRPr sz="1900" b="0">
                <a:solidFill>
                  <a:srgbClr val="606060"/>
                </a:solidFill>
              </a:defRPr>
            </a:pPr>
            <a:r>
              <a:t>Build a visualisation mindset before writing code</a:t>
            </a:r>
          </a:p>
        </p:txBody>
      </p:sp>
      <p:sp>
        <p:nvSpPr>
          <p:cNvPr id="4" name="TextBox 3"/>
          <p:cNvSpPr txBox="1"/>
          <p:nvPr/>
        </p:nvSpPr>
        <p:spPr>
          <a:xfrm>
            <a:off x="594360" y="6473952"/>
            <a:ext cx="10972800" cy="228600"/>
          </a:xfrm>
          <a:prstGeom prst="rect">
            <a:avLst/>
          </a:prstGeom>
          <a:noFill/>
        </p:spPr>
        <p:txBody>
          <a:bodyPr wrap="none">
            <a:spAutoFit/>
          </a:bodyPr>
          <a:lstStyle/>
          <a:p>
            <a:pPr algn="r">
              <a:defRPr sz="850">
                <a:solidFill>
                  <a:srgbClr val="8C8C8C"/>
                </a:solidFill>
              </a:defRPr>
            </a:pPr>
            <a:r>
              <a:t>Data Visualisation with Python and AI  |  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658368"/>
          </a:xfrm>
          <a:prstGeom prst="rect">
            <a:avLst/>
          </a:prstGeom>
          <a:noFill/>
        </p:spPr>
        <p:txBody>
          <a:bodyPr wrap="none">
            <a:spAutoFit/>
          </a:bodyPr>
          <a:lstStyle/>
          <a:p>
            <a:pPr>
              <a:defRPr sz="3000" b="1">
                <a:solidFill>
                  <a:srgbClr val="162D4E"/>
                </a:solidFill>
              </a:defRPr>
            </a:pPr>
            <a:r>
              <a:rPr dirty="0"/>
              <a:t>Before We Plot: What Are We Trying to See?</a:t>
            </a:r>
          </a:p>
        </p:txBody>
      </p:sp>
      <p:sp>
        <p:nvSpPr>
          <p:cNvPr id="3" name="TextBox 2"/>
          <p:cNvSpPr txBox="1"/>
          <p:nvPr/>
        </p:nvSpPr>
        <p:spPr>
          <a:xfrm>
            <a:off x="621792" y="960120"/>
            <a:ext cx="10789920" cy="384048"/>
          </a:xfrm>
          <a:prstGeom prst="rect">
            <a:avLst/>
          </a:prstGeom>
          <a:noFill/>
        </p:spPr>
        <p:txBody>
          <a:bodyPr wrap="none">
            <a:spAutoFit/>
          </a:bodyPr>
          <a:lstStyle/>
          <a:p>
            <a:pPr>
              <a:defRPr sz="1500">
                <a:solidFill>
                  <a:srgbClr val="606060"/>
                </a:solidFill>
              </a:defRPr>
            </a:pPr>
            <a:r>
              <a:t>Chart choice is a thinking decision, not just a technical decision.</a:t>
            </a:r>
          </a:p>
        </p:txBody>
      </p:sp>
      <p:sp>
        <p:nvSpPr>
          <p:cNvPr id="4" name="TextBox 3"/>
          <p:cNvSpPr txBox="1"/>
          <p:nvPr/>
        </p:nvSpPr>
        <p:spPr>
          <a:xfrm>
            <a:off x="594360" y="6473952"/>
            <a:ext cx="10972800" cy="228600"/>
          </a:xfrm>
          <a:prstGeom prst="rect">
            <a:avLst/>
          </a:prstGeom>
          <a:noFill/>
        </p:spPr>
        <p:txBody>
          <a:bodyPr wrap="none">
            <a:spAutoFit/>
          </a:bodyPr>
          <a:lstStyle/>
          <a:p>
            <a:pPr algn="r">
              <a:defRPr sz="850">
                <a:solidFill>
                  <a:srgbClr val="8C8C8C"/>
                </a:solidFill>
              </a:defRPr>
            </a:pPr>
            <a:r>
              <a:t>Data Visualisation with Python and AI  |  6</a:t>
            </a:r>
          </a:p>
        </p:txBody>
      </p:sp>
      <p:sp>
        <p:nvSpPr>
          <p:cNvPr id="5" name="Rounded Rectangle 4"/>
          <p:cNvSpPr/>
          <p:nvPr/>
        </p:nvSpPr>
        <p:spPr>
          <a:xfrm>
            <a:off x="640080" y="1435607"/>
            <a:ext cx="5074920" cy="1261873"/>
          </a:xfrm>
          <a:prstGeom prst="roundRect">
            <a:avLst/>
          </a:prstGeom>
          <a:solidFill>
            <a:srgbClr val="F5F7FA"/>
          </a:solidFill>
          <a:ln w="15240">
            <a:solidFill>
              <a:srgbClr val="2F69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4671" y="1618488"/>
            <a:ext cx="4745736" cy="1353312"/>
          </a:xfrm>
          <a:prstGeom prst="rect">
            <a:avLst/>
          </a:prstGeom>
          <a:noFill/>
        </p:spPr>
        <p:txBody>
          <a:bodyPr wrap="square">
            <a:spAutoFit/>
          </a:bodyPr>
          <a:lstStyle/>
          <a:p>
            <a:pPr>
              <a:defRPr sz="1700" b="1">
                <a:solidFill>
                  <a:srgbClr val="2F69B4"/>
                </a:solidFill>
              </a:defRPr>
            </a:pPr>
            <a:r>
              <a:rPr dirty="0"/>
              <a:t>Distribution</a:t>
            </a:r>
          </a:p>
          <a:p>
            <a:pPr>
              <a:spcBef>
                <a:spcPts val="500"/>
              </a:spcBef>
              <a:defRPr sz="1300">
                <a:solidFill>
                  <a:srgbClr val="232323"/>
                </a:solidFill>
              </a:defRPr>
            </a:pPr>
            <a:r>
              <a:rPr dirty="0"/>
              <a:t>How is one variable spread?</a:t>
            </a:r>
            <a:br>
              <a:rPr dirty="0"/>
            </a:br>
            <a:r>
              <a:rPr dirty="0"/>
              <a:t>Use: Histogram / box plot</a:t>
            </a:r>
          </a:p>
        </p:txBody>
      </p:sp>
      <p:sp>
        <p:nvSpPr>
          <p:cNvPr id="7" name="Rectangle 6"/>
          <p:cNvSpPr/>
          <p:nvPr/>
        </p:nvSpPr>
        <p:spPr>
          <a:xfrm>
            <a:off x="4645152" y="2291486"/>
            <a:ext cx="73152" cy="268833"/>
          </a:xfrm>
          <a:prstGeom prst="rect">
            <a:avLst/>
          </a:prstGeom>
          <a:solidFill>
            <a:srgbClr val="2F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791456" y="2112264"/>
            <a:ext cx="73152" cy="448055"/>
          </a:xfrm>
          <a:prstGeom prst="rect">
            <a:avLst/>
          </a:prstGeom>
          <a:solidFill>
            <a:srgbClr val="2F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937760" y="1952243"/>
            <a:ext cx="73152" cy="608075"/>
          </a:xfrm>
          <a:prstGeom prst="rect">
            <a:avLst/>
          </a:prstGeom>
          <a:solidFill>
            <a:srgbClr val="2F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84064" y="2176272"/>
            <a:ext cx="73152" cy="384048"/>
          </a:xfrm>
          <a:prstGeom prst="rect">
            <a:avLst/>
          </a:prstGeom>
          <a:solidFill>
            <a:srgbClr val="2F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230368" y="2336291"/>
            <a:ext cx="73152" cy="224027"/>
          </a:xfrm>
          <a:prstGeom prst="rect">
            <a:avLst/>
          </a:prstGeom>
          <a:solidFill>
            <a:srgbClr val="2F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309359" y="1435607"/>
            <a:ext cx="5160745" cy="1261873"/>
          </a:xfrm>
          <a:prstGeom prst="roundRect">
            <a:avLst/>
          </a:prstGeom>
          <a:solidFill>
            <a:srgbClr val="F5F7FA"/>
          </a:solidFill>
          <a:ln w="15240">
            <a:solidFill>
              <a:srgbClr val="2A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73952" y="1618488"/>
            <a:ext cx="4745736" cy="818173"/>
          </a:xfrm>
          <a:prstGeom prst="rect">
            <a:avLst/>
          </a:prstGeom>
          <a:noFill/>
        </p:spPr>
        <p:txBody>
          <a:bodyPr wrap="square">
            <a:spAutoFit/>
          </a:bodyPr>
          <a:lstStyle/>
          <a:p>
            <a:pPr>
              <a:defRPr sz="1700" b="1">
                <a:solidFill>
                  <a:srgbClr val="2A9688"/>
                </a:solidFill>
              </a:defRPr>
            </a:pPr>
            <a:r>
              <a:rPr dirty="0"/>
              <a:t>Comparison</a:t>
            </a:r>
            <a:r>
              <a:rPr lang="en-SG"/>
              <a:t> &amp; ranking</a:t>
            </a:r>
            <a:endParaRPr dirty="0"/>
          </a:p>
          <a:p>
            <a:pPr>
              <a:spcBef>
                <a:spcPts val="500"/>
              </a:spcBef>
              <a:defRPr sz="1300">
                <a:solidFill>
                  <a:srgbClr val="232323"/>
                </a:solidFill>
              </a:defRPr>
            </a:pPr>
            <a:r>
              <a:rPr dirty="0"/>
              <a:t>Which group is higher or lower?</a:t>
            </a:r>
            <a:br>
              <a:rPr dirty="0"/>
            </a:br>
            <a:r>
              <a:rPr dirty="0"/>
              <a:t>Use: Bar chart / </a:t>
            </a:r>
            <a:r>
              <a:rPr lang="en-SG"/>
              <a:t>treemap</a:t>
            </a:r>
            <a:endParaRPr dirty="0"/>
          </a:p>
        </p:txBody>
      </p:sp>
      <p:sp>
        <p:nvSpPr>
          <p:cNvPr id="14" name="Rectangle 13"/>
          <p:cNvSpPr/>
          <p:nvPr/>
        </p:nvSpPr>
        <p:spPr>
          <a:xfrm>
            <a:off x="10314432" y="2291486"/>
            <a:ext cx="73152" cy="268833"/>
          </a:xfrm>
          <a:prstGeom prst="rect">
            <a:avLst/>
          </a:prstGeom>
          <a:solidFill>
            <a:srgbClr val="2A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0460736" y="2112264"/>
            <a:ext cx="73152" cy="448055"/>
          </a:xfrm>
          <a:prstGeom prst="rect">
            <a:avLst/>
          </a:prstGeom>
          <a:solidFill>
            <a:srgbClr val="2A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0607040" y="1952243"/>
            <a:ext cx="73152" cy="608075"/>
          </a:xfrm>
          <a:prstGeom prst="rect">
            <a:avLst/>
          </a:prstGeom>
          <a:solidFill>
            <a:srgbClr val="2A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0753344" y="2176272"/>
            <a:ext cx="73152" cy="384048"/>
          </a:xfrm>
          <a:prstGeom prst="rect">
            <a:avLst/>
          </a:prstGeom>
          <a:solidFill>
            <a:srgbClr val="2A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0899648" y="2336291"/>
            <a:ext cx="73152" cy="224027"/>
          </a:xfrm>
          <a:prstGeom prst="rect">
            <a:avLst/>
          </a:prstGeom>
          <a:solidFill>
            <a:srgbClr val="2A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40080" y="2905963"/>
            <a:ext cx="5014762" cy="1231696"/>
          </a:xfrm>
          <a:prstGeom prst="roundRect">
            <a:avLst/>
          </a:prstGeom>
          <a:solidFill>
            <a:srgbClr val="F5F7FA"/>
          </a:solidFill>
          <a:ln w="15240">
            <a:solidFill>
              <a:srgbClr val="E88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04671" y="3066897"/>
            <a:ext cx="4745736" cy="1353312"/>
          </a:xfrm>
          <a:prstGeom prst="rect">
            <a:avLst/>
          </a:prstGeom>
          <a:noFill/>
        </p:spPr>
        <p:txBody>
          <a:bodyPr wrap="square">
            <a:spAutoFit/>
          </a:bodyPr>
          <a:lstStyle/>
          <a:p>
            <a:pPr>
              <a:defRPr sz="1700" b="1">
                <a:solidFill>
                  <a:srgbClr val="E88A2D"/>
                </a:solidFill>
              </a:defRPr>
            </a:pPr>
            <a:r>
              <a:rPr dirty="0"/>
              <a:t>Relationship</a:t>
            </a:r>
          </a:p>
          <a:p>
            <a:pPr>
              <a:spcBef>
                <a:spcPts val="500"/>
              </a:spcBef>
              <a:defRPr sz="1300">
                <a:solidFill>
                  <a:srgbClr val="232323"/>
                </a:solidFill>
              </a:defRPr>
            </a:pPr>
            <a:r>
              <a:rPr dirty="0"/>
              <a:t>Do variables move together?</a:t>
            </a:r>
            <a:br>
              <a:rPr dirty="0"/>
            </a:br>
            <a:r>
              <a:rPr dirty="0"/>
              <a:t>Use: Scatter / heatmap</a:t>
            </a:r>
          </a:p>
        </p:txBody>
      </p:sp>
      <p:sp>
        <p:nvSpPr>
          <p:cNvPr id="21" name="Oval 20"/>
          <p:cNvSpPr/>
          <p:nvPr/>
        </p:nvSpPr>
        <p:spPr>
          <a:xfrm>
            <a:off x="4563771" y="3880713"/>
            <a:ext cx="109728" cy="109728"/>
          </a:xfrm>
          <a:prstGeom prst="ellipse">
            <a:avLst/>
          </a:prstGeom>
          <a:solidFill>
            <a:srgbClr val="E88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4636923" y="3752698"/>
            <a:ext cx="109728" cy="109728"/>
          </a:xfrm>
          <a:prstGeom prst="ellipse">
            <a:avLst/>
          </a:prstGeom>
          <a:solidFill>
            <a:srgbClr val="E88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4732021" y="3784702"/>
            <a:ext cx="109728" cy="109728"/>
          </a:xfrm>
          <a:prstGeom prst="ellipse">
            <a:avLst/>
          </a:prstGeom>
          <a:solidFill>
            <a:srgbClr val="E88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4812488" y="3643884"/>
            <a:ext cx="109728" cy="109728"/>
          </a:xfrm>
          <a:prstGeom prst="ellipse">
            <a:avLst/>
          </a:prstGeom>
          <a:solidFill>
            <a:srgbClr val="E88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4878325" y="3701491"/>
            <a:ext cx="109728" cy="109728"/>
          </a:xfrm>
          <a:prstGeom prst="ellipse">
            <a:avLst/>
          </a:prstGeom>
          <a:solidFill>
            <a:srgbClr val="E88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4958792" y="3573475"/>
            <a:ext cx="109728" cy="109728"/>
          </a:xfrm>
          <a:prstGeom prst="ellipse">
            <a:avLst/>
          </a:prstGeom>
          <a:solidFill>
            <a:srgbClr val="E88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5046574" y="3528669"/>
            <a:ext cx="109728" cy="109728"/>
          </a:xfrm>
          <a:prstGeom prst="ellipse">
            <a:avLst/>
          </a:prstGeom>
          <a:solidFill>
            <a:srgbClr val="E88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5134357" y="3611880"/>
            <a:ext cx="109728" cy="109728"/>
          </a:xfrm>
          <a:prstGeom prst="ellipse">
            <a:avLst/>
          </a:prstGeom>
          <a:solidFill>
            <a:srgbClr val="E88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6309358" y="2894073"/>
            <a:ext cx="5160745" cy="1243586"/>
          </a:xfrm>
          <a:prstGeom prst="roundRect">
            <a:avLst/>
          </a:prstGeom>
          <a:solidFill>
            <a:srgbClr val="F5F7FA"/>
          </a:solidFill>
          <a:ln w="15240">
            <a:solidFill>
              <a:srgbClr val="665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73952" y="3097637"/>
            <a:ext cx="4745736" cy="818173"/>
          </a:xfrm>
          <a:prstGeom prst="rect">
            <a:avLst/>
          </a:prstGeom>
          <a:noFill/>
        </p:spPr>
        <p:txBody>
          <a:bodyPr wrap="square">
            <a:spAutoFit/>
          </a:bodyPr>
          <a:lstStyle/>
          <a:p>
            <a:pPr>
              <a:defRPr sz="1700" b="1">
                <a:solidFill>
                  <a:srgbClr val="6656AA"/>
                </a:solidFill>
              </a:defRPr>
            </a:pPr>
            <a:r>
              <a:rPr lang="en-US" altLang="zh-CN" dirty="0"/>
              <a:t>T</a:t>
            </a:r>
            <a:r>
              <a:rPr lang="en-SG" altLang="zh-CN" dirty="0" err="1"/>
              <a:t>ime</a:t>
            </a:r>
            <a:r>
              <a:rPr lang="zh-CN" altLang="en-US" dirty="0"/>
              <a:t> </a:t>
            </a:r>
            <a:r>
              <a:rPr lang="en-SG" altLang="zh-CN" dirty="0"/>
              <a:t>&amp;</a:t>
            </a:r>
            <a:r>
              <a:rPr lang="zh-CN" altLang="en-US" dirty="0"/>
              <a:t> </a:t>
            </a:r>
            <a:r>
              <a:rPr dirty="0"/>
              <a:t>Trend</a:t>
            </a:r>
          </a:p>
          <a:p>
            <a:pPr>
              <a:spcBef>
                <a:spcPts val="500"/>
              </a:spcBef>
              <a:defRPr sz="1300">
                <a:solidFill>
                  <a:srgbClr val="232323"/>
                </a:solidFill>
              </a:defRPr>
            </a:pPr>
            <a:r>
              <a:rPr dirty="0"/>
              <a:t>What changes over time?</a:t>
            </a:r>
            <a:br>
              <a:rPr dirty="0"/>
            </a:br>
            <a:r>
              <a:rPr dirty="0"/>
              <a:t>Use: Line chart</a:t>
            </a:r>
          </a:p>
        </p:txBody>
      </p:sp>
      <p:cxnSp>
        <p:nvCxnSpPr>
          <p:cNvPr id="31" name="Connector 30"/>
          <p:cNvCxnSpPr/>
          <p:nvPr/>
        </p:nvCxnSpPr>
        <p:spPr>
          <a:xfrm flipV="1">
            <a:off x="10324779" y="3456569"/>
            <a:ext cx="182880" cy="160020"/>
          </a:xfrm>
          <a:prstGeom prst="line">
            <a:avLst/>
          </a:prstGeom>
          <a:ln w="38100">
            <a:solidFill>
              <a:srgbClr val="6656A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507659" y="3456569"/>
            <a:ext cx="182880" cy="64007"/>
          </a:xfrm>
          <a:prstGeom prst="line">
            <a:avLst/>
          </a:prstGeom>
          <a:ln w="38100">
            <a:solidFill>
              <a:srgbClr val="6656A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10690539" y="3328552"/>
            <a:ext cx="182880" cy="192024"/>
          </a:xfrm>
          <a:prstGeom prst="line">
            <a:avLst/>
          </a:prstGeom>
          <a:ln w="38100">
            <a:solidFill>
              <a:srgbClr val="6656A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873419" y="3328552"/>
            <a:ext cx="182880" cy="64009"/>
          </a:xfrm>
          <a:prstGeom prst="line">
            <a:avLst/>
          </a:prstGeom>
          <a:ln w="38100">
            <a:solidFill>
              <a:srgbClr val="6656AA"/>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10292775" y="3584585"/>
            <a:ext cx="64008" cy="64008"/>
          </a:xfrm>
          <a:prstGeom prst="ellipse">
            <a:avLst/>
          </a:prstGeom>
          <a:solidFill>
            <a:srgbClr val="66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0475655" y="3424565"/>
            <a:ext cx="64008" cy="64008"/>
          </a:xfrm>
          <a:prstGeom prst="ellipse">
            <a:avLst/>
          </a:prstGeom>
          <a:solidFill>
            <a:srgbClr val="66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658535" y="3488572"/>
            <a:ext cx="64008" cy="64008"/>
          </a:xfrm>
          <a:prstGeom prst="ellipse">
            <a:avLst/>
          </a:prstGeom>
          <a:solidFill>
            <a:srgbClr val="66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0841415" y="3296548"/>
            <a:ext cx="64008" cy="64008"/>
          </a:xfrm>
          <a:prstGeom prst="ellipse">
            <a:avLst/>
          </a:prstGeom>
          <a:solidFill>
            <a:srgbClr val="66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1024295" y="3360556"/>
            <a:ext cx="64008" cy="64008"/>
          </a:xfrm>
          <a:prstGeom prst="ellipse">
            <a:avLst/>
          </a:prstGeom>
          <a:solidFill>
            <a:srgbClr val="66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18">
            <a:extLst>
              <a:ext uri="{FF2B5EF4-FFF2-40B4-BE49-F238E27FC236}">
                <a16:creationId xmlns:a16="http://schemas.microsoft.com/office/drawing/2014/main" id="{C3E6F0F7-5942-58EA-3289-94456BE5907C}"/>
              </a:ext>
            </a:extLst>
          </p:cNvPr>
          <p:cNvSpPr/>
          <p:nvPr/>
        </p:nvSpPr>
        <p:spPr>
          <a:xfrm>
            <a:off x="3500147" y="4553975"/>
            <a:ext cx="5160745" cy="1229833"/>
          </a:xfrm>
          <a:prstGeom prst="roundRect">
            <a:avLst/>
          </a:prstGeom>
          <a:solidFill>
            <a:srgbClr val="F5F7FA"/>
          </a:solidFill>
          <a:ln w="1524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a:extLst>
              <a:ext uri="{FF2B5EF4-FFF2-40B4-BE49-F238E27FC236}">
                <a16:creationId xmlns:a16="http://schemas.microsoft.com/office/drawing/2014/main" id="{8DE7A490-3397-F4FC-6AFB-6F3FF9D7E128}"/>
              </a:ext>
            </a:extLst>
          </p:cNvPr>
          <p:cNvSpPr txBox="1"/>
          <p:nvPr/>
        </p:nvSpPr>
        <p:spPr>
          <a:xfrm>
            <a:off x="3683003" y="4729626"/>
            <a:ext cx="4825994" cy="882293"/>
          </a:xfrm>
          <a:prstGeom prst="rect">
            <a:avLst/>
          </a:prstGeom>
          <a:noFill/>
          <a:ln>
            <a:noFill/>
          </a:ln>
        </p:spPr>
        <p:txBody>
          <a:bodyPr wrap="square">
            <a:spAutoFit/>
          </a:bodyPr>
          <a:lstStyle/>
          <a:p>
            <a:pPr>
              <a:defRPr sz="1700" b="1">
                <a:solidFill>
                  <a:srgbClr val="E88A2D"/>
                </a:solidFill>
              </a:defRPr>
            </a:pPr>
            <a:r>
              <a:rPr lang="en-US" altLang="zh-CN" dirty="0">
                <a:solidFill>
                  <a:srgbClr val="C00000"/>
                </a:solidFill>
              </a:rPr>
              <a:t>Advance</a:t>
            </a:r>
            <a:r>
              <a:rPr lang="en-SG" altLang="zh-CN" dirty="0">
                <a:solidFill>
                  <a:srgbClr val="C00000"/>
                </a:solidFill>
              </a:rPr>
              <a:t>d </a:t>
            </a:r>
            <a:r>
              <a:rPr lang="en-US" altLang="zh-CN" dirty="0">
                <a:solidFill>
                  <a:srgbClr val="C00000"/>
                </a:solidFill>
              </a:rPr>
              <a:t>Exploration</a:t>
            </a:r>
            <a:endParaRPr dirty="0">
              <a:solidFill>
                <a:srgbClr val="C00000"/>
              </a:solidFill>
            </a:endParaRPr>
          </a:p>
          <a:p>
            <a:pPr>
              <a:spcBef>
                <a:spcPts val="500"/>
              </a:spcBef>
              <a:defRPr sz="1300">
                <a:solidFill>
                  <a:srgbClr val="232323"/>
                </a:solidFill>
              </a:defRPr>
            </a:pPr>
            <a:r>
              <a:rPr lang="en-US"/>
              <a:t>What words recur, or what can </a:t>
            </a:r>
            <a:r>
              <a:rPr lang="en-US" dirty="0"/>
              <a:t>we explore?</a:t>
            </a:r>
          </a:p>
          <a:p>
            <a:pPr>
              <a:spcBef>
                <a:spcPts val="500"/>
              </a:spcBef>
              <a:defRPr sz="1300">
                <a:solidFill>
                  <a:srgbClr val="232323"/>
                </a:solidFill>
              </a:defRPr>
            </a:pPr>
            <a:r>
              <a:rPr lang="en-SG" dirty="0"/>
              <a:t>Use:</a:t>
            </a:r>
            <a:r>
              <a:rPr lang="en-US"/>
              <a:t> Word cloud / </a:t>
            </a:r>
            <a:r>
              <a:rPr lang="en-US" dirty="0"/>
              <a:t>Plotly / 3D </a:t>
            </a:r>
            <a:r>
              <a:rPr lang="en-US"/>
              <a:t>scatter</a:t>
            </a:r>
            <a:endParaRPr lang="en-US" dirty="0"/>
          </a:p>
        </p:txBody>
      </p:sp>
      <p:graphicFrame>
        <p:nvGraphicFramePr>
          <p:cNvPr id="47" name="Chart 46" descr="Chart">
            <a:extLst>
              <a:ext uri="{FF2B5EF4-FFF2-40B4-BE49-F238E27FC236}">
                <a16:creationId xmlns:a16="http://schemas.microsoft.com/office/drawing/2014/main" id="{F2A61CFD-394B-1333-C098-7A1071AB09D7}"/>
              </a:ext>
            </a:extLst>
          </p:cNvPr>
          <p:cNvGraphicFramePr/>
          <p:nvPr>
            <p:extLst>
              <p:ext uri="{D42A27DB-BD31-4B8C-83A1-F6EECF244321}">
                <p14:modId xmlns:p14="http://schemas.microsoft.com/office/powerpoint/2010/main" val="1931047664"/>
              </p:ext>
            </p:extLst>
          </p:nvPr>
        </p:nvGraphicFramePr>
        <p:xfrm>
          <a:off x="7417147" y="4655471"/>
          <a:ext cx="1118937" cy="1068275"/>
        </p:xfrm>
        <a:graphic>
          <a:graphicData uri="http://schemas.openxmlformats.org/drawingml/2006/chart">
            <c:chart xmlns:c="http://schemas.openxmlformats.org/drawingml/2006/chart" xmlns:r="http://schemas.openxmlformats.org/officeDocument/2006/relationships" r:id="rId3"/>
          </a:graphicData>
        </a:graphic>
      </p:graphicFrame>
      <p:sp>
        <p:nvSpPr>
          <p:cNvPr id="113" name="TextBox"/>
          <p:cNvSpPr txBox="1"/>
          <p:nvPr/>
        </p:nvSpPr>
        <p:spPr>
          <a:xfrm>
            <a:off x="594360" y="6473952"/>
            <a:ext cx="10972800" cy="228600"/>
          </a:xfrm>
          <a:prstGeom prst="rect">
            <a:avLst/>
          </a:prstGeom>
          <a:noFill/>
        </p:spPr>
        <p:txBody>
          <a:bodyPr wrap="square">
            <a:spAutoFit/>
          </a:bodyPr>
          <a:lstStyle/>
          <a:p>
            <a:pPr algn="r">
              <a:defRPr sz="850">
                <a:solidFill>
                  <a:srgbClr val="8C8C8C"/>
                </a:solidFill>
              </a:defRPr>
            </a:pPr>
            <a:r>
              <a:t>Data Visualisation with Python and AI  |  </a:t>
            </a:r>
            <a:r>
              <a:rPr lang="en-SG"/>
              <a:t>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TextBox"/>
          <p:cNvSpPr txBox="1"/>
          <p:nvPr/>
        </p:nvSpPr>
        <p:spPr>
          <a:xfrm>
            <a:off x="594360" y="320040"/>
            <a:ext cx="10972800" cy="658368"/>
          </a:xfrm>
          <a:prstGeom prst="rect">
            <a:avLst/>
          </a:prstGeom>
          <a:noFill/>
        </p:spPr>
        <p:txBody>
          <a:bodyPr wrap="square">
            <a:spAutoFit/>
          </a:bodyPr>
          <a:lstStyle/>
          <a:p>
            <a:pPr>
              <a:defRPr sz="2800" b="1">
                <a:solidFill>
                  <a:srgbClr val="162D4E"/>
                </a:solidFill>
              </a:defRPr>
            </a:pPr>
            <a:r>
              <a:t>Choose Your Visualisation Carefully</a:t>
            </a:r>
          </a:p>
        </p:txBody>
      </p:sp>
      <p:sp>
        <p:nvSpPr>
          <p:cNvPr id="102" name="TextBox"/>
          <p:cNvSpPr txBox="1"/>
          <p:nvPr/>
        </p:nvSpPr>
        <p:spPr>
          <a:xfrm>
            <a:off x="621792" y="960120"/>
            <a:ext cx="10789920" cy="384048"/>
          </a:xfrm>
          <a:prstGeom prst="rect">
            <a:avLst/>
          </a:prstGeom>
          <a:noFill/>
        </p:spPr>
        <p:txBody>
          <a:bodyPr wrap="square">
            <a:spAutoFit/>
          </a:bodyPr>
          <a:lstStyle/>
          <a:p>
            <a:pPr>
              <a:defRPr sz="1500">
                <a:solidFill>
                  <a:srgbClr val="606060"/>
                </a:solidFill>
              </a:defRPr>
            </a:pPr>
            <a:r>
              <a:t>Seeing the shape of one variable</a:t>
            </a:r>
          </a:p>
        </p:txBody>
      </p:sp>
      <p:sp>
        <p:nvSpPr>
          <p:cNvPr id="103" name="Card"/>
          <p:cNvSpPr/>
          <p:nvPr/>
        </p:nvSpPr>
        <p:spPr>
          <a:xfrm>
            <a:off x="594360" y="1450000"/>
            <a:ext cx="5349240" cy="4650000"/>
          </a:xfrm>
          <a:prstGeom prst="roundRect">
            <a:avLst/>
          </a:prstGeom>
          <a:solidFill>
            <a:srgbClr val="FAFBFC"/>
          </a:solidFill>
          <a:ln w="12700">
            <a:solidFill>
              <a:srgbClr val="CDD2DA"/>
            </a:solidFill>
          </a:ln>
        </p:spPr>
        <p:txBody>
          <a:bodyPr rtlCol="0" anchor="ctr"/>
          <a:lstStyle/>
          <a:p>
            <a:pPr algn="ctr"/>
            <a:endParaRPr/>
          </a:p>
        </p:txBody>
      </p:sp>
      <p:pic>
        <p:nvPicPr>
          <p:cNvPr id="104" name="Chart"/>
          <p:cNvPicPr>
            <a:picLocks noChangeAspect="1"/>
          </p:cNvPicPr>
          <p:nvPr/>
        </p:nvPicPr>
        <p:blipFill>
          <a:blip r:embed="rId3"/>
          <a:stretch>
            <a:fillRect/>
          </a:stretch>
        </p:blipFill>
        <p:spPr>
          <a:xfrm>
            <a:off x="844360" y="1720000"/>
            <a:ext cx="4849240" cy="2300000"/>
          </a:xfrm>
          <a:prstGeom prst="rect">
            <a:avLst/>
          </a:prstGeom>
        </p:spPr>
      </p:pic>
      <p:sp>
        <p:nvSpPr>
          <p:cNvPr id="105" name="TextBox"/>
          <p:cNvSpPr txBox="1"/>
          <p:nvPr/>
        </p:nvSpPr>
        <p:spPr>
          <a:xfrm>
            <a:off x="744360" y="4090000"/>
            <a:ext cx="5049240" cy="362568"/>
          </a:xfrm>
          <a:prstGeom prst="rect">
            <a:avLst/>
          </a:prstGeom>
          <a:noFill/>
        </p:spPr>
        <p:txBody>
          <a:bodyPr wrap="square">
            <a:normAutofit/>
          </a:bodyPr>
          <a:lstStyle/>
          <a:p>
            <a:pPr>
              <a:defRPr sz="1600" b="1">
                <a:solidFill>
                  <a:srgbClr val="2F69B4"/>
                </a:solidFill>
              </a:defRPr>
            </a:pPr>
            <a:r>
              <a:t>Histogram</a:t>
            </a:r>
          </a:p>
        </p:txBody>
      </p:sp>
      <p:sp>
        <p:nvSpPr>
          <p:cNvPr id="106" name="TextBox"/>
          <p:cNvSpPr txBox="1"/>
          <p:nvPr/>
        </p:nvSpPr>
        <p:spPr>
          <a:xfrm>
            <a:off x="744360" y="4480000"/>
            <a:ext cx="5049240" cy="560000"/>
          </a:xfrm>
          <a:prstGeom prst="rect">
            <a:avLst/>
          </a:prstGeom>
          <a:noFill/>
        </p:spPr>
        <p:txBody>
          <a:bodyPr wrap="square">
            <a:spAutoFit/>
          </a:bodyPr>
          <a:lstStyle/>
          <a:p>
            <a:pPr>
              <a:defRPr sz="1150">
                <a:solidFill>
                  <a:srgbClr val="232323"/>
                </a:solidFill>
              </a:defRPr>
            </a:pPr>
            <a:r>
              <a:t>Best for showing how one numeric variable is spread. Y-axis must start from 0.</a:t>
            </a:r>
          </a:p>
        </p:txBody>
      </p:sp>
      <p:sp>
        <p:nvSpPr>
          <p:cNvPr id="107" name="TextBox"/>
          <p:cNvSpPr txBox="1"/>
          <p:nvPr/>
        </p:nvSpPr>
        <p:spPr>
          <a:xfrm>
            <a:off x="744360" y="5060000"/>
            <a:ext cx="5049240" cy="900000"/>
          </a:xfrm>
          <a:prstGeom prst="rect">
            <a:avLst/>
          </a:prstGeom>
          <a:noFill/>
        </p:spPr>
        <p:txBody>
          <a:bodyPr wrap="square">
            <a:spAutoFit/>
          </a:bodyPr>
          <a:lstStyle/>
          <a:p>
            <a:pPr>
              <a:defRPr sz="1150" b="1">
                <a:solidFill>
                  <a:srgbClr val="2A9688"/>
                </a:solidFill>
              </a:defRPr>
            </a:pPr>
            <a:r>
              <a:t>Sample scenarios</a:t>
            </a:r>
          </a:p>
          <a:p>
            <a:pPr>
              <a:spcBef>
                <a:spcPts val="200"/>
              </a:spcBef>
              <a:defRPr sz="1150">
                <a:solidFill>
                  <a:srgbClr val="3A3A3A"/>
                </a:solidFill>
              </a:defRPr>
            </a:pPr>
            <a:r>
              <a:t>-  Distribution of movie ratings</a:t>
            </a:r>
          </a:p>
          <a:p>
            <a:pPr>
              <a:spcBef>
                <a:spcPts val="200"/>
              </a:spcBef>
              <a:defRPr sz="1150">
                <a:solidFill>
                  <a:srgbClr val="3A3A3A"/>
                </a:solidFill>
              </a:defRPr>
            </a:pPr>
            <a:r>
              <a:t>-  Spread of student exam scores</a:t>
            </a:r>
          </a:p>
        </p:txBody>
      </p:sp>
      <p:sp>
        <p:nvSpPr>
          <p:cNvPr id="108" name="Card"/>
          <p:cNvSpPr/>
          <p:nvPr/>
        </p:nvSpPr>
        <p:spPr>
          <a:xfrm>
            <a:off x="6248400" y="1450000"/>
            <a:ext cx="5349240" cy="4650000"/>
          </a:xfrm>
          <a:prstGeom prst="roundRect">
            <a:avLst/>
          </a:prstGeom>
          <a:solidFill>
            <a:srgbClr val="FAFBFC"/>
          </a:solidFill>
          <a:ln w="12700">
            <a:solidFill>
              <a:srgbClr val="CDD2DA"/>
            </a:solidFill>
          </a:ln>
        </p:spPr>
        <p:txBody>
          <a:bodyPr rtlCol="0" anchor="ctr"/>
          <a:lstStyle/>
          <a:p>
            <a:pPr algn="ctr"/>
            <a:endParaRPr/>
          </a:p>
        </p:txBody>
      </p:sp>
      <p:pic>
        <p:nvPicPr>
          <p:cNvPr id="109" name="Chart"/>
          <p:cNvPicPr>
            <a:picLocks noChangeAspect="1"/>
          </p:cNvPicPr>
          <p:nvPr/>
        </p:nvPicPr>
        <p:blipFill>
          <a:blip r:embed="rId4"/>
          <a:stretch>
            <a:fillRect/>
          </a:stretch>
        </p:blipFill>
        <p:spPr>
          <a:xfrm>
            <a:off x="6498400" y="1720000"/>
            <a:ext cx="4849240" cy="2300000"/>
          </a:xfrm>
          <a:prstGeom prst="rect">
            <a:avLst/>
          </a:prstGeom>
        </p:spPr>
      </p:pic>
      <p:sp>
        <p:nvSpPr>
          <p:cNvPr id="110" name="TextBox"/>
          <p:cNvSpPr txBox="1"/>
          <p:nvPr/>
        </p:nvSpPr>
        <p:spPr>
          <a:xfrm>
            <a:off x="6398400" y="4090000"/>
            <a:ext cx="5049240" cy="362568"/>
          </a:xfrm>
          <a:prstGeom prst="rect">
            <a:avLst/>
          </a:prstGeom>
          <a:noFill/>
        </p:spPr>
        <p:txBody>
          <a:bodyPr wrap="square">
            <a:normAutofit/>
          </a:bodyPr>
          <a:lstStyle/>
          <a:p>
            <a:pPr>
              <a:defRPr sz="1600" b="1">
                <a:solidFill>
                  <a:srgbClr val="2F69B4"/>
                </a:solidFill>
              </a:defRPr>
            </a:pPr>
            <a:r>
              <a:t>Box Plot</a:t>
            </a:r>
          </a:p>
        </p:txBody>
      </p:sp>
      <p:sp>
        <p:nvSpPr>
          <p:cNvPr id="111" name="TextBox"/>
          <p:cNvSpPr txBox="1"/>
          <p:nvPr/>
        </p:nvSpPr>
        <p:spPr>
          <a:xfrm>
            <a:off x="6398400" y="4480000"/>
            <a:ext cx="5049240" cy="560000"/>
          </a:xfrm>
          <a:prstGeom prst="rect">
            <a:avLst/>
          </a:prstGeom>
          <a:noFill/>
        </p:spPr>
        <p:txBody>
          <a:bodyPr wrap="square">
            <a:spAutoFit/>
          </a:bodyPr>
          <a:lstStyle/>
          <a:p>
            <a:pPr>
              <a:defRPr sz="1150">
                <a:solidFill>
                  <a:srgbClr val="232323"/>
                </a:solidFill>
              </a:defRPr>
            </a:pPr>
            <a:r>
              <a:t>Best for comparing spread and outliers across groups. Shows median, quartiles and outliers.</a:t>
            </a:r>
          </a:p>
        </p:txBody>
      </p:sp>
      <p:sp>
        <p:nvSpPr>
          <p:cNvPr id="112" name="TextBox"/>
          <p:cNvSpPr txBox="1"/>
          <p:nvPr/>
        </p:nvSpPr>
        <p:spPr>
          <a:xfrm>
            <a:off x="6398400" y="5060000"/>
            <a:ext cx="5049240" cy="900000"/>
          </a:xfrm>
          <a:prstGeom prst="rect">
            <a:avLst/>
          </a:prstGeom>
          <a:noFill/>
        </p:spPr>
        <p:txBody>
          <a:bodyPr wrap="square">
            <a:spAutoFit/>
          </a:bodyPr>
          <a:lstStyle/>
          <a:p>
            <a:pPr>
              <a:defRPr sz="1150" b="1">
                <a:solidFill>
                  <a:srgbClr val="2A9688"/>
                </a:solidFill>
              </a:defRPr>
            </a:pPr>
            <a:r>
              <a:t>Sample scenarios</a:t>
            </a:r>
          </a:p>
          <a:p>
            <a:pPr>
              <a:spcBef>
                <a:spcPts val="200"/>
              </a:spcBef>
              <a:defRPr sz="1150">
                <a:solidFill>
                  <a:srgbClr val="3A3A3A"/>
                </a:solidFill>
              </a:defRPr>
            </a:pPr>
            <a:r>
              <a:t>-  Do ratings vary across genres</a:t>
            </a:r>
          </a:p>
          <a:p>
            <a:pPr>
              <a:spcBef>
                <a:spcPts val="200"/>
              </a:spcBef>
              <a:defRPr sz="1150">
                <a:solidFill>
                  <a:srgbClr val="3A3A3A"/>
                </a:solidFill>
              </a:defRPr>
            </a:pPr>
            <a:r>
              <a:t>-  Salary range by department</a:t>
            </a:r>
          </a:p>
        </p:txBody>
      </p:sp>
      <p:sp>
        <p:nvSpPr>
          <p:cNvPr id="113" name="TextBox"/>
          <p:cNvSpPr txBox="1"/>
          <p:nvPr/>
        </p:nvSpPr>
        <p:spPr>
          <a:xfrm>
            <a:off x="594360" y="6473952"/>
            <a:ext cx="10972800" cy="228600"/>
          </a:xfrm>
          <a:prstGeom prst="rect">
            <a:avLst/>
          </a:prstGeom>
          <a:noFill/>
        </p:spPr>
        <p:txBody>
          <a:bodyPr wrap="square">
            <a:spAutoFit/>
          </a:bodyPr>
          <a:lstStyle/>
          <a:p>
            <a:pPr algn="r">
              <a:defRPr sz="850">
                <a:solidFill>
                  <a:srgbClr val="8C8C8C"/>
                </a:solidFill>
              </a:defRPr>
            </a:pPr>
            <a:r>
              <a:t>Data Visualisation with Python and AI  |  </a:t>
            </a:r>
            <a:r>
              <a:rPr lang="en-SG"/>
              <a:t>10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TextBox"/>
          <p:cNvSpPr txBox="1"/>
          <p:nvPr/>
        </p:nvSpPr>
        <p:spPr>
          <a:xfrm>
            <a:off x="594360" y="320040"/>
            <a:ext cx="10972800" cy="658368"/>
          </a:xfrm>
          <a:prstGeom prst="rect">
            <a:avLst/>
          </a:prstGeom>
          <a:noFill/>
        </p:spPr>
        <p:txBody>
          <a:bodyPr wrap="square">
            <a:spAutoFit/>
          </a:bodyPr>
          <a:lstStyle/>
          <a:p>
            <a:pPr>
              <a:defRPr sz="2800" b="1">
                <a:solidFill>
                  <a:srgbClr val="162D4E"/>
                </a:solidFill>
              </a:defRPr>
            </a:pPr>
            <a:r>
              <a:t>Choose Your Visualisation Carefully</a:t>
            </a:r>
          </a:p>
        </p:txBody>
      </p:sp>
      <p:sp>
        <p:nvSpPr>
          <p:cNvPr id="102" name="TextBox"/>
          <p:cNvSpPr txBox="1"/>
          <p:nvPr/>
        </p:nvSpPr>
        <p:spPr>
          <a:xfrm>
            <a:off x="621792" y="960120"/>
            <a:ext cx="10789920" cy="384048"/>
          </a:xfrm>
          <a:prstGeom prst="rect">
            <a:avLst/>
          </a:prstGeom>
          <a:noFill/>
        </p:spPr>
        <p:txBody>
          <a:bodyPr wrap="square">
            <a:spAutoFit/>
          </a:bodyPr>
          <a:lstStyle/>
          <a:p>
            <a:pPr>
              <a:defRPr sz="1500">
                <a:solidFill>
                  <a:srgbClr val="606060"/>
                </a:solidFill>
              </a:defRPr>
            </a:pPr>
            <a:r>
              <a:t>Comparing groups and showing composition</a:t>
            </a:r>
          </a:p>
        </p:txBody>
      </p:sp>
      <p:sp>
        <p:nvSpPr>
          <p:cNvPr id="103" name="Card"/>
          <p:cNvSpPr/>
          <p:nvPr/>
        </p:nvSpPr>
        <p:spPr>
          <a:xfrm>
            <a:off x="594360" y="1450000"/>
            <a:ext cx="5349240" cy="4650000"/>
          </a:xfrm>
          <a:prstGeom prst="roundRect">
            <a:avLst/>
          </a:prstGeom>
          <a:solidFill>
            <a:srgbClr val="FAFBFC"/>
          </a:solidFill>
          <a:ln w="12700">
            <a:solidFill>
              <a:srgbClr val="CDD2DA"/>
            </a:solidFill>
          </a:ln>
        </p:spPr>
        <p:txBody>
          <a:bodyPr rtlCol="0" anchor="ctr"/>
          <a:lstStyle/>
          <a:p>
            <a:pPr algn="ctr"/>
            <a:endParaRPr/>
          </a:p>
        </p:txBody>
      </p:sp>
      <p:pic>
        <p:nvPicPr>
          <p:cNvPr id="104" name="Chart"/>
          <p:cNvPicPr>
            <a:picLocks noChangeAspect="1"/>
          </p:cNvPicPr>
          <p:nvPr/>
        </p:nvPicPr>
        <p:blipFill>
          <a:blip r:embed="rId3"/>
          <a:stretch>
            <a:fillRect/>
          </a:stretch>
        </p:blipFill>
        <p:spPr>
          <a:xfrm>
            <a:off x="844360" y="1720000"/>
            <a:ext cx="4849240" cy="2300000"/>
          </a:xfrm>
          <a:prstGeom prst="rect">
            <a:avLst/>
          </a:prstGeom>
        </p:spPr>
      </p:pic>
      <p:sp>
        <p:nvSpPr>
          <p:cNvPr id="105" name="TextBox"/>
          <p:cNvSpPr txBox="1"/>
          <p:nvPr/>
        </p:nvSpPr>
        <p:spPr>
          <a:xfrm>
            <a:off x="744360" y="4090000"/>
            <a:ext cx="5049240" cy="362568"/>
          </a:xfrm>
          <a:prstGeom prst="rect">
            <a:avLst/>
          </a:prstGeom>
          <a:noFill/>
        </p:spPr>
        <p:txBody>
          <a:bodyPr wrap="square">
            <a:normAutofit/>
          </a:bodyPr>
          <a:lstStyle/>
          <a:p>
            <a:pPr>
              <a:defRPr sz="1600" b="1">
                <a:solidFill>
                  <a:srgbClr val="2F69B4"/>
                </a:solidFill>
              </a:defRPr>
            </a:pPr>
            <a:r>
              <a:t>Bar Chart</a:t>
            </a:r>
          </a:p>
        </p:txBody>
      </p:sp>
      <p:sp>
        <p:nvSpPr>
          <p:cNvPr id="106" name="TextBox"/>
          <p:cNvSpPr txBox="1"/>
          <p:nvPr/>
        </p:nvSpPr>
        <p:spPr>
          <a:xfrm>
            <a:off x="744360" y="4480000"/>
            <a:ext cx="5049240" cy="560000"/>
          </a:xfrm>
          <a:prstGeom prst="rect">
            <a:avLst/>
          </a:prstGeom>
          <a:noFill/>
        </p:spPr>
        <p:txBody>
          <a:bodyPr wrap="square">
            <a:spAutoFit/>
          </a:bodyPr>
          <a:lstStyle/>
          <a:p>
            <a:pPr>
              <a:defRPr sz="1150">
                <a:solidFill>
                  <a:srgbClr val="232323"/>
                </a:solidFill>
              </a:defRPr>
            </a:pPr>
            <a:r>
              <a:t>Best for categorical data. The value axis must start from 0.</a:t>
            </a:r>
          </a:p>
        </p:txBody>
      </p:sp>
      <p:sp>
        <p:nvSpPr>
          <p:cNvPr id="107" name="TextBox"/>
          <p:cNvSpPr txBox="1"/>
          <p:nvPr/>
        </p:nvSpPr>
        <p:spPr>
          <a:xfrm>
            <a:off x="744360" y="5060000"/>
            <a:ext cx="5049240" cy="900000"/>
          </a:xfrm>
          <a:prstGeom prst="rect">
            <a:avLst/>
          </a:prstGeom>
          <a:noFill/>
        </p:spPr>
        <p:txBody>
          <a:bodyPr wrap="square">
            <a:spAutoFit/>
          </a:bodyPr>
          <a:lstStyle/>
          <a:p>
            <a:pPr>
              <a:defRPr sz="1150" b="1">
                <a:solidFill>
                  <a:srgbClr val="2A9688"/>
                </a:solidFill>
              </a:defRPr>
            </a:pPr>
            <a:r>
              <a:t>Sample scenarios</a:t>
            </a:r>
          </a:p>
          <a:p>
            <a:pPr>
              <a:spcBef>
                <a:spcPts val="200"/>
              </a:spcBef>
              <a:defRPr sz="1150">
                <a:solidFill>
                  <a:srgbClr val="3A3A3A"/>
                </a:solidFill>
              </a:defRPr>
            </a:pPr>
            <a:r>
              <a:t>-  Average rating by genre</a:t>
            </a:r>
          </a:p>
          <a:p>
            <a:pPr>
              <a:spcBef>
                <a:spcPts val="200"/>
              </a:spcBef>
              <a:defRPr sz="1150">
                <a:solidFill>
                  <a:srgbClr val="3A3A3A"/>
                </a:solidFill>
              </a:defRPr>
            </a:pPr>
            <a:r>
              <a:t>-  Student enrolment by school</a:t>
            </a:r>
          </a:p>
        </p:txBody>
      </p:sp>
      <p:sp>
        <p:nvSpPr>
          <p:cNvPr id="108" name="Card"/>
          <p:cNvSpPr/>
          <p:nvPr/>
        </p:nvSpPr>
        <p:spPr>
          <a:xfrm>
            <a:off x="6248400" y="1450000"/>
            <a:ext cx="5349240" cy="4650000"/>
          </a:xfrm>
          <a:prstGeom prst="roundRect">
            <a:avLst/>
          </a:prstGeom>
          <a:solidFill>
            <a:srgbClr val="FAFBFC"/>
          </a:solidFill>
          <a:ln w="12700">
            <a:solidFill>
              <a:srgbClr val="CDD2DA"/>
            </a:solidFill>
          </a:ln>
        </p:spPr>
        <p:txBody>
          <a:bodyPr rtlCol="0" anchor="ctr"/>
          <a:lstStyle/>
          <a:p>
            <a:pPr algn="ctr"/>
            <a:endParaRPr/>
          </a:p>
        </p:txBody>
      </p:sp>
      <p:pic>
        <p:nvPicPr>
          <p:cNvPr id="109" name="Chart"/>
          <p:cNvPicPr>
            <a:picLocks noChangeAspect="1"/>
          </p:cNvPicPr>
          <p:nvPr/>
        </p:nvPicPr>
        <p:blipFill>
          <a:blip r:embed="rId4"/>
          <a:stretch>
            <a:fillRect/>
          </a:stretch>
        </p:blipFill>
        <p:spPr>
          <a:xfrm>
            <a:off x="6498400" y="1720000"/>
            <a:ext cx="4849240" cy="2300000"/>
          </a:xfrm>
          <a:prstGeom prst="rect">
            <a:avLst/>
          </a:prstGeom>
        </p:spPr>
      </p:pic>
      <p:sp>
        <p:nvSpPr>
          <p:cNvPr id="110" name="TextBox"/>
          <p:cNvSpPr txBox="1"/>
          <p:nvPr/>
        </p:nvSpPr>
        <p:spPr>
          <a:xfrm>
            <a:off x="6398400" y="4090000"/>
            <a:ext cx="5049240" cy="362568"/>
          </a:xfrm>
          <a:prstGeom prst="rect">
            <a:avLst/>
          </a:prstGeom>
          <a:noFill/>
        </p:spPr>
        <p:txBody>
          <a:bodyPr wrap="square">
            <a:normAutofit/>
          </a:bodyPr>
          <a:lstStyle/>
          <a:p>
            <a:pPr>
              <a:defRPr sz="1600" b="1">
                <a:solidFill>
                  <a:srgbClr val="2F69B4"/>
                </a:solidFill>
              </a:defRPr>
            </a:pPr>
            <a:r>
              <a:t>Treemap</a:t>
            </a:r>
          </a:p>
        </p:txBody>
      </p:sp>
      <p:sp>
        <p:nvSpPr>
          <p:cNvPr id="111" name="TextBox"/>
          <p:cNvSpPr txBox="1"/>
          <p:nvPr/>
        </p:nvSpPr>
        <p:spPr>
          <a:xfrm>
            <a:off x="6398400" y="4480000"/>
            <a:ext cx="5049240" cy="560000"/>
          </a:xfrm>
          <a:prstGeom prst="rect">
            <a:avLst/>
          </a:prstGeom>
          <a:noFill/>
        </p:spPr>
        <p:txBody>
          <a:bodyPr wrap="square">
            <a:spAutoFit/>
          </a:bodyPr>
          <a:lstStyle/>
          <a:p>
            <a:pPr>
              <a:defRPr sz="1150">
                <a:solidFill>
                  <a:srgbClr val="232323"/>
                </a:solidFill>
              </a:defRPr>
            </a:pPr>
            <a:r>
              <a:t>Best for parts of a whole when there are many categories. Area shows quantity.</a:t>
            </a:r>
          </a:p>
        </p:txBody>
      </p:sp>
      <p:sp>
        <p:nvSpPr>
          <p:cNvPr id="112" name="TextBox"/>
          <p:cNvSpPr txBox="1"/>
          <p:nvPr/>
        </p:nvSpPr>
        <p:spPr>
          <a:xfrm>
            <a:off x="6398400" y="5060000"/>
            <a:ext cx="5049240" cy="900000"/>
          </a:xfrm>
          <a:prstGeom prst="rect">
            <a:avLst/>
          </a:prstGeom>
          <a:noFill/>
        </p:spPr>
        <p:txBody>
          <a:bodyPr wrap="square">
            <a:spAutoFit/>
          </a:bodyPr>
          <a:lstStyle/>
          <a:p>
            <a:pPr>
              <a:defRPr sz="1150" b="1">
                <a:solidFill>
                  <a:srgbClr val="2A9688"/>
                </a:solidFill>
              </a:defRPr>
            </a:pPr>
            <a:r>
              <a:t>Sample scenarios</a:t>
            </a:r>
          </a:p>
          <a:p>
            <a:pPr>
              <a:spcBef>
                <a:spcPts val="200"/>
              </a:spcBef>
              <a:defRPr sz="1150">
                <a:solidFill>
                  <a:srgbClr val="3A3A3A"/>
                </a:solidFill>
              </a:defRPr>
            </a:pPr>
            <a:r>
              <a:t>-  Share of movies by genre</a:t>
            </a:r>
          </a:p>
          <a:p>
            <a:pPr>
              <a:spcBef>
                <a:spcPts val="200"/>
              </a:spcBef>
              <a:defRPr sz="1150">
                <a:solidFill>
                  <a:srgbClr val="3A3A3A"/>
                </a:solidFill>
              </a:defRPr>
            </a:pPr>
            <a:r>
              <a:t>-  Budget split across faculties</a:t>
            </a:r>
          </a:p>
        </p:txBody>
      </p:sp>
      <p:sp>
        <p:nvSpPr>
          <p:cNvPr id="113" name="TextBox"/>
          <p:cNvSpPr txBox="1"/>
          <p:nvPr/>
        </p:nvSpPr>
        <p:spPr>
          <a:xfrm>
            <a:off x="594360" y="6473952"/>
            <a:ext cx="10972800" cy="228600"/>
          </a:xfrm>
          <a:prstGeom prst="rect">
            <a:avLst/>
          </a:prstGeom>
          <a:noFill/>
        </p:spPr>
        <p:txBody>
          <a:bodyPr wrap="square">
            <a:spAutoFit/>
          </a:bodyPr>
          <a:lstStyle/>
          <a:p>
            <a:pPr algn="r">
              <a:defRPr sz="850">
                <a:solidFill>
                  <a:srgbClr val="8C8C8C"/>
                </a:solidFill>
              </a:defRPr>
            </a:pPr>
            <a:r>
              <a:t>Data Visualisation with Python and AI  |  </a:t>
            </a:r>
            <a:r>
              <a:rPr lang="en-SG"/>
              <a:t>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TextBox"/>
          <p:cNvSpPr txBox="1"/>
          <p:nvPr/>
        </p:nvSpPr>
        <p:spPr>
          <a:xfrm>
            <a:off x="594360" y="320040"/>
            <a:ext cx="10972800" cy="658368"/>
          </a:xfrm>
          <a:prstGeom prst="rect">
            <a:avLst/>
          </a:prstGeom>
          <a:noFill/>
        </p:spPr>
        <p:txBody>
          <a:bodyPr wrap="square">
            <a:spAutoFit/>
          </a:bodyPr>
          <a:lstStyle/>
          <a:p>
            <a:pPr>
              <a:defRPr sz="2800" b="1">
                <a:solidFill>
                  <a:srgbClr val="162D4E"/>
                </a:solidFill>
              </a:defRPr>
            </a:pPr>
            <a:r>
              <a:t>Choose Your Visualisation Carefully</a:t>
            </a:r>
          </a:p>
        </p:txBody>
      </p:sp>
      <p:sp>
        <p:nvSpPr>
          <p:cNvPr id="102" name="TextBox"/>
          <p:cNvSpPr txBox="1"/>
          <p:nvPr/>
        </p:nvSpPr>
        <p:spPr>
          <a:xfrm>
            <a:off x="621792" y="960120"/>
            <a:ext cx="10789920" cy="384048"/>
          </a:xfrm>
          <a:prstGeom prst="rect">
            <a:avLst/>
          </a:prstGeom>
          <a:noFill/>
        </p:spPr>
        <p:txBody>
          <a:bodyPr wrap="square">
            <a:spAutoFit/>
          </a:bodyPr>
          <a:lstStyle/>
          <a:p>
            <a:pPr>
              <a:defRPr sz="1500">
                <a:solidFill>
                  <a:srgbClr val="606060"/>
                </a:solidFill>
              </a:defRPr>
            </a:pPr>
            <a:r>
              <a:t>Relationships between two or more variables</a:t>
            </a:r>
          </a:p>
        </p:txBody>
      </p:sp>
      <p:sp>
        <p:nvSpPr>
          <p:cNvPr id="103" name="Card"/>
          <p:cNvSpPr/>
          <p:nvPr/>
        </p:nvSpPr>
        <p:spPr>
          <a:xfrm>
            <a:off x="494360" y="1458192"/>
            <a:ext cx="5349240" cy="4650000"/>
          </a:xfrm>
          <a:prstGeom prst="roundRect">
            <a:avLst/>
          </a:prstGeom>
          <a:solidFill>
            <a:srgbClr val="FAFBFC"/>
          </a:solidFill>
          <a:ln w="12700">
            <a:solidFill>
              <a:srgbClr val="CDD2DA"/>
            </a:solidFill>
          </a:ln>
        </p:spPr>
        <p:txBody>
          <a:bodyPr rtlCol="0" anchor="ctr"/>
          <a:lstStyle/>
          <a:p>
            <a:pPr algn="ctr"/>
            <a:endParaRPr/>
          </a:p>
        </p:txBody>
      </p:sp>
      <p:pic>
        <p:nvPicPr>
          <p:cNvPr id="104" name="Chart"/>
          <p:cNvPicPr>
            <a:picLocks noChangeAspect="1"/>
          </p:cNvPicPr>
          <p:nvPr/>
        </p:nvPicPr>
        <p:blipFill>
          <a:blip r:embed="rId3"/>
          <a:stretch>
            <a:fillRect/>
          </a:stretch>
        </p:blipFill>
        <p:spPr>
          <a:xfrm>
            <a:off x="744360" y="1728192"/>
            <a:ext cx="4849240" cy="2300000"/>
          </a:xfrm>
          <a:prstGeom prst="rect">
            <a:avLst/>
          </a:prstGeom>
        </p:spPr>
      </p:pic>
      <p:sp>
        <p:nvSpPr>
          <p:cNvPr id="105" name="TextBox"/>
          <p:cNvSpPr txBox="1"/>
          <p:nvPr/>
        </p:nvSpPr>
        <p:spPr>
          <a:xfrm>
            <a:off x="644360" y="4122576"/>
            <a:ext cx="5049240" cy="362568"/>
          </a:xfrm>
          <a:prstGeom prst="rect">
            <a:avLst/>
          </a:prstGeom>
          <a:noFill/>
        </p:spPr>
        <p:txBody>
          <a:bodyPr wrap="square">
            <a:normAutofit/>
          </a:bodyPr>
          <a:lstStyle/>
          <a:p>
            <a:pPr>
              <a:defRPr sz="1600" b="1">
                <a:solidFill>
                  <a:srgbClr val="2F69B4"/>
                </a:solidFill>
              </a:defRPr>
            </a:pPr>
            <a:r>
              <a:rPr dirty="0"/>
              <a:t>Scatter Plot</a:t>
            </a:r>
          </a:p>
        </p:txBody>
      </p:sp>
      <p:sp>
        <p:nvSpPr>
          <p:cNvPr id="106" name="TextBox"/>
          <p:cNvSpPr txBox="1"/>
          <p:nvPr/>
        </p:nvSpPr>
        <p:spPr>
          <a:xfrm>
            <a:off x="644360" y="4488192"/>
            <a:ext cx="5049240" cy="560000"/>
          </a:xfrm>
          <a:prstGeom prst="rect">
            <a:avLst/>
          </a:prstGeom>
          <a:noFill/>
        </p:spPr>
        <p:txBody>
          <a:bodyPr wrap="square">
            <a:spAutoFit/>
          </a:bodyPr>
          <a:lstStyle/>
          <a:p>
            <a:pPr>
              <a:defRPr sz="1150">
                <a:solidFill>
                  <a:srgbClr val="232323"/>
                </a:solidFill>
              </a:defRPr>
            </a:pPr>
            <a:r>
              <a:t>Best for two numeric variables: does one move with the other?</a:t>
            </a:r>
          </a:p>
        </p:txBody>
      </p:sp>
      <p:sp>
        <p:nvSpPr>
          <p:cNvPr id="107" name="TextBox"/>
          <p:cNvSpPr txBox="1"/>
          <p:nvPr/>
        </p:nvSpPr>
        <p:spPr>
          <a:xfrm>
            <a:off x="644360" y="5068192"/>
            <a:ext cx="5049240" cy="900000"/>
          </a:xfrm>
          <a:prstGeom prst="rect">
            <a:avLst/>
          </a:prstGeom>
          <a:noFill/>
        </p:spPr>
        <p:txBody>
          <a:bodyPr wrap="square">
            <a:spAutoFit/>
          </a:bodyPr>
          <a:lstStyle/>
          <a:p>
            <a:pPr>
              <a:defRPr sz="1150" b="1">
                <a:solidFill>
                  <a:srgbClr val="2A9688"/>
                </a:solidFill>
              </a:defRPr>
            </a:pPr>
            <a:r>
              <a:t>Sample scenarios</a:t>
            </a:r>
          </a:p>
          <a:p>
            <a:pPr>
              <a:spcBef>
                <a:spcPts val="200"/>
              </a:spcBef>
              <a:defRPr sz="1150">
                <a:solidFill>
                  <a:srgbClr val="3A3A3A"/>
                </a:solidFill>
              </a:defRPr>
            </a:pPr>
            <a:r>
              <a:t>-  Rating against number of votes</a:t>
            </a:r>
          </a:p>
          <a:p>
            <a:pPr>
              <a:spcBef>
                <a:spcPts val="200"/>
              </a:spcBef>
              <a:defRPr sz="1150">
                <a:solidFill>
                  <a:srgbClr val="3A3A3A"/>
                </a:solidFill>
              </a:defRPr>
            </a:pPr>
            <a:r>
              <a:t>-  Study hours against exam score</a:t>
            </a:r>
          </a:p>
        </p:txBody>
      </p:sp>
      <p:sp>
        <p:nvSpPr>
          <p:cNvPr id="113" name="TextBox"/>
          <p:cNvSpPr txBox="1"/>
          <p:nvPr/>
        </p:nvSpPr>
        <p:spPr>
          <a:xfrm>
            <a:off x="594360" y="6473952"/>
            <a:ext cx="10972800" cy="228600"/>
          </a:xfrm>
          <a:prstGeom prst="rect">
            <a:avLst/>
          </a:prstGeom>
          <a:noFill/>
        </p:spPr>
        <p:txBody>
          <a:bodyPr wrap="square">
            <a:spAutoFit/>
          </a:bodyPr>
          <a:lstStyle/>
          <a:p>
            <a:pPr algn="r">
              <a:defRPr sz="850">
                <a:solidFill>
                  <a:srgbClr val="8C8C8C"/>
                </a:solidFill>
              </a:defRPr>
            </a:pPr>
            <a:r>
              <a:t>Data Visualisation with Python and AI  |  </a:t>
            </a:r>
            <a:r>
              <a:rPr lang="en-SG"/>
              <a:t>12</a:t>
            </a:r>
            <a:endParaRPr/>
          </a:p>
        </p:txBody>
      </p:sp>
      <p:sp>
        <p:nvSpPr>
          <p:cNvPr id="3" name="Card">
            <a:extLst>
              <a:ext uri="{FF2B5EF4-FFF2-40B4-BE49-F238E27FC236}">
                <a16:creationId xmlns:a16="http://schemas.microsoft.com/office/drawing/2014/main" id="{8DB4BF3E-4EBB-8316-47CA-0FC6FC660FFC}"/>
              </a:ext>
            </a:extLst>
          </p:cNvPr>
          <p:cNvSpPr/>
          <p:nvPr/>
        </p:nvSpPr>
        <p:spPr>
          <a:xfrm>
            <a:off x="6248400" y="1450000"/>
            <a:ext cx="5349240" cy="4650000"/>
          </a:xfrm>
          <a:prstGeom prst="roundRect">
            <a:avLst/>
          </a:prstGeom>
          <a:solidFill>
            <a:srgbClr val="FAFBFC"/>
          </a:solidFill>
          <a:ln w="12700">
            <a:solidFill>
              <a:srgbClr val="CDD2DA"/>
            </a:solidFill>
          </a:ln>
        </p:spPr>
        <p:txBody>
          <a:bodyPr rtlCol="0" anchor="ctr"/>
          <a:lstStyle/>
          <a:p>
            <a:pPr algn="ctr"/>
            <a:endParaRPr/>
          </a:p>
        </p:txBody>
      </p:sp>
      <p:pic>
        <p:nvPicPr>
          <p:cNvPr id="5" name="Chart">
            <a:extLst>
              <a:ext uri="{FF2B5EF4-FFF2-40B4-BE49-F238E27FC236}">
                <a16:creationId xmlns:a16="http://schemas.microsoft.com/office/drawing/2014/main" id="{4951390C-5E21-960C-C9AD-5D301FA20834}"/>
              </a:ext>
            </a:extLst>
          </p:cNvPr>
          <p:cNvPicPr>
            <a:picLocks noChangeAspect="1"/>
          </p:cNvPicPr>
          <p:nvPr/>
        </p:nvPicPr>
        <p:blipFill>
          <a:blip r:embed="rId4"/>
          <a:stretch>
            <a:fillRect/>
          </a:stretch>
        </p:blipFill>
        <p:spPr>
          <a:xfrm>
            <a:off x="6498400" y="1720000"/>
            <a:ext cx="4849240" cy="2300000"/>
          </a:xfrm>
          <a:prstGeom prst="rect">
            <a:avLst/>
          </a:prstGeom>
        </p:spPr>
      </p:pic>
      <p:sp>
        <p:nvSpPr>
          <p:cNvPr id="7" name="TextBox">
            <a:extLst>
              <a:ext uri="{FF2B5EF4-FFF2-40B4-BE49-F238E27FC236}">
                <a16:creationId xmlns:a16="http://schemas.microsoft.com/office/drawing/2014/main" id="{2A7B06C9-857C-4CFD-FD47-144820DD3F95}"/>
              </a:ext>
            </a:extLst>
          </p:cNvPr>
          <p:cNvSpPr txBox="1"/>
          <p:nvPr/>
        </p:nvSpPr>
        <p:spPr>
          <a:xfrm>
            <a:off x="6398400" y="4090000"/>
            <a:ext cx="5049240" cy="362568"/>
          </a:xfrm>
          <a:prstGeom prst="rect">
            <a:avLst/>
          </a:prstGeom>
          <a:noFill/>
        </p:spPr>
        <p:txBody>
          <a:bodyPr wrap="square">
            <a:normAutofit/>
          </a:bodyPr>
          <a:lstStyle/>
          <a:p>
            <a:pPr>
              <a:defRPr sz="1600" b="1">
                <a:solidFill>
                  <a:srgbClr val="2F69B4"/>
                </a:solidFill>
              </a:defRPr>
            </a:pPr>
            <a:r>
              <a:t>Heatmap</a:t>
            </a:r>
          </a:p>
        </p:txBody>
      </p:sp>
      <p:sp>
        <p:nvSpPr>
          <p:cNvPr id="9" name="TextBox">
            <a:extLst>
              <a:ext uri="{FF2B5EF4-FFF2-40B4-BE49-F238E27FC236}">
                <a16:creationId xmlns:a16="http://schemas.microsoft.com/office/drawing/2014/main" id="{41D69FA7-217F-BE94-9997-1420D3AB044E}"/>
              </a:ext>
            </a:extLst>
          </p:cNvPr>
          <p:cNvSpPr txBox="1"/>
          <p:nvPr/>
        </p:nvSpPr>
        <p:spPr>
          <a:xfrm>
            <a:off x="6398400" y="4480000"/>
            <a:ext cx="5049240" cy="560000"/>
          </a:xfrm>
          <a:prstGeom prst="rect">
            <a:avLst/>
          </a:prstGeom>
          <a:noFill/>
        </p:spPr>
        <p:txBody>
          <a:bodyPr wrap="square">
            <a:spAutoFit/>
          </a:bodyPr>
          <a:lstStyle/>
          <a:p>
            <a:pPr>
              <a:defRPr sz="1150">
                <a:solidFill>
                  <a:srgbClr val="232323"/>
                </a:solidFill>
              </a:defRPr>
            </a:pPr>
            <a:r>
              <a:t>Best for scanning many pairwise relationships in a single view.</a:t>
            </a:r>
          </a:p>
        </p:txBody>
      </p:sp>
      <p:sp>
        <p:nvSpPr>
          <p:cNvPr id="11" name="TextBox">
            <a:extLst>
              <a:ext uri="{FF2B5EF4-FFF2-40B4-BE49-F238E27FC236}">
                <a16:creationId xmlns:a16="http://schemas.microsoft.com/office/drawing/2014/main" id="{8994C95A-799C-ADF0-9F52-74A50C356A24}"/>
              </a:ext>
            </a:extLst>
          </p:cNvPr>
          <p:cNvSpPr txBox="1"/>
          <p:nvPr/>
        </p:nvSpPr>
        <p:spPr>
          <a:xfrm>
            <a:off x="6398400" y="5060000"/>
            <a:ext cx="5049240" cy="900000"/>
          </a:xfrm>
          <a:prstGeom prst="rect">
            <a:avLst/>
          </a:prstGeom>
          <a:noFill/>
        </p:spPr>
        <p:txBody>
          <a:bodyPr wrap="square">
            <a:spAutoFit/>
          </a:bodyPr>
          <a:lstStyle/>
          <a:p>
            <a:pPr>
              <a:defRPr sz="1150" b="1">
                <a:solidFill>
                  <a:srgbClr val="2A9688"/>
                </a:solidFill>
              </a:defRPr>
            </a:pPr>
            <a:r>
              <a:t>Sample scenarios</a:t>
            </a:r>
          </a:p>
          <a:p>
            <a:pPr>
              <a:spcBef>
                <a:spcPts val="200"/>
              </a:spcBef>
              <a:defRPr sz="1150">
                <a:solidFill>
                  <a:srgbClr val="3A3A3A"/>
                </a:solidFill>
              </a:defRPr>
            </a:pPr>
            <a:r>
              <a:t>-  Correlation between budget, revenue and rating</a:t>
            </a:r>
          </a:p>
          <a:p>
            <a:pPr>
              <a:spcBef>
                <a:spcPts val="200"/>
              </a:spcBef>
              <a:defRPr sz="1150">
                <a:solidFill>
                  <a:srgbClr val="3A3A3A"/>
                </a:solidFill>
              </a:defRPr>
            </a:pPr>
            <a:r>
              <a:t>-  Which survey items move together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TextBox"/>
          <p:cNvSpPr txBox="1"/>
          <p:nvPr/>
        </p:nvSpPr>
        <p:spPr>
          <a:xfrm>
            <a:off x="624840" y="239632"/>
            <a:ext cx="10972800" cy="658368"/>
          </a:xfrm>
          <a:prstGeom prst="rect">
            <a:avLst/>
          </a:prstGeom>
          <a:noFill/>
        </p:spPr>
        <p:txBody>
          <a:bodyPr wrap="square">
            <a:spAutoFit/>
          </a:bodyPr>
          <a:lstStyle/>
          <a:p>
            <a:pPr>
              <a:defRPr sz="2800" b="1">
                <a:solidFill>
                  <a:srgbClr val="162D4E"/>
                </a:solidFill>
              </a:defRPr>
            </a:pPr>
            <a:r>
              <a:t>Choose Your Visualisation Carefully</a:t>
            </a:r>
          </a:p>
        </p:txBody>
      </p:sp>
      <p:sp>
        <p:nvSpPr>
          <p:cNvPr id="102" name="TextBox"/>
          <p:cNvSpPr txBox="1"/>
          <p:nvPr/>
        </p:nvSpPr>
        <p:spPr>
          <a:xfrm>
            <a:off x="685800" y="878976"/>
            <a:ext cx="10789920" cy="384048"/>
          </a:xfrm>
          <a:prstGeom prst="rect">
            <a:avLst/>
          </a:prstGeom>
          <a:noFill/>
        </p:spPr>
        <p:txBody>
          <a:bodyPr wrap="square">
            <a:spAutoFit/>
          </a:bodyPr>
          <a:lstStyle/>
          <a:p>
            <a:pPr>
              <a:defRPr sz="1500">
                <a:solidFill>
                  <a:srgbClr val="606060"/>
                </a:solidFill>
              </a:defRPr>
            </a:pPr>
            <a:r>
              <a:rPr dirty="0"/>
              <a:t>Change over time, and many relationships at once</a:t>
            </a:r>
          </a:p>
        </p:txBody>
      </p:sp>
      <p:sp>
        <p:nvSpPr>
          <p:cNvPr id="103" name="Card"/>
          <p:cNvSpPr/>
          <p:nvPr/>
        </p:nvSpPr>
        <p:spPr>
          <a:xfrm>
            <a:off x="3118980" y="1537344"/>
            <a:ext cx="5349240" cy="4650000"/>
          </a:xfrm>
          <a:prstGeom prst="roundRect">
            <a:avLst/>
          </a:prstGeom>
          <a:solidFill>
            <a:srgbClr val="FAFBFC"/>
          </a:solidFill>
          <a:ln w="12700">
            <a:solidFill>
              <a:srgbClr val="CDD2DA"/>
            </a:solidFill>
          </a:ln>
        </p:spPr>
        <p:txBody>
          <a:bodyPr rtlCol="0" anchor="ctr"/>
          <a:lstStyle/>
          <a:p>
            <a:pPr algn="ctr"/>
            <a:endParaRPr/>
          </a:p>
        </p:txBody>
      </p:sp>
      <p:pic>
        <p:nvPicPr>
          <p:cNvPr id="104" name="Chart"/>
          <p:cNvPicPr>
            <a:picLocks noChangeAspect="1"/>
          </p:cNvPicPr>
          <p:nvPr/>
        </p:nvPicPr>
        <p:blipFill>
          <a:blip r:embed="rId3"/>
          <a:stretch>
            <a:fillRect/>
          </a:stretch>
        </p:blipFill>
        <p:spPr>
          <a:xfrm>
            <a:off x="3368980" y="1877344"/>
            <a:ext cx="4849240" cy="2300000"/>
          </a:xfrm>
          <a:prstGeom prst="rect">
            <a:avLst/>
          </a:prstGeom>
        </p:spPr>
      </p:pic>
      <p:sp>
        <p:nvSpPr>
          <p:cNvPr id="105" name="TextBox"/>
          <p:cNvSpPr txBox="1"/>
          <p:nvPr/>
        </p:nvSpPr>
        <p:spPr>
          <a:xfrm>
            <a:off x="3268980" y="4247344"/>
            <a:ext cx="5049240" cy="362568"/>
          </a:xfrm>
          <a:prstGeom prst="rect">
            <a:avLst/>
          </a:prstGeom>
          <a:noFill/>
        </p:spPr>
        <p:txBody>
          <a:bodyPr wrap="square">
            <a:normAutofit/>
          </a:bodyPr>
          <a:lstStyle/>
          <a:p>
            <a:pPr>
              <a:defRPr sz="1600" b="1">
                <a:solidFill>
                  <a:srgbClr val="2F69B4"/>
                </a:solidFill>
              </a:defRPr>
            </a:pPr>
            <a:r>
              <a:t>Line Chart</a:t>
            </a:r>
          </a:p>
        </p:txBody>
      </p:sp>
      <p:sp>
        <p:nvSpPr>
          <p:cNvPr id="106" name="TextBox"/>
          <p:cNvSpPr txBox="1"/>
          <p:nvPr/>
        </p:nvSpPr>
        <p:spPr>
          <a:xfrm>
            <a:off x="3268980" y="4637344"/>
            <a:ext cx="5049240" cy="560000"/>
          </a:xfrm>
          <a:prstGeom prst="rect">
            <a:avLst/>
          </a:prstGeom>
          <a:noFill/>
        </p:spPr>
        <p:txBody>
          <a:bodyPr wrap="square">
            <a:spAutoFit/>
          </a:bodyPr>
          <a:lstStyle/>
          <a:p>
            <a:pPr>
              <a:defRPr sz="1150">
                <a:solidFill>
                  <a:srgbClr val="232323"/>
                </a:solidFill>
              </a:defRPr>
            </a:pPr>
            <a:r>
              <a:t>Best for showcasing change over time. The y-axis does not have to start from 0.</a:t>
            </a:r>
          </a:p>
        </p:txBody>
      </p:sp>
      <p:sp>
        <p:nvSpPr>
          <p:cNvPr id="107" name="TextBox"/>
          <p:cNvSpPr txBox="1"/>
          <p:nvPr/>
        </p:nvSpPr>
        <p:spPr>
          <a:xfrm>
            <a:off x="3268980" y="5217344"/>
            <a:ext cx="5049240" cy="900000"/>
          </a:xfrm>
          <a:prstGeom prst="rect">
            <a:avLst/>
          </a:prstGeom>
          <a:noFill/>
        </p:spPr>
        <p:txBody>
          <a:bodyPr wrap="square">
            <a:spAutoFit/>
          </a:bodyPr>
          <a:lstStyle/>
          <a:p>
            <a:pPr>
              <a:defRPr sz="1150" b="1">
                <a:solidFill>
                  <a:srgbClr val="2A9688"/>
                </a:solidFill>
              </a:defRPr>
            </a:pPr>
            <a:r>
              <a:t>Sample scenarios</a:t>
            </a:r>
          </a:p>
          <a:p>
            <a:pPr>
              <a:spcBef>
                <a:spcPts val="200"/>
              </a:spcBef>
              <a:defRPr sz="1150">
                <a:solidFill>
                  <a:srgbClr val="3A3A3A"/>
                </a:solidFill>
              </a:defRPr>
            </a:pPr>
            <a:r>
              <a:t>-  Average rating by release year</a:t>
            </a:r>
          </a:p>
          <a:p>
            <a:pPr>
              <a:spcBef>
                <a:spcPts val="200"/>
              </a:spcBef>
              <a:defRPr sz="1150">
                <a:solidFill>
                  <a:srgbClr val="3A3A3A"/>
                </a:solidFill>
              </a:defRPr>
            </a:pPr>
            <a:r>
              <a:t>-  Monthly library visits over a decade</a:t>
            </a:r>
          </a:p>
        </p:txBody>
      </p:sp>
      <p:sp>
        <p:nvSpPr>
          <p:cNvPr id="113" name="TextBox"/>
          <p:cNvSpPr txBox="1"/>
          <p:nvPr/>
        </p:nvSpPr>
        <p:spPr>
          <a:xfrm>
            <a:off x="594360" y="6473952"/>
            <a:ext cx="10972800" cy="228600"/>
          </a:xfrm>
          <a:prstGeom prst="rect">
            <a:avLst/>
          </a:prstGeom>
          <a:noFill/>
        </p:spPr>
        <p:txBody>
          <a:bodyPr wrap="square">
            <a:spAutoFit/>
          </a:bodyPr>
          <a:lstStyle/>
          <a:p>
            <a:pPr algn="r">
              <a:defRPr sz="850">
                <a:solidFill>
                  <a:srgbClr val="8C8C8C"/>
                </a:solidFill>
              </a:defRPr>
            </a:pPr>
            <a:r>
              <a:t>Data Visualisation with Python and AI  |  </a:t>
            </a:r>
            <a:r>
              <a:rPr lang="en-SG"/>
              <a:t>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TextBox"/>
          <p:cNvSpPr txBox="1"/>
          <p:nvPr/>
        </p:nvSpPr>
        <p:spPr>
          <a:xfrm>
            <a:off x="594360" y="320040"/>
            <a:ext cx="10972800" cy="658368"/>
          </a:xfrm>
          <a:prstGeom prst="rect">
            <a:avLst/>
          </a:prstGeom>
          <a:noFill/>
        </p:spPr>
        <p:txBody>
          <a:bodyPr wrap="square">
            <a:spAutoFit/>
          </a:bodyPr>
          <a:lstStyle/>
          <a:p>
            <a:pPr>
              <a:defRPr sz="2800" b="1">
                <a:solidFill>
                  <a:srgbClr val="162D4E"/>
                </a:solidFill>
              </a:defRPr>
            </a:pPr>
            <a:r>
              <a:t>Choose Your Visualisation Carefully</a:t>
            </a:r>
          </a:p>
        </p:txBody>
      </p:sp>
      <p:sp>
        <p:nvSpPr>
          <p:cNvPr id="102" name="TextBox"/>
          <p:cNvSpPr txBox="1"/>
          <p:nvPr/>
        </p:nvSpPr>
        <p:spPr>
          <a:xfrm>
            <a:off x="621792" y="960120"/>
            <a:ext cx="10789920" cy="384048"/>
          </a:xfrm>
          <a:prstGeom prst="rect">
            <a:avLst/>
          </a:prstGeom>
          <a:noFill/>
        </p:spPr>
        <p:txBody>
          <a:bodyPr wrap="square">
            <a:spAutoFit/>
          </a:bodyPr>
          <a:lstStyle/>
          <a:p>
            <a:pPr>
              <a:defRPr sz="1500">
                <a:solidFill>
                  <a:srgbClr val="606060"/>
                </a:solidFill>
              </a:defRPr>
            </a:pPr>
            <a:r>
              <a:t>Too many points, or too many dimensions</a:t>
            </a:r>
          </a:p>
        </p:txBody>
      </p:sp>
      <p:sp>
        <p:nvSpPr>
          <p:cNvPr id="108" name="Card"/>
          <p:cNvSpPr/>
          <p:nvPr/>
        </p:nvSpPr>
        <p:spPr>
          <a:xfrm>
            <a:off x="3421380" y="1520000"/>
            <a:ext cx="5349240" cy="4650000"/>
          </a:xfrm>
          <a:prstGeom prst="roundRect">
            <a:avLst/>
          </a:prstGeom>
          <a:solidFill>
            <a:srgbClr val="FAFBFC"/>
          </a:solidFill>
          <a:ln w="12700">
            <a:solidFill>
              <a:srgbClr val="CDD2DA"/>
            </a:solidFill>
          </a:ln>
        </p:spPr>
        <p:txBody>
          <a:bodyPr rtlCol="0" anchor="ctr"/>
          <a:lstStyle/>
          <a:p>
            <a:pPr algn="ctr"/>
            <a:endParaRPr/>
          </a:p>
        </p:txBody>
      </p:sp>
      <p:pic>
        <p:nvPicPr>
          <p:cNvPr id="109" name="Chart"/>
          <p:cNvPicPr>
            <a:picLocks noChangeAspect="1"/>
          </p:cNvPicPr>
          <p:nvPr/>
        </p:nvPicPr>
        <p:blipFill>
          <a:blip r:embed="rId3"/>
          <a:stretch>
            <a:fillRect/>
          </a:stretch>
        </p:blipFill>
        <p:spPr>
          <a:xfrm>
            <a:off x="3671380" y="1790000"/>
            <a:ext cx="4849240" cy="2300000"/>
          </a:xfrm>
          <a:prstGeom prst="rect">
            <a:avLst/>
          </a:prstGeom>
        </p:spPr>
      </p:pic>
      <p:sp>
        <p:nvSpPr>
          <p:cNvPr id="110" name="TextBox"/>
          <p:cNvSpPr txBox="1"/>
          <p:nvPr/>
        </p:nvSpPr>
        <p:spPr>
          <a:xfrm>
            <a:off x="3571380" y="4160000"/>
            <a:ext cx="5049240" cy="362568"/>
          </a:xfrm>
          <a:prstGeom prst="rect">
            <a:avLst/>
          </a:prstGeom>
          <a:noFill/>
        </p:spPr>
        <p:txBody>
          <a:bodyPr wrap="square">
            <a:normAutofit/>
          </a:bodyPr>
          <a:lstStyle/>
          <a:p>
            <a:pPr>
              <a:defRPr sz="1600" b="1">
                <a:solidFill>
                  <a:srgbClr val="2F69B4"/>
                </a:solidFill>
              </a:defRPr>
            </a:pPr>
            <a:r>
              <a:t>3D Scatter</a:t>
            </a:r>
          </a:p>
        </p:txBody>
      </p:sp>
      <p:sp>
        <p:nvSpPr>
          <p:cNvPr id="111" name="TextBox"/>
          <p:cNvSpPr txBox="1"/>
          <p:nvPr/>
        </p:nvSpPr>
        <p:spPr>
          <a:xfrm>
            <a:off x="3571380" y="4550000"/>
            <a:ext cx="5049240" cy="560000"/>
          </a:xfrm>
          <a:prstGeom prst="rect">
            <a:avLst/>
          </a:prstGeom>
          <a:noFill/>
        </p:spPr>
        <p:txBody>
          <a:bodyPr wrap="square">
            <a:spAutoFit/>
          </a:bodyPr>
          <a:lstStyle/>
          <a:p>
            <a:pPr>
              <a:defRPr sz="1150">
                <a:solidFill>
                  <a:srgbClr val="232323"/>
                </a:solidFill>
              </a:defRPr>
            </a:pPr>
            <a:r>
              <a:t>Best for exploring a third numeric axis. Rarely the best choice for a report.</a:t>
            </a:r>
          </a:p>
        </p:txBody>
      </p:sp>
      <p:sp>
        <p:nvSpPr>
          <p:cNvPr id="112" name="TextBox"/>
          <p:cNvSpPr txBox="1"/>
          <p:nvPr/>
        </p:nvSpPr>
        <p:spPr>
          <a:xfrm>
            <a:off x="3571380" y="5130000"/>
            <a:ext cx="5049240" cy="900000"/>
          </a:xfrm>
          <a:prstGeom prst="rect">
            <a:avLst/>
          </a:prstGeom>
          <a:noFill/>
        </p:spPr>
        <p:txBody>
          <a:bodyPr wrap="square">
            <a:spAutoFit/>
          </a:bodyPr>
          <a:lstStyle/>
          <a:p>
            <a:pPr>
              <a:defRPr sz="1150" b="1">
                <a:solidFill>
                  <a:srgbClr val="2A9688"/>
                </a:solidFill>
              </a:defRPr>
            </a:pPr>
            <a:r>
              <a:t>Sample scenarios</a:t>
            </a:r>
          </a:p>
          <a:p>
            <a:pPr>
              <a:spcBef>
                <a:spcPts val="200"/>
              </a:spcBef>
              <a:defRPr sz="1150">
                <a:solidFill>
                  <a:srgbClr val="3A3A3A"/>
                </a:solidFill>
              </a:defRPr>
            </a:pPr>
            <a:r>
              <a:t>-  Budget, revenue and rating together</a:t>
            </a:r>
          </a:p>
          <a:p>
            <a:pPr>
              <a:spcBef>
                <a:spcPts val="200"/>
              </a:spcBef>
              <a:defRPr sz="1150">
                <a:solidFill>
                  <a:srgbClr val="3A3A3A"/>
                </a:solidFill>
              </a:defRPr>
            </a:pPr>
            <a:r>
              <a:t>-  Comparing three sensor readings</a:t>
            </a:r>
          </a:p>
        </p:txBody>
      </p:sp>
      <p:sp>
        <p:nvSpPr>
          <p:cNvPr id="113" name="TextBox"/>
          <p:cNvSpPr txBox="1"/>
          <p:nvPr/>
        </p:nvSpPr>
        <p:spPr>
          <a:xfrm>
            <a:off x="594360" y="6473952"/>
            <a:ext cx="10972800" cy="228600"/>
          </a:xfrm>
          <a:prstGeom prst="rect">
            <a:avLst/>
          </a:prstGeom>
          <a:noFill/>
        </p:spPr>
        <p:txBody>
          <a:bodyPr wrap="square">
            <a:spAutoFit/>
          </a:bodyPr>
          <a:lstStyle/>
          <a:p>
            <a:pPr algn="r">
              <a:defRPr sz="850">
                <a:solidFill>
                  <a:srgbClr val="8C8C8C"/>
                </a:solidFill>
              </a:defRPr>
            </a:pPr>
            <a:r>
              <a:t>Data Visualisation with Python and AI  |  </a:t>
            </a:r>
            <a:r>
              <a:rPr lang="en-SG"/>
              <a:t>14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TextBox"/>
          <p:cNvSpPr txBox="1"/>
          <p:nvPr/>
        </p:nvSpPr>
        <p:spPr>
          <a:xfrm>
            <a:off x="594360" y="320040"/>
            <a:ext cx="10972800" cy="658368"/>
          </a:xfrm>
          <a:prstGeom prst="rect">
            <a:avLst/>
          </a:prstGeom>
          <a:noFill/>
        </p:spPr>
        <p:txBody>
          <a:bodyPr wrap="square">
            <a:spAutoFit/>
          </a:bodyPr>
          <a:lstStyle/>
          <a:p>
            <a:pPr>
              <a:defRPr sz="2800" b="1">
                <a:solidFill>
                  <a:srgbClr val="162D4E"/>
                </a:solidFill>
              </a:defRPr>
            </a:pPr>
            <a:r>
              <a:t>Choose Your Visualisation Carefully</a:t>
            </a:r>
          </a:p>
        </p:txBody>
      </p:sp>
      <p:sp>
        <p:nvSpPr>
          <p:cNvPr id="102" name="TextBox"/>
          <p:cNvSpPr txBox="1"/>
          <p:nvPr/>
        </p:nvSpPr>
        <p:spPr>
          <a:xfrm>
            <a:off x="621792" y="960120"/>
            <a:ext cx="10789920" cy="384048"/>
          </a:xfrm>
          <a:prstGeom prst="rect">
            <a:avLst/>
          </a:prstGeom>
          <a:noFill/>
        </p:spPr>
        <p:txBody>
          <a:bodyPr wrap="square">
            <a:spAutoFit/>
          </a:bodyPr>
          <a:lstStyle/>
          <a:p>
            <a:pPr>
              <a:defRPr sz="1500">
                <a:solidFill>
                  <a:srgbClr val="606060"/>
                </a:solidFill>
              </a:defRPr>
            </a:pPr>
            <a:r>
              <a:t>Text data, and charts you can explore</a:t>
            </a:r>
          </a:p>
        </p:txBody>
      </p:sp>
      <p:sp>
        <p:nvSpPr>
          <p:cNvPr id="103" name="Card"/>
          <p:cNvSpPr/>
          <p:nvPr/>
        </p:nvSpPr>
        <p:spPr>
          <a:xfrm>
            <a:off x="594360" y="1450000"/>
            <a:ext cx="5349240" cy="4650000"/>
          </a:xfrm>
          <a:prstGeom prst="roundRect">
            <a:avLst/>
          </a:prstGeom>
          <a:solidFill>
            <a:srgbClr val="FAFBFC"/>
          </a:solidFill>
          <a:ln w="12700">
            <a:solidFill>
              <a:srgbClr val="CDD2DA"/>
            </a:solidFill>
          </a:ln>
        </p:spPr>
        <p:txBody>
          <a:bodyPr rtlCol="0" anchor="ctr"/>
          <a:lstStyle/>
          <a:p>
            <a:pPr algn="ctr"/>
            <a:endParaRPr/>
          </a:p>
        </p:txBody>
      </p:sp>
      <p:pic>
        <p:nvPicPr>
          <p:cNvPr id="104" name="Chart"/>
          <p:cNvPicPr>
            <a:picLocks noChangeAspect="1"/>
          </p:cNvPicPr>
          <p:nvPr/>
        </p:nvPicPr>
        <p:blipFill>
          <a:blip r:embed="rId3"/>
          <a:stretch>
            <a:fillRect/>
          </a:stretch>
        </p:blipFill>
        <p:spPr>
          <a:xfrm>
            <a:off x="844360" y="1720000"/>
            <a:ext cx="4849240" cy="2300000"/>
          </a:xfrm>
          <a:prstGeom prst="rect">
            <a:avLst/>
          </a:prstGeom>
        </p:spPr>
      </p:pic>
      <p:sp>
        <p:nvSpPr>
          <p:cNvPr id="105" name="TextBox"/>
          <p:cNvSpPr txBox="1"/>
          <p:nvPr/>
        </p:nvSpPr>
        <p:spPr>
          <a:xfrm>
            <a:off x="744360" y="4090000"/>
            <a:ext cx="5049240" cy="362568"/>
          </a:xfrm>
          <a:prstGeom prst="rect">
            <a:avLst/>
          </a:prstGeom>
          <a:noFill/>
        </p:spPr>
        <p:txBody>
          <a:bodyPr wrap="square">
            <a:normAutofit/>
          </a:bodyPr>
          <a:lstStyle/>
          <a:p>
            <a:pPr>
              <a:defRPr sz="1600" b="1">
                <a:solidFill>
                  <a:srgbClr val="2F69B4"/>
                </a:solidFill>
              </a:defRPr>
            </a:pPr>
            <a:r>
              <a:t>Word Cloud</a:t>
            </a:r>
          </a:p>
        </p:txBody>
      </p:sp>
      <p:sp>
        <p:nvSpPr>
          <p:cNvPr id="106" name="TextBox"/>
          <p:cNvSpPr txBox="1"/>
          <p:nvPr/>
        </p:nvSpPr>
        <p:spPr>
          <a:xfrm>
            <a:off x="744360" y="4480000"/>
            <a:ext cx="5049240" cy="560000"/>
          </a:xfrm>
          <a:prstGeom prst="rect">
            <a:avLst/>
          </a:prstGeom>
          <a:noFill/>
        </p:spPr>
        <p:txBody>
          <a:bodyPr wrap="square">
            <a:spAutoFit/>
          </a:bodyPr>
          <a:lstStyle/>
          <a:p>
            <a:pPr>
              <a:defRPr sz="1150">
                <a:solidFill>
                  <a:srgbClr val="232323"/>
                </a:solidFill>
              </a:defRPr>
            </a:pPr>
            <a:r>
              <a:t>Best for a quick feel for which words recur in free text. Size shows frequency, not importance.</a:t>
            </a:r>
          </a:p>
        </p:txBody>
      </p:sp>
      <p:sp>
        <p:nvSpPr>
          <p:cNvPr id="107" name="TextBox"/>
          <p:cNvSpPr txBox="1"/>
          <p:nvPr/>
        </p:nvSpPr>
        <p:spPr>
          <a:xfrm>
            <a:off x="744360" y="5060000"/>
            <a:ext cx="5049240" cy="900000"/>
          </a:xfrm>
          <a:prstGeom prst="rect">
            <a:avLst/>
          </a:prstGeom>
          <a:noFill/>
        </p:spPr>
        <p:txBody>
          <a:bodyPr wrap="square">
            <a:spAutoFit/>
          </a:bodyPr>
          <a:lstStyle/>
          <a:p>
            <a:pPr>
              <a:defRPr sz="1150" b="1">
                <a:solidFill>
                  <a:srgbClr val="2A9688"/>
                </a:solidFill>
              </a:defRPr>
            </a:pPr>
            <a:r>
              <a:t>Sample scenarios</a:t>
            </a:r>
          </a:p>
          <a:p>
            <a:pPr>
              <a:spcBef>
                <a:spcPts val="200"/>
              </a:spcBef>
              <a:defRPr sz="1150">
                <a:solidFill>
                  <a:srgbClr val="3A3A3A"/>
                </a:solidFill>
              </a:defRPr>
            </a:pPr>
            <a:r>
              <a:t>-  Common words in movie overviews</a:t>
            </a:r>
          </a:p>
          <a:p>
            <a:pPr>
              <a:spcBef>
                <a:spcPts val="200"/>
              </a:spcBef>
              <a:defRPr sz="1150">
                <a:solidFill>
                  <a:srgbClr val="3A3A3A"/>
                </a:solidFill>
              </a:defRPr>
            </a:pPr>
            <a:r>
              <a:t>-  Themes in open-ended survey answers</a:t>
            </a:r>
          </a:p>
        </p:txBody>
      </p:sp>
      <p:sp>
        <p:nvSpPr>
          <p:cNvPr id="108" name="Card"/>
          <p:cNvSpPr/>
          <p:nvPr/>
        </p:nvSpPr>
        <p:spPr>
          <a:xfrm>
            <a:off x="6248400" y="1450000"/>
            <a:ext cx="5349240" cy="4650000"/>
          </a:xfrm>
          <a:prstGeom prst="roundRect">
            <a:avLst/>
          </a:prstGeom>
          <a:solidFill>
            <a:srgbClr val="FAFBFC"/>
          </a:solidFill>
          <a:ln w="12700">
            <a:solidFill>
              <a:srgbClr val="CDD2DA"/>
            </a:solidFill>
          </a:ln>
        </p:spPr>
        <p:txBody>
          <a:bodyPr rtlCol="0" anchor="ctr"/>
          <a:lstStyle/>
          <a:p>
            <a:pPr algn="ctr"/>
            <a:endParaRPr/>
          </a:p>
        </p:txBody>
      </p:sp>
      <p:pic>
        <p:nvPicPr>
          <p:cNvPr id="109" name="Chart"/>
          <p:cNvPicPr>
            <a:picLocks noChangeAspect="1"/>
          </p:cNvPicPr>
          <p:nvPr/>
        </p:nvPicPr>
        <p:blipFill>
          <a:blip r:embed="rId4"/>
          <a:stretch>
            <a:fillRect/>
          </a:stretch>
        </p:blipFill>
        <p:spPr>
          <a:xfrm>
            <a:off x="6498400" y="1720000"/>
            <a:ext cx="4849240" cy="2300000"/>
          </a:xfrm>
          <a:prstGeom prst="rect">
            <a:avLst/>
          </a:prstGeom>
        </p:spPr>
      </p:pic>
      <p:sp>
        <p:nvSpPr>
          <p:cNvPr id="110" name="TextBox"/>
          <p:cNvSpPr txBox="1"/>
          <p:nvPr/>
        </p:nvSpPr>
        <p:spPr>
          <a:xfrm>
            <a:off x="6398400" y="4090000"/>
            <a:ext cx="5049240" cy="362568"/>
          </a:xfrm>
          <a:prstGeom prst="rect">
            <a:avLst/>
          </a:prstGeom>
          <a:noFill/>
        </p:spPr>
        <p:txBody>
          <a:bodyPr wrap="square">
            <a:normAutofit/>
          </a:bodyPr>
          <a:lstStyle/>
          <a:p>
            <a:pPr>
              <a:defRPr sz="1600" b="1">
                <a:solidFill>
                  <a:srgbClr val="2F69B4"/>
                </a:solidFill>
              </a:defRPr>
            </a:pPr>
            <a:r>
              <a:t>Interactive Plotly Chart</a:t>
            </a:r>
          </a:p>
        </p:txBody>
      </p:sp>
      <p:sp>
        <p:nvSpPr>
          <p:cNvPr id="111" name="TextBox"/>
          <p:cNvSpPr txBox="1"/>
          <p:nvPr/>
        </p:nvSpPr>
        <p:spPr>
          <a:xfrm>
            <a:off x="6398400" y="4480000"/>
            <a:ext cx="5049240" cy="560000"/>
          </a:xfrm>
          <a:prstGeom prst="rect">
            <a:avLst/>
          </a:prstGeom>
          <a:noFill/>
        </p:spPr>
        <p:txBody>
          <a:bodyPr wrap="square">
            <a:spAutoFit/>
          </a:bodyPr>
          <a:lstStyle/>
          <a:p>
            <a:pPr>
              <a:defRPr sz="1150">
                <a:solidFill>
                  <a:srgbClr val="232323"/>
                </a:solidFill>
              </a:defRPr>
            </a:pPr>
            <a:r>
              <a:t>Best for exploring rather than presenting: hover, zoom and identify single cases.</a:t>
            </a:r>
          </a:p>
        </p:txBody>
      </p:sp>
      <p:sp>
        <p:nvSpPr>
          <p:cNvPr id="112" name="TextBox"/>
          <p:cNvSpPr txBox="1"/>
          <p:nvPr/>
        </p:nvSpPr>
        <p:spPr>
          <a:xfrm>
            <a:off x="6398400" y="5060000"/>
            <a:ext cx="5049240" cy="900000"/>
          </a:xfrm>
          <a:prstGeom prst="rect">
            <a:avLst/>
          </a:prstGeom>
          <a:noFill/>
        </p:spPr>
        <p:txBody>
          <a:bodyPr wrap="square">
            <a:spAutoFit/>
          </a:bodyPr>
          <a:lstStyle/>
          <a:p>
            <a:pPr>
              <a:defRPr sz="1150" b="1">
                <a:solidFill>
                  <a:srgbClr val="2A9688"/>
                </a:solidFill>
              </a:defRPr>
            </a:pPr>
            <a:r>
              <a:t>Sample scenarios</a:t>
            </a:r>
          </a:p>
          <a:p>
            <a:pPr>
              <a:spcBef>
                <a:spcPts val="200"/>
              </a:spcBef>
              <a:defRPr sz="1150">
                <a:solidFill>
                  <a:srgbClr val="3A3A3A"/>
                </a:solidFill>
              </a:defRPr>
            </a:pPr>
            <a:r>
              <a:t>-  Finding the hidden-gem films</a:t>
            </a:r>
          </a:p>
          <a:p>
            <a:pPr>
              <a:spcBef>
                <a:spcPts val="200"/>
              </a:spcBef>
              <a:defRPr sz="1150">
                <a:solidFill>
                  <a:srgbClr val="3A3A3A"/>
                </a:solidFill>
              </a:defRPr>
            </a:pPr>
            <a:r>
              <a:t>-  Letting readers explore the data themselves</a:t>
            </a:r>
          </a:p>
        </p:txBody>
      </p:sp>
      <p:sp>
        <p:nvSpPr>
          <p:cNvPr id="113" name="TextBox"/>
          <p:cNvSpPr txBox="1"/>
          <p:nvPr/>
        </p:nvSpPr>
        <p:spPr>
          <a:xfrm>
            <a:off x="594360" y="6473952"/>
            <a:ext cx="10972800" cy="228600"/>
          </a:xfrm>
          <a:prstGeom prst="rect">
            <a:avLst/>
          </a:prstGeom>
          <a:noFill/>
        </p:spPr>
        <p:txBody>
          <a:bodyPr wrap="square">
            <a:spAutoFit/>
          </a:bodyPr>
          <a:lstStyle/>
          <a:p>
            <a:pPr algn="r">
              <a:defRPr sz="850">
                <a:solidFill>
                  <a:srgbClr val="8C8C8C"/>
                </a:solidFill>
              </a:defRPr>
            </a:pPr>
            <a:r>
              <a:t>Data Visualisation with Python and AI  |  </a:t>
            </a:r>
            <a:r>
              <a:rPr lang="en-SG"/>
              <a:t>15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8F8F4"/>
        </a:solidFill>
        <a:effectLst/>
      </p:bgPr>
    </p:bg>
    <p:spTree>
      <p:nvGrpSpPr>
        <p:cNvPr id="1" name=""/>
        <p:cNvGrpSpPr/>
        <p:nvPr/>
      </p:nvGrpSpPr>
      <p:grpSpPr>
        <a:xfrm>
          <a:off x="0" y="0"/>
          <a:ext cx="0" cy="0"/>
          <a:chOff x="0" y="0"/>
          <a:chExt cx="0" cy="0"/>
        </a:xfrm>
      </p:grpSpPr>
      <p:sp>
        <p:nvSpPr>
          <p:cNvPr id="2" name="TextBox 1"/>
          <p:cNvSpPr txBox="1"/>
          <p:nvPr/>
        </p:nvSpPr>
        <p:spPr>
          <a:xfrm>
            <a:off x="822960" y="2194560"/>
            <a:ext cx="10515600" cy="731520"/>
          </a:xfrm>
          <a:prstGeom prst="rect">
            <a:avLst/>
          </a:prstGeom>
          <a:noFill/>
        </p:spPr>
        <p:txBody>
          <a:bodyPr wrap="square">
            <a:spAutoFit/>
          </a:bodyPr>
          <a:lstStyle/>
          <a:p>
            <a:pPr algn="ctr">
              <a:defRPr sz="3400" b="1">
                <a:solidFill>
                  <a:srgbClr val="162D4E"/>
                </a:solidFill>
              </a:defRPr>
            </a:pPr>
            <a:r>
              <a:t>Part 2</a:t>
            </a:r>
          </a:p>
        </p:txBody>
      </p:sp>
      <p:sp>
        <p:nvSpPr>
          <p:cNvPr id="3" name="TextBox 2"/>
          <p:cNvSpPr txBox="1"/>
          <p:nvPr/>
        </p:nvSpPr>
        <p:spPr>
          <a:xfrm>
            <a:off x="1737360" y="2971800"/>
            <a:ext cx="8686800" cy="640080"/>
          </a:xfrm>
          <a:prstGeom prst="rect">
            <a:avLst/>
          </a:prstGeom>
          <a:noFill/>
        </p:spPr>
        <p:txBody>
          <a:bodyPr wrap="square">
            <a:spAutoFit/>
          </a:bodyPr>
          <a:lstStyle/>
          <a:p>
            <a:pPr algn="ctr">
              <a:defRPr sz="1900" b="0">
                <a:solidFill>
                  <a:srgbClr val="606060"/>
                </a:solidFill>
              </a:defRPr>
            </a:pPr>
            <a:r>
              <a:t>Use AI as a visualisation partner — not a replacement for learning</a:t>
            </a:r>
          </a:p>
        </p:txBody>
      </p:sp>
      <p:sp>
        <p:nvSpPr>
          <p:cNvPr id="4" name="TextBox 3"/>
          <p:cNvSpPr txBox="1"/>
          <p:nvPr/>
        </p:nvSpPr>
        <p:spPr>
          <a:xfrm>
            <a:off x="9457288" y="6473952"/>
            <a:ext cx="2109872" cy="223138"/>
          </a:xfrm>
          <a:prstGeom prst="rect">
            <a:avLst/>
          </a:prstGeom>
          <a:noFill/>
        </p:spPr>
        <p:txBody>
          <a:bodyPr wrap="none">
            <a:spAutoFit/>
          </a:bodyPr>
          <a:lstStyle/>
          <a:p>
            <a:pPr algn="r">
              <a:defRPr sz="850">
                <a:solidFill>
                  <a:srgbClr val="8C8C8C"/>
                </a:solidFill>
              </a:defRPr>
            </a:pPr>
            <a:r>
              <a:t>Data Visualisation with Python and AI  |  </a:t>
            </a:r>
            <a:r>
              <a:rPr lang="en-SG"/>
              <a:t>16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658368"/>
          </a:xfrm>
          <a:prstGeom prst="rect">
            <a:avLst/>
          </a:prstGeom>
          <a:noFill/>
        </p:spPr>
        <p:txBody>
          <a:bodyPr wrap="none">
            <a:spAutoFit/>
          </a:bodyPr>
          <a:lstStyle/>
          <a:p>
            <a:pPr>
              <a:defRPr sz="3000" b="1">
                <a:solidFill>
                  <a:srgbClr val="162D4E"/>
                </a:solidFill>
              </a:defRPr>
            </a:pPr>
            <a:r>
              <a:t>The Learning Loop We Will Use</a:t>
            </a:r>
          </a:p>
        </p:txBody>
      </p:sp>
      <p:sp>
        <p:nvSpPr>
          <p:cNvPr id="3" name="TextBox 2"/>
          <p:cNvSpPr txBox="1"/>
          <p:nvPr/>
        </p:nvSpPr>
        <p:spPr>
          <a:xfrm>
            <a:off x="621792" y="960120"/>
            <a:ext cx="10789920" cy="384048"/>
          </a:xfrm>
          <a:prstGeom prst="rect">
            <a:avLst/>
          </a:prstGeom>
          <a:noFill/>
        </p:spPr>
        <p:txBody>
          <a:bodyPr wrap="none">
            <a:spAutoFit/>
          </a:bodyPr>
          <a:lstStyle/>
          <a:p>
            <a:pPr>
              <a:defRPr sz="1500">
                <a:solidFill>
                  <a:srgbClr val="606060"/>
                </a:solidFill>
              </a:defRPr>
            </a:pPr>
            <a:r>
              <a:t>This is a Python workshop supported by AI — not an AI-only workshop.</a:t>
            </a:r>
          </a:p>
        </p:txBody>
      </p:sp>
      <p:sp>
        <p:nvSpPr>
          <p:cNvPr id="4" name="TextBox 3"/>
          <p:cNvSpPr txBox="1"/>
          <p:nvPr/>
        </p:nvSpPr>
        <p:spPr>
          <a:xfrm>
            <a:off x="594360" y="6473952"/>
            <a:ext cx="10972800" cy="228600"/>
          </a:xfrm>
          <a:prstGeom prst="rect">
            <a:avLst/>
          </a:prstGeom>
          <a:noFill/>
        </p:spPr>
        <p:txBody>
          <a:bodyPr wrap="none">
            <a:spAutoFit/>
          </a:bodyPr>
          <a:lstStyle/>
          <a:p>
            <a:pPr algn="r">
              <a:defRPr sz="850">
                <a:solidFill>
                  <a:srgbClr val="8C8C8C"/>
                </a:solidFill>
              </a:defRPr>
            </a:pPr>
            <a:r>
              <a:t>Data Visualisation with Python and AI  |  4</a:t>
            </a:r>
          </a:p>
        </p:txBody>
      </p:sp>
      <p:sp>
        <p:nvSpPr>
          <p:cNvPr id="5" name="Oval 4"/>
          <p:cNvSpPr/>
          <p:nvPr/>
        </p:nvSpPr>
        <p:spPr>
          <a:xfrm>
            <a:off x="1261872" y="1645920"/>
            <a:ext cx="685800" cy="685800"/>
          </a:xfrm>
          <a:prstGeom prst="ellipse">
            <a:avLst/>
          </a:prstGeom>
          <a:solidFill>
            <a:srgbClr val="2F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89888" y="1792224"/>
            <a:ext cx="457200" cy="274320"/>
          </a:xfrm>
          <a:prstGeom prst="rect">
            <a:avLst/>
          </a:prstGeom>
          <a:noFill/>
        </p:spPr>
        <p:txBody>
          <a:bodyPr wrap="square">
            <a:spAutoFit/>
          </a:bodyPr>
          <a:lstStyle/>
          <a:p>
            <a:pPr algn="ctr">
              <a:defRPr sz="1600" b="1">
                <a:solidFill>
                  <a:srgbClr val="FFFFFF"/>
                </a:solidFill>
              </a:defRPr>
            </a:pPr>
            <a:r>
              <a:t>1</a:t>
            </a:r>
          </a:p>
        </p:txBody>
      </p:sp>
      <p:sp>
        <p:nvSpPr>
          <p:cNvPr id="7" name="Rounded Rectangle 6"/>
          <p:cNvSpPr/>
          <p:nvPr/>
        </p:nvSpPr>
        <p:spPr>
          <a:xfrm>
            <a:off x="640080" y="2514600"/>
            <a:ext cx="1920240" cy="1234440"/>
          </a:xfrm>
          <a:prstGeom prst="roundRect">
            <a:avLst/>
          </a:prstGeom>
          <a:solidFill>
            <a:srgbClr val="F5F7FA"/>
          </a:solidFill>
          <a:ln w="15240">
            <a:solidFill>
              <a:srgbClr val="2F69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1" y="2624328"/>
            <a:ext cx="1591056" cy="1033272"/>
          </a:xfrm>
          <a:prstGeom prst="rect">
            <a:avLst/>
          </a:prstGeom>
          <a:noFill/>
        </p:spPr>
        <p:txBody>
          <a:bodyPr wrap="square">
            <a:spAutoFit/>
          </a:bodyPr>
          <a:lstStyle/>
          <a:p>
            <a:pPr>
              <a:defRPr sz="1600" b="1">
                <a:solidFill>
                  <a:srgbClr val="2F69B4"/>
                </a:solidFill>
              </a:defRPr>
            </a:pPr>
            <a:r>
              <a:t>Ask</a:t>
            </a:r>
          </a:p>
          <a:p>
            <a:pPr>
              <a:spcBef>
                <a:spcPts val="500"/>
              </a:spcBef>
              <a:defRPr sz="1200">
                <a:solidFill>
                  <a:srgbClr val="232323"/>
                </a:solidFill>
              </a:defRPr>
            </a:pPr>
            <a:r>
              <a:t>Start with a data question</a:t>
            </a:r>
          </a:p>
        </p:txBody>
      </p:sp>
      <p:cxnSp>
        <p:nvCxnSpPr>
          <p:cNvPr id="9" name="Connector 8"/>
          <p:cNvCxnSpPr/>
          <p:nvPr/>
        </p:nvCxnSpPr>
        <p:spPr>
          <a:xfrm>
            <a:off x="2606039" y="1993392"/>
            <a:ext cx="338329" cy="0"/>
          </a:xfrm>
          <a:prstGeom prst="line">
            <a:avLst/>
          </a:prstGeom>
          <a:ln w="25400">
            <a:solidFill>
              <a:srgbClr val="60606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3593592" y="1645920"/>
            <a:ext cx="685800" cy="685800"/>
          </a:xfrm>
          <a:prstGeom prst="ellipse">
            <a:avLst/>
          </a:prstGeom>
          <a:solidFill>
            <a:srgbClr val="2A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721608" y="1792224"/>
            <a:ext cx="457200" cy="274320"/>
          </a:xfrm>
          <a:prstGeom prst="rect">
            <a:avLst/>
          </a:prstGeom>
          <a:noFill/>
        </p:spPr>
        <p:txBody>
          <a:bodyPr wrap="square">
            <a:spAutoFit/>
          </a:bodyPr>
          <a:lstStyle/>
          <a:p>
            <a:pPr algn="ctr">
              <a:defRPr sz="1600" b="1">
                <a:solidFill>
                  <a:srgbClr val="FFFFFF"/>
                </a:solidFill>
              </a:defRPr>
            </a:pPr>
            <a:r>
              <a:t>2</a:t>
            </a:r>
          </a:p>
        </p:txBody>
      </p:sp>
      <p:sp>
        <p:nvSpPr>
          <p:cNvPr id="12" name="Rounded Rectangle 11"/>
          <p:cNvSpPr/>
          <p:nvPr/>
        </p:nvSpPr>
        <p:spPr>
          <a:xfrm>
            <a:off x="2971800" y="2514600"/>
            <a:ext cx="1920240" cy="1234440"/>
          </a:xfrm>
          <a:prstGeom prst="roundRect">
            <a:avLst/>
          </a:prstGeom>
          <a:solidFill>
            <a:srgbClr val="F5F7FA"/>
          </a:solidFill>
          <a:ln w="15240">
            <a:solidFill>
              <a:srgbClr val="2A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136392" y="2624328"/>
            <a:ext cx="1591056" cy="1033272"/>
          </a:xfrm>
          <a:prstGeom prst="rect">
            <a:avLst/>
          </a:prstGeom>
          <a:noFill/>
        </p:spPr>
        <p:txBody>
          <a:bodyPr wrap="square">
            <a:spAutoFit/>
          </a:bodyPr>
          <a:lstStyle/>
          <a:p>
            <a:pPr>
              <a:defRPr sz="1600" b="1">
                <a:solidFill>
                  <a:srgbClr val="2A9688"/>
                </a:solidFill>
              </a:defRPr>
            </a:pPr>
            <a:r>
              <a:t>Code</a:t>
            </a:r>
          </a:p>
          <a:p>
            <a:pPr>
              <a:spcBef>
                <a:spcPts val="500"/>
              </a:spcBef>
              <a:defRPr sz="1200">
                <a:solidFill>
                  <a:srgbClr val="232323"/>
                </a:solidFill>
              </a:defRPr>
            </a:pPr>
            <a:r>
              <a:t>Study the Python script</a:t>
            </a:r>
          </a:p>
        </p:txBody>
      </p:sp>
      <p:cxnSp>
        <p:nvCxnSpPr>
          <p:cNvPr id="14" name="Connector 13"/>
          <p:cNvCxnSpPr/>
          <p:nvPr/>
        </p:nvCxnSpPr>
        <p:spPr>
          <a:xfrm>
            <a:off x="4937760" y="1993392"/>
            <a:ext cx="338328" cy="0"/>
          </a:xfrm>
          <a:prstGeom prst="line">
            <a:avLst/>
          </a:prstGeom>
          <a:ln w="25400">
            <a:solidFill>
              <a:srgbClr val="606060"/>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5925312" y="1645920"/>
            <a:ext cx="685800" cy="685800"/>
          </a:xfrm>
          <a:prstGeom prst="ellipse">
            <a:avLst/>
          </a:prstGeom>
          <a:solidFill>
            <a:srgbClr val="E88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053328" y="1792224"/>
            <a:ext cx="457200" cy="274320"/>
          </a:xfrm>
          <a:prstGeom prst="rect">
            <a:avLst/>
          </a:prstGeom>
          <a:noFill/>
        </p:spPr>
        <p:txBody>
          <a:bodyPr wrap="square">
            <a:spAutoFit/>
          </a:bodyPr>
          <a:lstStyle/>
          <a:p>
            <a:pPr algn="ctr">
              <a:defRPr sz="1600" b="1">
                <a:solidFill>
                  <a:srgbClr val="FFFFFF"/>
                </a:solidFill>
              </a:defRPr>
            </a:pPr>
            <a:r>
              <a:t>3</a:t>
            </a:r>
          </a:p>
        </p:txBody>
      </p:sp>
      <p:sp>
        <p:nvSpPr>
          <p:cNvPr id="17" name="Rounded Rectangle 16"/>
          <p:cNvSpPr/>
          <p:nvPr/>
        </p:nvSpPr>
        <p:spPr>
          <a:xfrm>
            <a:off x="5303520" y="2514600"/>
            <a:ext cx="1920240" cy="1234440"/>
          </a:xfrm>
          <a:prstGeom prst="roundRect">
            <a:avLst/>
          </a:prstGeom>
          <a:solidFill>
            <a:srgbClr val="F5F7FA"/>
          </a:solidFill>
          <a:ln w="15240">
            <a:solidFill>
              <a:srgbClr val="E88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68112" y="2624328"/>
            <a:ext cx="1591056" cy="1033272"/>
          </a:xfrm>
          <a:prstGeom prst="rect">
            <a:avLst/>
          </a:prstGeom>
          <a:noFill/>
        </p:spPr>
        <p:txBody>
          <a:bodyPr wrap="square">
            <a:spAutoFit/>
          </a:bodyPr>
          <a:lstStyle/>
          <a:p>
            <a:pPr>
              <a:defRPr sz="1600" b="1">
                <a:solidFill>
                  <a:srgbClr val="E88A2D"/>
                </a:solidFill>
              </a:defRPr>
            </a:pPr>
            <a:r>
              <a:t>See</a:t>
            </a:r>
          </a:p>
          <a:p>
            <a:pPr>
              <a:spcBef>
                <a:spcPts val="500"/>
              </a:spcBef>
              <a:defRPr sz="1200">
                <a:solidFill>
                  <a:srgbClr val="232323"/>
                </a:solidFill>
              </a:defRPr>
            </a:pPr>
            <a:r>
              <a:t>Run and interpret the chart</a:t>
            </a:r>
          </a:p>
        </p:txBody>
      </p:sp>
      <p:cxnSp>
        <p:nvCxnSpPr>
          <p:cNvPr id="19" name="Connector 18"/>
          <p:cNvCxnSpPr/>
          <p:nvPr/>
        </p:nvCxnSpPr>
        <p:spPr>
          <a:xfrm>
            <a:off x="7269479" y="1993392"/>
            <a:ext cx="338329" cy="0"/>
          </a:xfrm>
          <a:prstGeom prst="line">
            <a:avLst/>
          </a:prstGeom>
          <a:ln w="25400">
            <a:solidFill>
              <a:srgbClr val="60606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8257031" y="1645920"/>
            <a:ext cx="685800" cy="685800"/>
          </a:xfrm>
          <a:prstGeom prst="ellipse">
            <a:avLst/>
          </a:prstGeom>
          <a:solidFill>
            <a:srgbClr val="66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85048" y="1792224"/>
            <a:ext cx="457200" cy="274320"/>
          </a:xfrm>
          <a:prstGeom prst="rect">
            <a:avLst/>
          </a:prstGeom>
          <a:noFill/>
        </p:spPr>
        <p:txBody>
          <a:bodyPr wrap="square">
            <a:spAutoFit/>
          </a:bodyPr>
          <a:lstStyle/>
          <a:p>
            <a:pPr algn="ctr">
              <a:defRPr sz="1600" b="1">
                <a:solidFill>
                  <a:srgbClr val="FFFFFF"/>
                </a:solidFill>
              </a:defRPr>
            </a:pPr>
            <a:r>
              <a:t>4</a:t>
            </a:r>
          </a:p>
        </p:txBody>
      </p:sp>
      <p:sp>
        <p:nvSpPr>
          <p:cNvPr id="22" name="Rounded Rectangle 21"/>
          <p:cNvSpPr/>
          <p:nvPr/>
        </p:nvSpPr>
        <p:spPr>
          <a:xfrm>
            <a:off x="7635240" y="2514600"/>
            <a:ext cx="1920240" cy="1234440"/>
          </a:xfrm>
          <a:prstGeom prst="roundRect">
            <a:avLst/>
          </a:prstGeom>
          <a:solidFill>
            <a:srgbClr val="F5F7FA"/>
          </a:solidFill>
          <a:ln w="15240">
            <a:solidFill>
              <a:srgbClr val="665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99831" y="2624328"/>
            <a:ext cx="1591056" cy="1033272"/>
          </a:xfrm>
          <a:prstGeom prst="rect">
            <a:avLst/>
          </a:prstGeom>
          <a:noFill/>
        </p:spPr>
        <p:txBody>
          <a:bodyPr wrap="square">
            <a:spAutoFit/>
          </a:bodyPr>
          <a:lstStyle/>
          <a:p>
            <a:pPr>
              <a:defRPr sz="1600" b="1">
                <a:solidFill>
                  <a:srgbClr val="6656AA"/>
                </a:solidFill>
              </a:defRPr>
            </a:pPr>
            <a:r>
              <a:t>Prompt</a:t>
            </a:r>
          </a:p>
          <a:p>
            <a:pPr>
              <a:spcBef>
                <a:spcPts val="500"/>
              </a:spcBef>
              <a:defRPr sz="1200">
                <a:solidFill>
                  <a:srgbClr val="232323"/>
                </a:solidFill>
              </a:defRPr>
            </a:pPr>
            <a:r>
              <a:t>Use AI to explain or improve</a:t>
            </a:r>
          </a:p>
        </p:txBody>
      </p:sp>
      <p:cxnSp>
        <p:nvCxnSpPr>
          <p:cNvPr id="24" name="Connector 23"/>
          <p:cNvCxnSpPr/>
          <p:nvPr/>
        </p:nvCxnSpPr>
        <p:spPr>
          <a:xfrm>
            <a:off x="9601200" y="1993392"/>
            <a:ext cx="338328" cy="0"/>
          </a:xfrm>
          <a:prstGeom prst="line">
            <a:avLst/>
          </a:prstGeom>
          <a:ln w="25400">
            <a:solidFill>
              <a:srgbClr val="606060"/>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10588751" y="1645920"/>
            <a:ext cx="685800" cy="685800"/>
          </a:xfrm>
          <a:prstGeom prst="ellipse">
            <a:avLst/>
          </a:prstGeom>
          <a:solidFill>
            <a:srgbClr val="D24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716767" y="1792224"/>
            <a:ext cx="457200" cy="274320"/>
          </a:xfrm>
          <a:prstGeom prst="rect">
            <a:avLst/>
          </a:prstGeom>
          <a:noFill/>
        </p:spPr>
        <p:txBody>
          <a:bodyPr wrap="square">
            <a:spAutoFit/>
          </a:bodyPr>
          <a:lstStyle/>
          <a:p>
            <a:pPr algn="ctr">
              <a:defRPr sz="1600" b="1">
                <a:solidFill>
                  <a:srgbClr val="FFFFFF"/>
                </a:solidFill>
              </a:defRPr>
            </a:pPr>
            <a:r>
              <a:t>5</a:t>
            </a:r>
          </a:p>
        </p:txBody>
      </p:sp>
      <p:sp>
        <p:nvSpPr>
          <p:cNvPr id="27" name="Rounded Rectangle 26"/>
          <p:cNvSpPr/>
          <p:nvPr/>
        </p:nvSpPr>
        <p:spPr>
          <a:xfrm>
            <a:off x="9966959" y="2514600"/>
            <a:ext cx="1920240" cy="1234440"/>
          </a:xfrm>
          <a:prstGeom prst="roundRect">
            <a:avLst/>
          </a:prstGeom>
          <a:solidFill>
            <a:srgbClr val="F5F7FA"/>
          </a:solidFill>
          <a:ln w="15240">
            <a:solidFill>
              <a:srgbClr val="D24E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131551" y="2624328"/>
            <a:ext cx="1591056" cy="1033272"/>
          </a:xfrm>
          <a:prstGeom prst="rect">
            <a:avLst/>
          </a:prstGeom>
          <a:noFill/>
        </p:spPr>
        <p:txBody>
          <a:bodyPr wrap="square">
            <a:spAutoFit/>
          </a:bodyPr>
          <a:lstStyle/>
          <a:p>
            <a:pPr>
              <a:defRPr sz="1600" b="1">
                <a:solidFill>
                  <a:srgbClr val="D24E4E"/>
                </a:solidFill>
              </a:defRPr>
            </a:pPr>
            <a:r>
              <a:t>Compare</a:t>
            </a:r>
          </a:p>
          <a:p>
            <a:pPr>
              <a:spcBef>
                <a:spcPts val="500"/>
              </a:spcBef>
              <a:defRPr sz="1200">
                <a:solidFill>
                  <a:srgbClr val="232323"/>
                </a:solidFill>
              </a:defRPr>
            </a:pPr>
            <a:r>
              <a:t>Check Python vs AI output</a:t>
            </a:r>
          </a:p>
        </p:txBody>
      </p:sp>
      <p:sp>
        <p:nvSpPr>
          <p:cNvPr id="29" name="TextBox 28"/>
          <p:cNvSpPr txBox="1"/>
          <p:nvPr/>
        </p:nvSpPr>
        <p:spPr>
          <a:xfrm>
            <a:off x="1371600" y="4892040"/>
            <a:ext cx="9509760" cy="502920"/>
          </a:xfrm>
          <a:prstGeom prst="rect">
            <a:avLst/>
          </a:prstGeom>
          <a:noFill/>
        </p:spPr>
        <p:txBody>
          <a:bodyPr wrap="square">
            <a:spAutoFit/>
          </a:bodyPr>
          <a:lstStyle/>
          <a:p>
            <a:pPr algn="ctr">
              <a:defRPr sz="2600" b="1">
                <a:solidFill>
                  <a:srgbClr val="162D4E"/>
                </a:solidFill>
              </a:defRPr>
            </a:pPr>
            <a:r>
              <a:t>Our habit today: understand first, prompt second.</a:t>
            </a:r>
          </a:p>
        </p:txBody>
      </p:sp>
      <p:sp>
        <p:nvSpPr>
          <p:cNvPr id="113" name="TextBox"/>
          <p:cNvSpPr txBox="1"/>
          <p:nvPr/>
        </p:nvSpPr>
        <p:spPr>
          <a:xfrm>
            <a:off x="594360" y="6473952"/>
            <a:ext cx="10972800" cy="228600"/>
          </a:xfrm>
          <a:prstGeom prst="rect">
            <a:avLst/>
          </a:prstGeom>
          <a:noFill/>
        </p:spPr>
        <p:txBody>
          <a:bodyPr wrap="square">
            <a:spAutoFit/>
          </a:bodyPr>
          <a:lstStyle/>
          <a:p>
            <a:pPr algn="r">
              <a:defRPr sz="850">
                <a:solidFill>
                  <a:srgbClr val="8C8C8C"/>
                </a:solidFill>
              </a:defRPr>
            </a:pPr>
            <a:r>
              <a:t>Data Visualisation with Python and AI  |  </a:t>
            </a:r>
            <a:r>
              <a:rPr lang="en-SG"/>
              <a:t>17</a:t>
            </a:r>
            <a:endParaRPr/>
          </a:p>
        </p:txBody>
      </p:sp>
    </p:spTree>
    <p:extLst>
      <p:ext uri="{BB962C8B-B14F-4D97-AF65-F5344CB8AC3E}">
        <p14:creationId xmlns:p14="http://schemas.microsoft.com/office/powerpoint/2010/main" val="35876638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4E8"/>
        </a:solidFill>
        <a:effectLst/>
      </p:bgPr>
    </p:bg>
    <p:spTree>
      <p:nvGrpSpPr>
        <p:cNvPr id="1" name=""/>
        <p:cNvGrpSpPr/>
        <p:nvPr/>
      </p:nvGrpSpPr>
      <p:grpSpPr>
        <a:xfrm>
          <a:off x="0" y="0"/>
          <a:ext cx="0" cy="0"/>
          <a:chOff x="0" y="0"/>
          <a:chExt cx="0" cy="0"/>
        </a:xfrm>
      </p:grpSpPr>
      <p:sp>
        <p:nvSpPr>
          <p:cNvPr id="2" name="TextBox 1"/>
          <p:cNvSpPr txBox="1"/>
          <p:nvPr/>
        </p:nvSpPr>
        <p:spPr>
          <a:xfrm>
            <a:off x="822960" y="2194560"/>
            <a:ext cx="10515600" cy="731520"/>
          </a:xfrm>
          <a:prstGeom prst="rect">
            <a:avLst/>
          </a:prstGeom>
          <a:noFill/>
        </p:spPr>
        <p:txBody>
          <a:bodyPr wrap="square">
            <a:spAutoFit/>
          </a:bodyPr>
          <a:lstStyle/>
          <a:p>
            <a:pPr algn="ctr">
              <a:defRPr sz="3400" b="1">
                <a:solidFill>
                  <a:srgbClr val="162D4E"/>
                </a:solidFill>
              </a:defRPr>
            </a:pPr>
            <a:r>
              <a:t>Part 3</a:t>
            </a:r>
          </a:p>
        </p:txBody>
      </p:sp>
      <p:sp>
        <p:nvSpPr>
          <p:cNvPr id="3" name="TextBox 2"/>
          <p:cNvSpPr txBox="1"/>
          <p:nvPr/>
        </p:nvSpPr>
        <p:spPr>
          <a:xfrm>
            <a:off x="1737360" y="2971800"/>
            <a:ext cx="8686800" cy="640080"/>
          </a:xfrm>
          <a:prstGeom prst="rect">
            <a:avLst/>
          </a:prstGeom>
          <a:noFill/>
        </p:spPr>
        <p:txBody>
          <a:bodyPr wrap="square">
            <a:spAutoFit/>
          </a:bodyPr>
          <a:lstStyle/>
          <a:p>
            <a:pPr algn="ctr">
              <a:defRPr sz="1900" b="0">
                <a:solidFill>
                  <a:srgbClr val="606060"/>
                </a:solidFill>
              </a:defRPr>
            </a:pPr>
            <a:r>
              <a:t>Visualisation methods: Python first, AI second</a:t>
            </a:r>
          </a:p>
        </p:txBody>
      </p:sp>
      <p:sp>
        <p:nvSpPr>
          <p:cNvPr id="4" name="TextBox 3"/>
          <p:cNvSpPr txBox="1"/>
          <p:nvPr/>
        </p:nvSpPr>
        <p:spPr>
          <a:xfrm>
            <a:off x="9457288" y="6473952"/>
            <a:ext cx="2109872" cy="223138"/>
          </a:xfrm>
          <a:prstGeom prst="rect">
            <a:avLst/>
          </a:prstGeom>
          <a:noFill/>
        </p:spPr>
        <p:txBody>
          <a:bodyPr wrap="none">
            <a:spAutoFit/>
          </a:bodyPr>
          <a:lstStyle/>
          <a:p>
            <a:pPr algn="r">
              <a:defRPr sz="850">
                <a:solidFill>
                  <a:srgbClr val="8C8C8C"/>
                </a:solidFill>
              </a:defRPr>
            </a:pPr>
            <a:r>
              <a:t>Data Visualisation with Python and AI  |  </a:t>
            </a:r>
            <a:r>
              <a:rPr lang="en-SG"/>
              <a:t>18</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4702378" cy="612648"/>
          </a:xfrm>
          <a:prstGeom prst="rect">
            <a:avLst/>
          </a:prstGeom>
          <a:noFill/>
        </p:spPr>
        <p:txBody>
          <a:bodyPr wrap="none">
            <a:normAutofit/>
          </a:bodyPr>
          <a:lstStyle/>
          <a:p>
            <a:pPr>
              <a:defRPr sz="2800" b="1">
                <a:solidFill>
                  <a:srgbClr val="162D4E"/>
                </a:solidFill>
              </a:defRPr>
            </a:pPr>
            <a:r>
              <a:t>1. Histogram: What is normal?</a:t>
            </a:r>
            <a:endParaRPr lang="en-SG"/>
          </a:p>
        </p:txBody>
      </p:sp>
      <p:sp>
        <p:nvSpPr>
          <p:cNvPr id="3" name="TextBox 2"/>
          <p:cNvSpPr txBox="1"/>
          <p:nvPr/>
        </p:nvSpPr>
        <p:spPr>
          <a:xfrm>
            <a:off x="621792" y="960120"/>
            <a:ext cx="10789920" cy="384048"/>
          </a:xfrm>
          <a:prstGeom prst="rect">
            <a:avLst/>
          </a:prstGeom>
          <a:noFill/>
        </p:spPr>
        <p:txBody>
          <a:bodyPr wrap="none">
            <a:spAutoFit/>
          </a:bodyPr>
          <a:lstStyle/>
          <a:p>
            <a:pPr>
              <a:defRPr sz="1500">
                <a:solidFill>
                  <a:srgbClr val="606060"/>
                </a:solidFill>
              </a:defRPr>
            </a:pPr>
            <a:r>
              <a:t>Question: What is the distribution of movie ratings?</a:t>
            </a:r>
          </a:p>
        </p:txBody>
      </p:sp>
      <p:sp>
        <p:nvSpPr>
          <p:cNvPr id="4" name="TextBox 3"/>
          <p:cNvSpPr txBox="1"/>
          <p:nvPr/>
        </p:nvSpPr>
        <p:spPr>
          <a:xfrm>
            <a:off x="9457288" y="6473952"/>
            <a:ext cx="2109872" cy="223138"/>
          </a:xfrm>
          <a:prstGeom prst="rect">
            <a:avLst/>
          </a:prstGeom>
          <a:noFill/>
        </p:spPr>
        <p:txBody>
          <a:bodyPr wrap="none">
            <a:spAutoFit/>
          </a:bodyPr>
          <a:lstStyle/>
          <a:p>
            <a:pPr algn="r">
              <a:defRPr sz="850">
                <a:solidFill>
                  <a:srgbClr val="8C8C8C"/>
                </a:solidFill>
              </a:defRPr>
            </a:pPr>
            <a:r>
              <a:t>Data Visualisation with Python and AI  |  </a:t>
            </a:r>
            <a:r>
              <a:rPr lang="en-SG"/>
              <a:t>19</a:t>
            </a:r>
            <a:endParaRPr/>
          </a:p>
        </p:txBody>
      </p:sp>
      <p:sp>
        <p:nvSpPr>
          <p:cNvPr id="5" name="Rounded Rectangle 4"/>
          <p:cNvSpPr/>
          <p:nvPr/>
        </p:nvSpPr>
        <p:spPr>
          <a:xfrm>
            <a:off x="685800" y="1508760"/>
            <a:ext cx="2743200" cy="3108960"/>
          </a:xfrm>
          <a:prstGeom prst="roundRect">
            <a:avLst/>
          </a:prstGeom>
          <a:solidFill>
            <a:srgbClr val="F5F7FA"/>
          </a:solidFill>
          <a:ln w="15240">
            <a:solidFill>
              <a:srgbClr val="2F69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0392" y="1618488"/>
            <a:ext cx="2414016" cy="2907791"/>
          </a:xfrm>
          <a:prstGeom prst="rect">
            <a:avLst/>
          </a:prstGeom>
          <a:noFill/>
        </p:spPr>
        <p:txBody>
          <a:bodyPr wrap="square">
            <a:spAutoFit/>
          </a:bodyPr>
          <a:lstStyle/>
          <a:p>
            <a:pPr>
              <a:defRPr sz="1500" b="1">
                <a:solidFill>
                  <a:srgbClr val="2F69B4"/>
                </a:solidFill>
              </a:defRPr>
            </a:pPr>
            <a:r>
              <a:t>What this chart helps us see</a:t>
            </a:r>
          </a:p>
          <a:p>
            <a:pPr>
              <a:spcBef>
                <a:spcPts val="500"/>
              </a:spcBef>
              <a:defRPr sz="1400">
                <a:solidFill>
                  <a:srgbClr val="232323"/>
                </a:solidFill>
              </a:defRPr>
            </a:pPr>
            <a:r>
              <a:t>Look for: centre, spread, skew, unusual values</a:t>
            </a:r>
          </a:p>
        </p:txBody>
      </p:sp>
      <p:sp>
        <p:nvSpPr>
          <p:cNvPr id="7" name="Rectangle 6"/>
          <p:cNvSpPr/>
          <p:nvPr/>
        </p:nvSpPr>
        <p:spPr>
          <a:xfrm>
            <a:off x="1353312" y="4252874"/>
            <a:ext cx="210311" cy="364845"/>
          </a:xfrm>
          <a:prstGeom prst="rect">
            <a:avLst/>
          </a:prstGeom>
          <a:solidFill>
            <a:srgbClr val="2F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636776" y="4009644"/>
            <a:ext cx="210311" cy="608075"/>
          </a:xfrm>
          <a:prstGeom prst="rect">
            <a:avLst/>
          </a:prstGeom>
          <a:solidFill>
            <a:srgbClr val="2F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920239" y="3792474"/>
            <a:ext cx="210311" cy="825246"/>
          </a:xfrm>
          <a:prstGeom prst="rect">
            <a:avLst/>
          </a:prstGeom>
          <a:solidFill>
            <a:srgbClr val="2F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203703" y="4096511"/>
            <a:ext cx="210311" cy="521207"/>
          </a:xfrm>
          <a:prstGeom prst="rect">
            <a:avLst/>
          </a:prstGeom>
          <a:solidFill>
            <a:srgbClr val="2F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487168" y="4313682"/>
            <a:ext cx="210311" cy="304037"/>
          </a:xfrm>
          <a:prstGeom prst="rect">
            <a:avLst/>
          </a:prstGeom>
          <a:solidFill>
            <a:srgbClr val="2F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703320" y="1508760"/>
            <a:ext cx="4023360" cy="2350000"/>
          </a:xfrm>
          <a:prstGeom prst="roundRect">
            <a:avLst/>
          </a:prstGeom>
          <a:solidFill>
            <a:srgbClr val="FAFAFA"/>
          </a:solidFill>
          <a:ln>
            <a:solidFill>
              <a:srgbClr val="CDD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49624" y="1618488"/>
            <a:ext cx="3730752" cy="892552"/>
          </a:xfrm>
          <a:prstGeom prst="rect">
            <a:avLst/>
          </a:prstGeom>
          <a:noFill/>
        </p:spPr>
        <p:txBody>
          <a:bodyPr wrap="square">
            <a:spAutoFit/>
          </a:bodyPr>
          <a:lstStyle/>
          <a:p>
            <a:pPr>
              <a:defRPr sz="1000">
                <a:solidFill>
                  <a:srgbClr val="232323"/>
                </a:solidFill>
                <a:latin typeface="Consolas"/>
              </a:defRPr>
            </a:pPr>
            <a:r>
              <a:t>sns.histplot(data=df, x='vote_average', bins=30, kde=True)</a:t>
            </a:r>
            <a:endParaRPr lang="en-US"/>
          </a:p>
          <a:p>
            <a:pPr>
              <a:spcBef>
                <a:spcPts val="200"/>
              </a:spcBef>
              <a:defRPr sz="900">
                <a:solidFill>
                  <a:srgbClr val="3A3A3A"/>
                </a:solidFill>
              </a:defRPr>
            </a:pPr>
            <a:r>
              <a:rPr lang="en-US"/>
              <a:t>- bins=30 controls how ratings are grouped.</a:t>
            </a:r>
          </a:p>
          <a:p>
            <a:pPr>
              <a:spcBef>
                <a:spcPts val="200"/>
              </a:spcBef>
              <a:defRPr sz="900">
                <a:solidFill>
                  <a:srgbClr val="3A3A3A"/>
                </a:solidFill>
              </a:defRPr>
            </a:pPr>
            <a:r>
              <a:rPr lang="en-US"/>
              <a:t>- kde=True adds a smooth density curve.</a:t>
            </a:r>
          </a:p>
          <a:p>
            <a:pPr>
              <a:spcBef>
                <a:spcPts val="200"/>
              </a:spcBef>
              <a:defRPr sz="900">
                <a:solidFill>
                  <a:srgbClr val="3A3A3A"/>
                </a:solidFill>
              </a:defRPr>
            </a:pPr>
            <a:r>
              <a:rPr lang="en-US"/>
              <a:t>- Titles and axis labels are what make it readable.</a:t>
            </a:r>
          </a:p>
        </p:txBody>
      </p:sp>
      <p:sp>
        <p:nvSpPr>
          <p:cNvPr id="14" name="Rounded Rectangle 13"/>
          <p:cNvSpPr/>
          <p:nvPr/>
        </p:nvSpPr>
        <p:spPr>
          <a:xfrm>
            <a:off x="8001000" y="1508760"/>
            <a:ext cx="3520440" cy="2350000"/>
          </a:xfrm>
          <a:prstGeom prst="roundRect">
            <a:avLst/>
          </a:prstGeom>
          <a:solidFill>
            <a:srgbClr val="E8F8F4"/>
          </a:solidFill>
          <a:ln w="15240">
            <a:solidFill>
              <a:srgbClr val="2A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65592" y="1618488"/>
            <a:ext cx="3191256" cy="1719072"/>
          </a:xfrm>
          <a:prstGeom prst="rect">
            <a:avLst/>
          </a:prstGeom>
          <a:noFill/>
        </p:spPr>
        <p:txBody>
          <a:bodyPr wrap="square">
            <a:spAutoFit/>
          </a:bodyPr>
          <a:lstStyle/>
          <a:p>
            <a:pPr>
              <a:defRPr sz="1400" b="1">
                <a:solidFill>
                  <a:srgbClr val="2A9688"/>
                </a:solidFill>
              </a:defRPr>
            </a:pPr>
            <a:r>
              <a:t>AI prompt to try</a:t>
            </a:r>
          </a:p>
          <a:p>
            <a:pPr>
              <a:spcBef>
                <a:spcPts val="500"/>
              </a:spcBef>
              <a:defRPr sz="1200">
                <a:solidFill>
                  <a:srgbClr val="232323"/>
                </a:solidFill>
              </a:defRPr>
            </a:pPr>
            <a:r>
              <a:t>Use AI to recreate it and explain each line.</a:t>
            </a:r>
          </a:p>
        </p:txBody>
      </p:sp>
      <p:sp>
        <p:nvSpPr>
          <p:cNvPr id="16" name="Rounded Rectangle 15"/>
          <p:cNvSpPr/>
          <p:nvPr/>
        </p:nvSpPr>
        <p:spPr>
          <a:xfrm>
            <a:off x="3703320" y="3977639"/>
            <a:ext cx="7818120" cy="1051560"/>
          </a:xfrm>
          <a:prstGeom prst="roundRect">
            <a:avLst/>
          </a:prstGeom>
          <a:solidFill>
            <a:srgbClr val="FFF4E8"/>
          </a:solidFill>
          <a:ln w="15240">
            <a:solidFill>
              <a:srgbClr val="E88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867911" y="4087368"/>
            <a:ext cx="7488936" cy="850392"/>
          </a:xfrm>
          <a:prstGeom prst="rect">
            <a:avLst/>
          </a:prstGeom>
          <a:noFill/>
        </p:spPr>
        <p:txBody>
          <a:bodyPr wrap="square">
            <a:spAutoFit/>
          </a:bodyPr>
          <a:lstStyle/>
          <a:p>
            <a:pPr>
              <a:defRPr sz="1400" b="1">
                <a:solidFill>
                  <a:srgbClr val="E88A2D"/>
                </a:solidFill>
              </a:defRPr>
            </a:pPr>
            <a:r>
              <a:t>Student activity</a:t>
            </a:r>
          </a:p>
          <a:p>
            <a:pPr>
              <a:spcBef>
                <a:spcPts val="500"/>
              </a:spcBef>
              <a:defRPr sz="1200">
                <a:solidFill>
                  <a:srgbClr val="232323"/>
                </a:solidFill>
              </a:defRPr>
            </a:pPr>
            <a:r>
              <a:t>Run Python first → Try AI prompt → Compare outputs → Write one insight and one caution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5837752" cy="612648"/>
          </a:xfrm>
          <a:prstGeom prst="rect">
            <a:avLst/>
          </a:prstGeom>
          <a:noFill/>
        </p:spPr>
        <p:txBody>
          <a:bodyPr wrap="none">
            <a:normAutofit/>
          </a:bodyPr>
          <a:lstStyle/>
          <a:p>
            <a:pPr>
              <a:defRPr sz="2800" b="1">
                <a:solidFill>
                  <a:srgbClr val="162D4E"/>
                </a:solidFill>
              </a:defRPr>
            </a:pPr>
            <a:r>
              <a:t>2. Bar Chart: Which group stands out?</a:t>
            </a:r>
            <a:endParaRPr lang="en-SG"/>
          </a:p>
        </p:txBody>
      </p:sp>
      <p:sp>
        <p:nvSpPr>
          <p:cNvPr id="3" name="TextBox 2"/>
          <p:cNvSpPr txBox="1"/>
          <p:nvPr/>
        </p:nvSpPr>
        <p:spPr>
          <a:xfrm>
            <a:off x="621792" y="960120"/>
            <a:ext cx="10789920" cy="384048"/>
          </a:xfrm>
          <a:prstGeom prst="rect">
            <a:avLst/>
          </a:prstGeom>
          <a:noFill/>
        </p:spPr>
        <p:txBody>
          <a:bodyPr wrap="none">
            <a:spAutoFit/>
          </a:bodyPr>
          <a:lstStyle/>
          <a:p>
            <a:pPr>
              <a:defRPr sz="1500">
                <a:solidFill>
                  <a:srgbClr val="606060"/>
                </a:solidFill>
              </a:defRPr>
            </a:pPr>
            <a:r>
              <a:t>Question: Which genre has the highest average rating?</a:t>
            </a:r>
          </a:p>
        </p:txBody>
      </p:sp>
      <p:sp>
        <p:nvSpPr>
          <p:cNvPr id="4" name="TextBox 3"/>
          <p:cNvSpPr txBox="1"/>
          <p:nvPr/>
        </p:nvSpPr>
        <p:spPr>
          <a:xfrm>
            <a:off x="9457288" y="6473952"/>
            <a:ext cx="2109872" cy="223138"/>
          </a:xfrm>
          <a:prstGeom prst="rect">
            <a:avLst/>
          </a:prstGeom>
          <a:noFill/>
        </p:spPr>
        <p:txBody>
          <a:bodyPr wrap="none">
            <a:spAutoFit/>
          </a:bodyPr>
          <a:lstStyle/>
          <a:p>
            <a:pPr algn="r">
              <a:defRPr sz="850">
                <a:solidFill>
                  <a:srgbClr val="8C8C8C"/>
                </a:solidFill>
              </a:defRPr>
            </a:pPr>
            <a:r>
              <a:t>Data Visualisation with Python and AI  |  </a:t>
            </a:r>
            <a:r>
              <a:rPr lang="en-SG"/>
              <a:t>20</a:t>
            </a:r>
            <a:endParaRPr/>
          </a:p>
        </p:txBody>
      </p:sp>
      <p:sp>
        <p:nvSpPr>
          <p:cNvPr id="5" name="Rounded Rectangle 4"/>
          <p:cNvSpPr/>
          <p:nvPr/>
        </p:nvSpPr>
        <p:spPr>
          <a:xfrm>
            <a:off x="685800" y="1508760"/>
            <a:ext cx="2743200" cy="3108960"/>
          </a:xfrm>
          <a:prstGeom prst="roundRect">
            <a:avLst/>
          </a:prstGeom>
          <a:solidFill>
            <a:srgbClr val="F5F7FA"/>
          </a:solidFill>
          <a:ln w="15240">
            <a:solidFill>
              <a:srgbClr val="2A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0392" y="1618488"/>
            <a:ext cx="2414016" cy="2907791"/>
          </a:xfrm>
          <a:prstGeom prst="rect">
            <a:avLst/>
          </a:prstGeom>
          <a:noFill/>
        </p:spPr>
        <p:txBody>
          <a:bodyPr wrap="square">
            <a:spAutoFit/>
          </a:bodyPr>
          <a:lstStyle/>
          <a:p>
            <a:pPr>
              <a:defRPr sz="1500" b="1">
                <a:solidFill>
                  <a:srgbClr val="2A9688"/>
                </a:solidFill>
              </a:defRPr>
            </a:pPr>
            <a:r>
              <a:t>What this chart helps us see</a:t>
            </a:r>
          </a:p>
          <a:p>
            <a:pPr>
              <a:spcBef>
                <a:spcPts val="500"/>
              </a:spcBef>
              <a:defRPr sz="1400">
                <a:solidFill>
                  <a:srgbClr val="232323"/>
                </a:solidFill>
              </a:defRPr>
            </a:pPr>
            <a:r>
              <a:t>Activity: predict the top genre before running the code</a:t>
            </a:r>
          </a:p>
        </p:txBody>
      </p:sp>
      <p:sp>
        <p:nvSpPr>
          <p:cNvPr id="7" name="Rectangle 6"/>
          <p:cNvSpPr/>
          <p:nvPr/>
        </p:nvSpPr>
        <p:spPr>
          <a:xfrm>
            <a:off x="1353312" y="4252874"/>
            <a:ext cx="210311" cy="364845"/>
          </a:xfrm>
          <a:prstGeom prst="rect">
            <a:avLst/>
          </a:prstGeom>
          <a:solidFill>
            <a:srgbClr val="2A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636776" y="4009644"/>
            <a:ext cx="210311" cy="608075"/>
          </a:xfrm>
          <a:prstGeom prst="rect">
            <a:avLst/>
          </a:prstGeom>
          <a:solidFill>
            <a:srgbClr val="2A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920239" y="3792474"/>
            <a:ext cx="210311" cy="825246"/>
          </a:xfrm>
          <a:prstGeom prst="rect">
            <a:avLst/>
          </a:prstGeom>
          <a:solidFill>
            <a:srgbClr val="2A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203703" y="4096511"/>
            <a:ext cx="210311" cy="521207"/>
          </a:xfrm>
          <a:prstGeom prst="rect">
            <a:avLst/>
          </a:prstGeom>
          <a:solidFill>
            <a:srgbClr val="2A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487168" y="4313682"/>
            <a:ext cx="210311" cy="304037"/>
          </a:xfrm>
          <a:prstGeom prst="rect">
            <a:avLst/>
          </a:prstGeom>
          <a:solidFill>
            <a:srgbClr val="2A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703320" y="1508760"/>
            <a:ext cx="4023360" cy="2350000"/>
          </a:xfrm>
          <a:prstGeom prst="roundRect">
            <a:avLst/>
          </a:prstGeom>
          <a:solidFill>
            <a:srgbClr val="FAFAFA"/>
          </a:solidFill>
          <a:ln>
            <a:solidFill>
              <a:srgbClr val="CDD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49624" y="1618488"/>
            <a:ext cx="3730752" cy="1046440"/>
          </a:xfrm>
          <a:prstGeom prst="rect">
            <a:avLst/>
          </a:prstGeom>
          <a:noFill/>
        </p:spPr>
        <p:txBody>
          <a:bodyPr wrap="square">
            <a:spAutoFit/>
          </a:bodyPr>
          <a:lstStyle/>
          <a:p>
            <a:pPr>
              <a:defRPr sz="1000">
                <a:solidFill>
                  <a:srgbClr val="232323"/>
                </a:solidFill>
                <a:latin typeface="Consolas"/>
              </a:defRPr>
            </a:pPr>
            <a:r>
              <a:t>genre_ratings = df.groupby('primary_genre')['vote_average'].mean()</a:t>
            </a:r>
            <a:br/>
            <a:r>
              <a:t>genre_ratings.plot(kind='barh')</a:t>
            </a:r>
            <a:endParaRPr lang="en-US"/>
          </a:p>
          <a:p>
            <a:pPr>
              <a:spcBef>
                <a:spcPts val="200"/>
              </a:spcBef>
              <a:defRPr sz="900">
                <a:solidFill>
                  <a:srgbClr val="3A3A3A"/>
                </a:solidFill>
              </a:defRPr>
            </a:pPr>
            <a:r>
              <a:rPr lang="en-US"/>
              <a:t>- groupby + .mean() gives one average per genre.</a:t>
            </a:r>
          </a:p>
          <a:p>
            <a:pPr>
              <a:spcBef>
                <a:spcPts val="200"/>
              </a:spcBef>
              <a:defRPr sz="900">
                <a:solidFill>
                  <a:srgbClr val="3A3A3A"/>
                </a:solidFill>
              </a:defRPr>
            </a:pPr>
            <a:r>
              <a:rPr lang="en-US"/>
              <a:t>- sort_values() puts the bars in order.</a:t>
            </a:r>
          </a:p>
          <a:p>
            <a:pPr>
              <a:spcBef>
                <a:spcPts val="200"/>
              </a:spcBef>
              <a:defRPr sz="900">
                <a:solidFill>
                  <a:srgbClr val="3A3A3A"/>
                </a:solidFill>
              </a:defRPr>
            </a:pPr>
            <a:r>
              <a:rPr lang="en-US"/>
              <a:t>- kind='barh' draws horizontal bars, easier for long labels.</a:t>
            </a:r>
          </a:p>
        </p:txBody>
      </p:sp>
      <p:sp>
        <p:nvSpPr>
          <p:cNvPr id="14" name="Rounded Rectangle 13"/>
          <p:cNvSpPr/>
          <p:nvPr/>
        </p:nvSpPr>
        <p:spPr>
          <a:xfrm>
            <a:off x="8001000" y="1508760"/>
            <a:ext cx="3520440" cy="2350000"/>
          </a:xfrm>
          <a:prstGeom prst="roundRect">
            <a:avLst/>
          </a:prstGeom>
          <a:solidFill>
            <a:srgbClr val="E8F8F4"/>
          </a:solidFill>
          <a:ln w="15240">
            <a:solidFill>
              <a:srgbClr val="2A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65592" y="1618488"/>
            <a:ext cx="3191256" cy="1719072"/>
          </a:xfrm>
          <a:prstGeom prst="rect">
            <a:avLst/>
          </a:prstGeom>
          <a:noFill/>
        </p:spPr>
        <p:txBody>
          <a:bodyPr wrap="square">
            <a:spAutoFit/>
          </a:bodyPr>
          <a:lstStyle/>
          <a:p>
            <a:pPr>
              <a:defRPr sz="1400" b="1">
                <a:solidFill>
                  <a:srgbClr val="2A9688"/>
                </a:solidFill>
              </a:defRPr>
            </a:pPr>
            <a:r>
              <a:t>AI prompt to try</a:t>
            </a:r>
          </a:p>
          <a:p>
            <a:pPr>
              <a:spcBef>
                <a:spcPts val="500"/>
              </a:spcBef>
              <a:defRPr sz="1200">
                <a:solidFill>
                  <a:srgbClr val="232323"/>
                </a:solidFill>
              </a:defRPr>
            </a:pPr>
            <a:r>
              <a:t>Use AI to remake it in seaborn and add value labels.</a:t>
            </a:r>
          </a:p>
        </p:txBody>
      </p:sp>
      <p:sp>
        <p:nvSpPr>
          <p:cNvPr id="16" name="Rounded Rectangle 15"/>
          <p:cNvSpPr/>
          <p:nvPr/>
        </p:nvSpPr>
        <p:spPr>
          <a:xfrm>
            <a:off x="3703320" y="3977639"/>
            <a:ext cx="7818120" cy="1051560"/>
          </a:xfrm>
          <a:prstGeom prst="roundRect">
            <a:avLst/>
          </a:prstGeom>
          <a:solidFill>
            <a:srgbClr val="FFF4E8"/>
          </a:solidFill>
          <a:ln w="15240">
            <a:solidFill>
              <a:srgbClr val="E88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867911" y="4087368"/>
            <a:ext cx="7488936" cy="850392"/>
          </a:xfrm>
          <a:prstGeom prst="rect">
            <a:avLst/>
          </a:prstGeom>
          <a:noFill/>
        </p:spPr>
        <p:txBody>
          <a:bodyPr wrap="square">
            <a:spAutoFit/>
          </a:bodyPr>
          <a:lstStyle/>
          <a:p>
            <a:pPr>
              <a:defRPr sz="1400" b="1">
                <a:solidFill>
                  <a:srgbClr val="E88A2D"/>
                </a:solidFill>
              </a:defRPr>
            </a:pPr>
            <a:r>
              <a:t>Student activity</a:t>
            </a:r>
          </a:p>
          <a:p>
            <a:pPr>
              <a:spcBef>
                <a:spcPts val="500"/>
              </a:spcBef>
              <a:defRPr sz="1200">
                <a:solidFill>
                  <a:srgbClr val="232323"/>
                </a:solidFill>
              </a:defRPr>
            </a:pPr>
            <a:r>
              <a:t>Run Python first → Try AI prompt → Compare outputs → Write one insight and one caution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658368"/>
          </a:xfrm>
          <a:prstGeom prst="rect">
            <a:avLst/>
          </a:prstGeom>
          <a:noFill/>
        </p:spPr>
        <p:txBody>
          <a:bodyPr wrap="none">
            <a:spAutoFit/>
          </a:bodyPr>
          <a:lstStyle/>
          <a:p>
            <a:pPr>
              <a:defRPr sz="2800" b="1">
                <a:solidFill>
                  <a:srgbClr val="162D4E"/>
                </a:solidFill>
              </a:defRPr>
            </a:pPr>
            <a:r>
              <a:t>3. Treemap: How is the whole divided?</a:t>
            </a:r>
          </a:p>
        </p:txBody>
      </p:sp>
      <p:sp>
        <p:nvSpPr>
          <p:cNvPr id="3" name="TextBox 2"/>
          <p:cNvSpPr txBox="1"/>
          <p:nvPr/>
        </p:nvSpPr>
        <p:spPr>
          <a:xfrm>
            <a:off x="621792" y="960120"/>
            <a:ext cx="10789920" cy="384048"/>
          </a:xfrm>
          <a:prstGeom prst="rect">
            <a:avLst/>
          </a:prstGeom>
          <a:noFill/>
        </p:spPr>
        <p:txBody>
          <a:bodyPr wrap="none">
            <a:spAutoFit/>
          </a:bodyPr>
          <a:lstStyle/>
          <a:p>
            <a:pPr>
              <a:defRPr sz="1500">
                <a:solidFill>
                  <a:srgbClr val="606060"/>
                </a:solidFill>
              </a:defRPr>
            </a:pPr>
            <a:r>
              <a:t>Question: How are movies distributed across genres?</a:t>
            </a:r>
          </a:p>
        </p:txBody>
      </p:sp>
      <p:sp>
        <p:nvSpPr>
          <p:cNvPr id="4" name="TextBox 3"/>
          <p:cNvSpPr txBox="1"/>
          <p:nvPr/>
        </p:nvSpPr>
        <p:spPr>
          <a:xfrm>
            <a:off x="9457288" y="6473952"/>
            <a:ext cx="2109872" cy="223138"/>
          </a:xfrm>
          <a:prstGeom prst="rect">
            <a:avLst/>
          </a:prstGeom>
          <a:noFill/>
        </p:spPr>
        <p:txBody>
          <a:bodyPr wrap="none">
            <a:spAutoFit/>
          </a:bodyPr>
          <a:lstStyle/>
          <a:p>
            <a:pPr algn="r">
              <a:defRPr sz="850">
                <a:solidFill>
                  <a:srgbClr val="8C8C8C"/>
                </a:solidFill>
              </a:defRPr>
            </a:pPr>
            <a:r>
              <a:t>Data Visualisation with Python and AI  |  </a:t>
            </a:r>
            <a:r>
              <a:rPr lang="en-SG"/>
              <a:t>21</a:t>
            </a:r>
            <a:endParaRPr/>
          </a:p>
        </p:txBody>
      </p:sp>
      <p:sp>
        <p:nvSpPr>
          <p:cNvPr id="5" name="Rounded Rectangle 4"/>
          <p:cNvSpPr/>
          <p:nvPr/>
        </p:nvSpPr>
        <p:spPr>
          <a:xfrm>
            <a:off x="685800" y="1508760"/>
            <a:ext cx="2743200" cy="3108960"/>
          </a:xfrm>
          <a:prstGeom prst="roundRect">
            <a:avLst/>
          </a:prstGeom>
          <a:solidFill>
            <a:srgbClr val="F5F7FA"/>
          </a:solidFill>
          <a:ln w="15240">
            <a:solidFill>
              <a:srgbClr val="2F69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0392" y="1618488"/>
            <a:ext cx="2414016" cy="2907791"/>
          </a:xfrm>
          <a:prstGeom prst="rect">
            <a:avLst/>
          </a:prstGeom>
          <a:noFill/>
        </p:spPr>
        <p:txBody>
          <a:bodyPr wrap="square">
            <a:spAutoFit/>
          </a:bodyPr>
          <a:lstStyle/>
          <a:p>
            <a:pPr>
              <a:defRPr sz="1500" b="1">
                <a:solidFill>
                  <a:srgbClr val="2F69B4"/>
                </a:solidFill>
              </a:defRPr>
            </a:pPr>
            <a:r>
              <a:t>What this chart helps us see</a:t>
            </a:r>
          </a:p>
          <a:p>
            <a:pPr>
              <a:spcBef>
                <a:spcPts val="400"/>
              </a:spcBef>
              <a:defRPr sz="1200">
                <a:solidFill>
                  <a:srgbClr val="232323"/>
                </a:solidFill>
              </a:defRPr>
            </a:pPr>
            <a:r>
              <a:t>Look for: dominant genres, and the long tail of small ones</a:t>
            </a:r>
          </a:p>
        </p:txBody>
      </p:sp>
      <p:sp>
        <p:nvSpPr>
          <p:cNvPr id="12" name="Rounded Rectangle 11"/>
          <p:cNvSpPr/>
          <p:nvPr/>
        </p:nvSpPr>
        <p:spPr>
          <a:xfrm>
            <a:off x="3703320" y="1508760"/>
            <a:ext cx="4023360" cy="2350000"/>
          </a:xfrm>
          <a:prstGeom prst="roundRect">
            <a:avLst/>
          </a:prstGeom>
          <a:solidFill>
            <a:srgbClr val="FAFAFA"/>
          </a:solidFill>
          <a:ln>
            <a:solidFill>
              <a:srgbClr val="CDD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49624" y="1618488"/>
            <a:ext cx="3730752" cy="1700784"/>
          </a:xfrm>
          <a:prstGeom prst="rect">
            <a:avLst/>
          </a:prstGeom>
          <a:noFill/>
        </p:spPr>
        <p:txBody>
          <a:bodyPr wrap="square">
            <a:spAutoFit/>
          </a:bodyPr>
          <a:lstStyle/>
          <a:p>
            <a:pPr>
              <a:spcBef>
                <a:spcPts val="200"/>
              </a:spcBef>
              <a:defRPr sz="1000">
                <a:solidFill>
                  <a:srgbClr val="232323"/>
                </a:solidFill>
                <a:latin typeface="Consolas"/>
              </a:defRPr>
            </a:pPr>
            <a:r>
              <a:t>genre_counts = df.groupby('primary_genre').size()</a:t>
            </a:r>
          </a:p>
          <a:p>
            <a:pPr>
              <a:spcBef>
                <a:spcPts val="200"/>
              </a:spcBef>
              <a:defRPr sz="1000">
                <a:solidFill>
                  <a:srgbClr val="232323"/>
                </a:solidFill>
                <a:latin typeface="Consolas"/>
              </a:defRPr>
            </a:pPr>
            <a:r>
              <a:t>fig = px.treemap(genre_counts, values='movie_count')</a:t>
            </a:r>
          </a:p>
          <a:p>
            <a:pPr>
              <a:spcBef>
                <a:spcPts val="200"/>
              </a:spcBef>
              <a:defRPr sz="900">
                <a:solidFill>
                  <a:srgbClr val="3A3A3A"/>
                </a:solidFill>
              </a:defRPr>
            </a:pPr>
            <a:r>
              <a:t>- size() counts the movies in each genre; reset_index names the column.</a:t>
            </a:r>
          </a:p>
          <a:p>
            <a:pPr>
              <a:spcBef>
                <a:spcPts val="200"/>
              </a:spcBef>
              <a:defRPr sz="900">
                <a:solidFill>
                  <a:srgbClr val="3A3A3A"/>
                </a:solidFill>
              </a:defRPr>
            </a:pPr>
            <a:r>
              <a:t>- path sets the hierarchy; values sets each rectangle's area.</a:t>
            </a:r>
          </a:p>
          <a:p>
            <a:pPr>
              <a:spcBef>
                <a:spcPts val="200"/>
              </a:spcBef>
              <a:defRPr sz="900">
                <a:solidFill>
                  <a:srgbClr val="3A3A3A"/>
                </a:solidFill>
              </a:defRPr>
            </a:pPr>
            <a:r>
              <a:t>- Area encodes quantity — a bigger rectangle means more movies.</a:t>
            </a:r>
          </a:p>
        </p:txBody>
      </p:sp>
      <p:sp>
        <p:nvSpPr>
          <p:cNvPr id="14" name="Rounded Rectangle 13"/>
          <p:cNvSpPr/>
          <p:nvPr/>
        </p:nvSpPr>
        <p:spPr>
          <a:xfrm>
            <a:off x="8001000" y="1508760"/>
            <a:ext cx="3520440" cy="2350000"/>
          </a:xfrm>
          <a:prstGeom prst="roundRect">
            <a:avLst/>
          </a:prstGeom>
          <a:solidFill>
            <a:srgbClr val="E8F8F4"/>
          </a:solidFill>
          <a:ln w="15240">
            <a:solidFill>
              <a:srgbClr val="2A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65592" y="1618488"/>
            <a:ext cx="3191256" cy="1719072"/>
          </a:xfrm>
          <a:prstGeom prst="rect">
            <a:avLst/>
          </a:prstGeom>
          <a:noFill/>
        </p:spPr>
        <p:txBody>
          <a:bodyPr wrap="square">
            <a:spAutoFit/>
          </a:bodyPr>
          <a:lstStyle/>
          <a:p>
            <a:pPr>
              <a:defRPr sz="1400" b="1">
                <a:solidFill>
                  <a:srgbClr val="2A9688"/>
                </a:solidFill>
              </a:defRPr>
            </a:pPr>
            <a:r>
              <a:t>AI prompt to try</a:t>
            </a:r>
          </a:p>
          <a:p>
            <a:pPr>
              <a:spcBef>
                <a:spcPts val="400"/>
              </a:spcBef>
              <a:defRPr sz="1150">
                <a:solidFill>
                  <a:srgbClr val="232323"/>
                </a:solidFill>
              </a:defRPr>
            </a:pPr>
            <a:r>
              <a:t>Ask AI to recreate it in Plotly and explain how to read a treemap.</a:t>
            </a:r>
          </a:p>
        </p:txBody>
      </p:sp>
      <p:sp>
        <p:nvSpPr>
          <p:cNvPr id="16" name="Rounded Rectangle 15"/>
          <p:cNvSpPr/>
          <p:nvPr/>
        </p:nvSpPr>
        <p:spPr>
          <a:xfrm>
            <a:off x="3703320" y="3977639"/>
            <a:ext cx="7818120" cy="1051560"/>
          </a:xfrm>
          <a:prstGeom prst="roundRect">
            <a:avLst/>
          </a:prstGeom>
          <a:solidFill>
            <a:srgbClr val="FFF4E8"/>
          </a:solidFill>
          <a:ln w="15240">
            <a:solidFill>
              <a:srgbClr val="E88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867911" y="4087368"/>
            <a:ext cx="7488936" cy="850392"/>
          </a:xfrm>
          <a:prstGeom prst="rect">
            <a:avLst/>
          </a:prstGeom>
          <a:noFill/>
        </p:spPr>
        <p:txBody>
          <a:bodyPr wrap="square">
            <a:spAutoFit/>
          </a:bodyPr>
          <a:lstStyle/>
          <a:p>
            <a:pPr>
              <a:defRPr sz="1400" b="1">
                <a:solidFill>
                  <a:srgbClr val="E88A2D"/>
                </a:solidFill>
              </a:defRPr>
            </a:pPr>
            <a:r>
              <a:t>Student activity</a:t>
            </a:r>
          </a:p>
          <a:p>
            <a:pPr>
              <a:spcBef>
                <a:spcPts val="400"/>
              </a:spcBef>
              <a:defRPr sz="1200">
                <a:solidFill>
                  <a:srgbClr val="232323"/>
                </a:solidFill>
              </a:defRPr>
            </a:pPr>
            <a:r>
              <a:t>Run Python first → Try AI prompt → Compare outputs → Write one insight and one caution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658368"/>
          </a:xfrm>
          <a:prstGeom prst="rect">
            <a:avLst/>
          </a:prstGeom>
          <a:noFill/>
        </p:spPr>
        <p:txBody>
          <a:bodyPr wrap="none">
            <a:spAutoFit/>
          </a:bodyPr>
          <a:lstStyle/>
          <a:p>
            <a:pPr>
              <a:defRPr sz="2800" b="1">
                <a:solidFill>
                  <a:srgbClr val="162D4E"/>
                </a:solidFill>
              </a:defRPr>
            </a:pPr>
            <a:r>
              <a:t>4. Word Cloud: What themes appear in text?</a:t>
            </a:r>
          </a:p>
        </p:txBody>
      </p:sp>
      <p:sp>
        <p:nvSpPr>
          <p:cNvPr id="3" name="TextBox 2"/>
          <p:cNvSpPr txBox="1"/>
          <p:nvPr/>
        </p:nvSpPr>
        <p:spPr>
          <a:xfrm>
            <a:off x="621792" y="960120"/>
            <a:ext cx="10789920" cy="384048"/>
          </a:xfrm>
          <a:prstGeom prst="rect">
            <a:avLst/>
          </a:prstGeom>
          <a:noFill/>
        </p:spPr>
        <p:txBody>
          <a:bodyPr wrap="none">
            <a:spAutoFit/>
          </a:bodyPr>
          <a:lstStyle/>
          <a:p>
            <a:pPr>
              <a:defRPr sz="1500">
                <a:solidFill>
                  <a:srgbClr val="606060"/>
                </a:solidFill>
              </a:defRPr>
            </a:pPr>
            <a:r>
              <a:t>Question: Which words appear most often in movie overviews?</a:t>
            </a:r>
          </a:p>
        </p:txBody>
      </p:sp>
      <p:sp>
        <p:nvSpPr>
          <p:cNvPr id="4" name="TextBox 3"/>
          <p:cNvSpPr txBox="1"/>
          <p:nvPr/>
        </p:nvSpPr>
        <p:spPr>
          <a:xfrm>
            <a:off x="9457288" y="6473952"/>
            <a:ext cx="2109872" cy="223138"/>
          </a:xfrm>
          <a:prstGeom prst="rect">
            <a:avLst/>
          </a:prstGeom>
          <a:noFill/>
        </p:spPr>
        <p:txBody>
          <a:bodyPr wrap="none">
            <a:spAutoFit/>
          </a:bodyPr>
          <a:lstStyle/>
          <a:p>
            <a:pPr algn="r">
              <a:defRPr sz="850">
                <a:solidFill>
                  <a:srgbClr val="8C8C8C"/>
                </a:solidFill>
              </a:defRPr>
            </a:pPr>
            <a:r>
              <a:t>Data Visualisation with Python and AI  |  </a:t>
            </a:r>
            <a:r>
              <a:rPr lang="en-SG"/>
              <a:t>22</a:t>
            </a:r>
            <a:endParaRPr/>
          </a:p>
        </p:txBody>
      </p:sp>
      <p:sp>
        <p:nvSpPr>
          <p:cNvPr id="5" name="Rounded Rectangle 4"/>
          <p:cNvSpPr/>
          <p:nvPr/>
        </p:nvSpPr>
        <p:spPr>
          <a:xfrm>
            <a:off x="685800" y="1508760"/>
            <a:ext cx="2743200" cy="3108960"/>
          </a:xfrm>
          <a:prstGeom prst="roundRect">
            <a:avLst/>
          </a:prstGeom>
          <a:solidFill>
            <a:srgbClr val="F5F7FA"/>
          </a:solidFill>
          <a:ln w="15240">
            <a:solidFill>
              <a:srgbClr val="2F69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0392" y="1618488"/>
            <a:ext cx="2414016" cy="2907791"/>
          </a:xfrm>
          <a:prstGeom prst="rect">
            <a:avLst/>
          </a:prstGeom>
          <a:noFill/>
        </p:spPr>
        <p:txBody>
          <a:bodyPr wrap="square">
            <a:spAutoFit/>
          </a:bodyPr>
          <a:lstStyle/>
          <a:p>
            <a:pPr>
              <a:defRPr sz="1500" b="1">
                <a:solidFill>
                  <a:srgbClr val="2F69B4"/>
                </a:solidFill>
              </a:defRPr>
            </a:pPr>
            <a:r>
              <a:t>What this chart helps us see</a:t>
            </a:r>
          </a:p>
          <a:p>
            <a:pPr>
              <a:spcBef>
                <a:spcPts val="400"/>
              </a:spcBef>
              <a:defRPr sz="1200">
                <a:solidFill>
                  <a:srgbClr val="232323"/>
                </a:solidFill>
              </a:defRPr>
            </a:pPr>
            <a:r>
              <a:t>Look for: recurring themes — and words that only look important</a:t>
            </a:r>
          </a:p>
        </p:txBody>
      </p:sp>
      <p:sp>
        <p:nvSpPr>
          <p:cNvPr id="12" name="Rounded Rectangle 11"/>
          <p:cNvSpPr/>
          <p:nvPr/>
        </p:nvSpPr>
        <p:spPr>
          <a:xfrm>
            <a:off x="3703320" y="1508760"/>
            <a:ext cx="4023360" cy="2350000"/>
          </a:xfrm>
          <a:prstGeom prst="roundRect">
            <a:avLst/>
          </a:prstGeom>
          <a:solidFill>
            <a:srgbClr val="FAFAFA"/>
          </a:solidFill>
          <a:ln>
            <a:solidFill>
              <a:srgbClr val="CDD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49624" y="1618488"/>
            <a:ext cx="3730752" cy="1700784"/>
          </a:xfrm>
          <a:prstGeom prst="rect">
            <a:avLst/>
          </a:prstGeom>
          <a:noFill/>
        </p:spPr>
        <p:txBody>
          <a:bodyPr wrap="square">
            <a:spAutoFit/>
          </a:bodyPr>
          <a:lstStyle/>
          <a:p>
            <a:pPr>
              <a:spcBef>
                <a:spcPts val="200"/>
              </a:spcBef>
              <a:defRPr sz="1000">
                <a:solidFill>
                  <a:srgbClr val="232323"/>
                </a:solidFill>
                <a:latin typeface="Consolas"/>
              </a:defRPr>
            </a:pPr>
            <a:r>
              <a:t>text = ' '.join(df['overview'].dropna())</a:t>
            </a:r>
          </a:p>
          <a:p>
            <a:pPr>
              <a:spcBef>
                <a:spcPts val="200"/>
              </a:spcBef>
              <a:defRPr sz="1000">
                <a:solidFill>
                  <a:srgbClr val="232323"/>
                </a:solidFill>
                <a:latin typeface="Consolas"/>
              </a:defRPr>
            </a:pPr>
            <a:r>
              <a:t>wc = WordCloud(stopwords=stopwords).generate(text)</a:t>
            </a:r>
          </a:p>
          <a:p>
            <a:pPr>
              <a:spcBef>
                <a:spcPts val="200"/>
              </a:spcBef>
              <a:defRPr sz="900">
                <a:solidFill>
                  <a:srgbClr val="3A3A3A"/>
                </a:solidFill>
              </a:defRPr>
            </a:pPr>
            <a:r>
              <a:t>- All overviews are joined into one long string.</a:t>
            </a:r>
          </a:p>
          <a:p>
            <a:pPr>
              <a:spcBef>
                <a:spcPts val="200"/>
              </a:spcBef>
              <a:defRPr sz="900">
                <a:solidFill>
                  <a:srgbClr val="3A3A3A"/>
                </a:solidFill>
              </a:defRPr>
            </a:pPr>
            <a:r>
              <a:t>- Stopwords remove filler words such as 'the', 'movie' and 'story'.</a:t>
            </a:r>
          </a:p>
          <a:p>
            <a:pPr>
              <a:spcBef>
                <a:spcPts val="200"/>
              </a:spcBef>
              <a:defRPr sz="900">
                <a:solidFill>
                  <a:srgbClr val="3A3A3A"/>
                </a:solidFill>
              </a:defRPr>
            </a:pPr>
            <a:r>
              <a:t>- Word size shows frequency, not importance — that is the caution here.</a:t>
            </a:r>
          </a:p>
        </p:txBody>
      </p:sp>
      <p:sp>
        <p:nvSpPr>
          <p:cNvPr id="14" name="Rounded Rectangle 13"/>
          <p:cNvSpPr/>
          <p:nvPr/>
        </p:nvSpPr>
        <p:spPr>
          <a:xfrm>
            <a:off x="8001000" y="1508760"/>
            <a:ext cx="3520440" cy="2350000"/>
          </a:xfrm>
          <a:prstGeom prst="roundRect">
            <a:avLst/>
          </a:prstGeom>
          <a:solidFill>
            <a:srgbClr val="E8F8F4"/>
          </a:solidFill>
          <a:ln w="15240">
            <a:solidFill>
              <a:srgbClr val="2A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65592" y="1618488"/>
            <a:ext cx="3191256" cy="1719072"/>
          </a:xfrm>
          <a:prstGeom prst="rect">
            <a:avLst/>
          </a:prstGeom>
          <a:noFill/>
        </p:spPr>
        <p:txBody>
          <a:bodyPr wrap="square">
            <a:spAutoFit/>
          </a:bodyPr>
          <a:lstStyle/>
          <a:p>
            <a:pPr>
              <a:defRPr sz="1400" b="1">
                <a:solidFill>
                  <a:srgbClr val="2A9688"/>
                </a:solidFill>
              </a:defRPr>
            </a:pPr>
            <a:r>
              <a:t>AI prompt to try</a:t>
            </a:r>
          </a:p>
          <a:p>
            <a:pPr>
              <a:spcBef>
                <a:spcPts val="400"/>
              </a:spcBef>
              <a:defRPr sz="1150">
                <a:solidFill>
                  <a:srgbClr val="232323"/>
                </a:solidFill>
              </a:defRPr>
            </a:pPr>
            <a:r>
              <a:t>Ask AI to rebuild it and explain what word size and colour really mean.</a:t>
            </a:r>
          </a:p>
        </p:txBody>
      </p:sp>
      <p:sp>
        <p:nvSpPr>
          <p:cNvPr id="16" name="Rounded Rectangle 15"/>
          <p:cNvSpPr/>
          <p:nvPr/>
        </p:nvSpPr>
        <p:spPr>
          <a:xfrm>
            <a:off x="3703320" y="3977639"/>
            <a:ext cx="7818120" cy="1051560"/>
          </a:xfrm>
          <a:prstGeom prst="roundRect">
            <a:avLst/>
          </a:prstGeom>
          <a:solidFill>
            <a:srgbClr val="FFF4E8"/>
          </a:solidFill>
          <a:ln w="15240">
            <a:solidFill>
              <a:srgbClr val="E88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867911" y="4087368"/>
            <a:ext cx="7488936" cy="850392"/>
          </a:xfrm>
          <a:prstGeom prst="rect">
            <a:avLst/>
          </a:prstGeom>
          <a:noFill/>
        </p:spPr>
        <p:txBody>
          <a:bodyPr wrap="square">
            <a:spAutoFit/>
          </a:bodyPr>
          <a:lstStyle/>
          <a:p>
            <a:pPr>
              <a:defRPr sz="1400" b="1">
                <a:solidFill>
                  <a:srgbClr val="E88A2D"/>
                </a:solidFill>
              </a:defRPr>
            </a:pPr>
            <a:r>
              <a:t>Student activity</a:t>
            </a:r>
          </a:p>
          <a:p>
            <a:pPr>
              <a:spcBef>
                <a:spcPts val="400"/>
              </a:spcBef>
              <a:defRPr sz="1200">
                <a:solidFill>
                  <a:srgbClr val="232323"/>
                </a:solidFill>
              </a:defRPr>
            </a:pPr>
            <a:r>
              <a:t>Run Python first → Try AI prompt → Compare outputs → Write one insight and one caution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5712782" cy="612648"/>
          </a:xfrm>
          <a:prstGeom prst="rect">
            <a:avLst/>
          </a:prstGeom>
          <a:noFill/>
        </p:spPr>
        <p:txBody>
          <a:bodyPr wrap="none">
            <a:normAutofit/>
          </a:bodyPr>
          <a:lstStyle/>
          <a:p>
            <a:pPr>
              <a:defRPr sz="2800" b="1">
                <a:solidFill>
                  <a:srgbClr val="162D4E"/>
                </a:solidFill>
              </a:defRPr>
            </a:pPr>
            <a:r>
              <a:rPr lang="en-SG"/>
              <a:t>5</a:t>
            </a:r>
            <a:r>
              <a:t>. Box Plot: Averages can hide stories</a:t>
            </a:r>
            <a:endParaRPr lang="en-SG"/>
          </a:p>
        </p:txBody>
      </p:sp>
      <p:sp>
        <p:nvSpPr>
          <p:cNvPr id="3" name="TextBox 2"/>
          <p:cNvSpPr txBox="1"/>
          <p:nvPr/>
        </p:nvSpPr>
        <p:spPr>
          <a:xfrm>
            <a:off x="621792" y="960120"/>
            <a:ext cx="10789920" cy="384048"/>
          </a:xfrm>
          <a:prstGeom prst="rect">
            <a:avLst/>
          </a:prstGeom>
          <a:noFill/>
        </p:spPr>
        <p:txBody>
          <a:bodyPr wrap="none">
            <a:spAutoFit/>
          </a:bodyPr>
          <a:lstStyle/>
          <a:p>
            <a:pPr>
              <a:defRPr sz="1500">
                <a:solidFill>
                  <a:srgbClr val="606060"/>
                </a:solidFill>
              </a:defRPr>
            </a:pPr>
            <a:r>
              <a:t>Question: Do ratings vary widely across genres?</a:t>
            </a:r>
          </a:p>
        </p:txBody>
      </p:sp>
      <p:sp>
        <p:nvSpPr>
          <p:cNvPr id="4" name="TextBox 3"/>
          <p:cNvSpPr txBox="1"/>
          <p:nvPr/>
        </p:nvSpPr>
        <p:spPr>
          <a:xfrm>
            <a:off x="9457288" y="6473952"/>
            <a:ext cx="2109872" cy="223138"/>
          </a:xfrm>
          <a:prstGeom prst="rect">
            <a:avLst/>
          </a:prstGeom>
          <a:noFill/>
        </p:spPr>
        <p:txBody>
          <a:bodyPr wrap="none">
            <a:spAutoFit/>
          </a:bodyPr>
          <a:lstStyle/>
          <a:p>
            <a:pPr algn="r">
              <a:defRPr sz="850">
                <a:solidFill>
                  <a:srgbClr val="8C8C8C"/>
                </a:solidFill>
              </a:defRPr>
            </a:pPr>
            <a:r>
              <a:t>Data Visualisation with Python and AI  |  </a:t>
            </a:r>
            <a:r>
              <a:rPr lang="en-SG"/>
              <a:t>23</a:t>
            </a:r>
            <a:endParaRPr/>
          </a:p>
        </p:txBody>
      </p:sp>
      <p:sp>
        <p:nvSpPr>
          <p:cNvPr id="5" name="Rounded Rectangle 4"/>
          <p:cNvSpPr/>
          <p:nvPr/>
        </p:nvSpPr>
        <p:spPr>
          <a:xfrm>
            <a:off x="685800" y="1508760"/>
            <a:ext cx="2743200" cy="3108960"/>
          </a:xfrm>
          <a:prstGeom prst="roundRect">
            <a:avLst/>
          </a:prstGeom>
          <a:solidFill>
            <a:srgbClr val="F5F7FA"/>
          </a:solidFill>
          <a:ln w="15240">
            <a:solidFill>
              <a:srgbClr val="E88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0392" y="1618488"/>
            <a:ext cx="2414016" cy="2907791"/>
          </a:xfrm>
          <a:prstGeom prst="rect">
            <a:avLst/>
          </a:prstGeom>
          <a:noFill/>
        </p:spPr>
        <p:txBody>
          <a:bodyPr wrap="square">
            <a:spAutoFit/>
          </a:bodyPr>
          <a:lstStyle/>
          <a:p>
            <a:pPr>
              <a:defRPr sz="1500" b="1">
                <a:solidFill>
                  <a:srgbClr val="E88A2D"/>
                </a:solidFill>
              </a:defRPr>
            </a:pPr>
            <a:r>
              <a:t>What this chart helps us see</a:t>
            </a:r>
          </a:p>
          <a:p>
            <a:pPr>
              <a:spcBef>
                <a:spcPts val="500"/>
              </a:spcBef>
              <a:defRPr sz="1400">
                <a:solidFill>
                  <a:srgbClr val="232323"/>
                </a:solidFill>
              </a:defRPr>
            </a:pPr>
            <a:r>
              <a:t>Look for: variation, consistency, outliers</a:t>
            </a:r>
          </a:p>
        </p:txBody>
      </p:sp>
      <p:sp>
        <p:nvSpPr>
          <p:cNvPr id="7" name="Rectangle 6"/>
          <p:cNvSpPr/>
          <p:nvPr/>
        </p:nvSpPr>
        <p:spPr>
          <a:xfrm>
            <a:off x="1353312" y="4252874"/>
            <a:ext cx="210311" cy="364845"/>
          </a:xfrm>
          <a:prstGeom prst="rect">
            <a:avLst/>
          </a:prstGeom>
          <a:solidFill>
            <a:srgbClr val="E88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636776" y="4009644"/>
            <a:ext cx="210311" cy="608075"/>
          </a:xfrm>
          <a:prstGeom prst="rect">
            <a:avLst/>
          </a:prstGeom>
          <a:solidFill>
            <a:srgbClr val="E88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920239" y="3792474"/>
            <a:ext cx="210311" cy="825246"/>
          </a:xfrm>
          <a:prstGeom prst="rect">
            <a:avLst/>
          </a:prstGeom>
          <a:solidFill>
            <a:srgbClr val="E88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203703" y="4096511"/>
            <a:ext cx="210311" cy="521207"/>
          </a:xfrm>
          <a:prstGeom prst="rect">
            <a:avLst/>
          </a:prstGeom>
          <a:solidFill>
            <a:srgbClr val="E88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487168" y="4313682"/>
            <a:ext cx="210311" cy="304037"/>
          </a:xfrm>
          <a:prstGeom prst="rect">
            <a:avLst/>
          </a:prstGeom>
          <a:solidFill>
            <a:srgbClr val="E88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703320" y="1508760"/>
            <a:ext cx="4023360" cy="2350000"/>
          </a:xfrm>
          <a:prstGeom prst="roundRect">
            <a:avLst/>
          </a:prstGeom>
          <a:solidFill>
            <a:srgbClr val="FAFAFA"/>
          </a:solidFill>
          <a:ln>
            <a:solidFill>
              <a:srgbClr val="CDD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49624" y="1618488"/>
            <a:ext cx="3730752" cy="892552"/>
          </a:xfrm>
          <a:prstGeom prst="rect">
            <a:avLst/>
          </a:prstGeom>
          <a:noFill/>
        </p:spPr>
        <p:txBody>
          <a:bodyPr wrap="square">
            <a:spAutoFit/>
          </a:bodyPr>
          <a:lstStyle/>
          <a:p>
            <a:pPr>
              <a:defRPr sz="1000">
                <a:solidFill>
                  <a:srgbClr val="232323"/>
                </a:solidFill>
                <a:latin typeface="Consolas"/>
              </a:defRPr>
            </a:pPr>
            <a:r>
              <a:t>sns.boxplot(data=df, x='primary_genre', y='vote_average')</a:t>
            </a:r>
            <a:endParaRPr lang="en-US"/>
          </a:p>
          <a:p>
            <a:pPr>
              <a:spcBef>
                <a:spcPts val="200"/>
              </a:spcBef>
              <a:defRPr sz="900">
                <a:solidFill>
                  <a:srgbClr val="3A3A3A"/>
                </a:solidFill>
              </a:defRPr>
            </a:pPr>
            <a:r>
              <a:rPr lang="en-US"/>
              <a:t>- The box is the middle 50%; the line inside is the median.</a:t>
            </a:r>
          </a:p>
          <a:p>
            <a:pPr>
              <a:spcBef>
                <a:spcPts val="200"/>
              </a:spcBef>
              <a:defRPr sz="900">
                <a:solidFill>
                  <a:srgbClr val="3A3A3A"/>
                </a:solidFill>
              </a:defRPr>
            </a:pPr>
            <a:r>
              <a:rPr lang="en-US"/>
              <a:t>- Whiskers show the range, dots beyond them are outliers.</a:t>
            </a:r>
          </a:p>
          <a:p>
            <a:pPr>
              <a:spcBef>
                <a:spcPts val="200"/>
              </a:spcBef>
              <a:defRPr sz="900">
                <a:solidFill>
                  <a:srgbClr val="3A3A3A"/>
                </a:solidFill>
              </a:defRPr>
            </a:pPr>
            <a:r>
              <a:rPr lang="en-US"/>
              <a:t>- plt.xticks(rotation=45) keeps genre labels readable.</a:t>
            </a:r>
          </a:p>
        </p:txBody>
      </p:sp>
      <p:sp>
        <p:nvSpPr>
          <p:cNvPr id="14" name="Rounded Rectangle 13"/>
          <p:cNvSpPr/>
          <p:nvPr/>
        </p:nvSpPr>
        <p:spPr>
          <a:xfrm>
            <a:off x="8001000" y="1508760"/>
            <a:ext cx="3520440" cy="2350000"/>
          </a:xfrm>
          <a:prstGeom prst="roundRect">
            <a:avLst/>
          </a:prstGeom>
          <a:solidFill>
            <a:srgbClr val="E8F8F4"/>
          </a:solidFill>
          <a:ln w="15240">
            <a:solidFill>
              <a:srgbClr val="2A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65592" y="1618488"/>
            <a:ext cx="3191256" cy="1719072"/>
          </a:xfrm>
          <a:prstGeom prst="rect">
            <a:avLst/>
          </a:prstGeom>
          <a:noFill/>
        </p:spPr>
        <p:txBody>
          <a:bodyPr wrap="square">
            <a:spAutoFit/>
          </a:bodyPr>
          <a:lstStyle/>
          <a:p>
            <a:pPr>
              <a:defRPr sz="1400" b="1">
                <a:solidFill>
                  <a:srgbClr val="2A9688"/>
                </a:solidFill>
              </a:defRPr>
            </a:pPr>
            <a:r>
              <a:t>AI prompt to try</a:t>
            </a:r>
          </a:p>
          <a:p>
            <a:pPr>
              <a:spcBef>
                <a:spcPts val="500"/>
              </a:spcBef>
              <a:defRPr sz="1200">
                <a:solidFill>
                  <a:srgbClr val="232323"/>
                </a:solidFill>
              </a:defRPr>
            </a:pPr>
            <a:r>
              <a:t>Use AI to explain median, box, whiskers and outliers.</a:t>
            </a:r>
          </a:p>
        </p:txBody>
      </p:sp>
      <p:sp>
        <p:nvSpPr>
          <p:cNvPr id="16" name="Rounded Rectangle 15"/>
          <p:cNvSpPr/>
          <p:nvPr/>
        </p:nvSpPr>
        <p:spPr>
          <a:xfrm>
            <a:off x="3703320" y="3977639"/>
            <a:ext cx="7818120" cy="1051560"/>
          </a:xfrm>
          <a:prstGeom prst="roundRect">
            <a:avLst/>
          </a:prstGeom>
          <a:solidFill>
            <a:srgbClr val="FFF4E8"/>
          </a:solidFill>
          <a:ln w="15240">
            <a:solidFill>
              <a:srgbClr val="E88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867911" y="4087368"/>
            <a:ext cx="7488936" cy="850392"/>
          </a:xfrm>
          <a:prstGeom prst="rect">
            <a:avLst/>
          </a:prstGeom>
          <a:noFill/>
        </p:spPr>
        <p:txBody>
          <a:bodyPr wrap="square">
            <a:spAutoFit/>
          </a:bodyPr>
          <a:lstStyle/>
          <a:p>
            <a:pPr>
              <a:defRPr sz="1400" b="1">
                <a:solidFill>
                  <a:srgbClr val="E88A2D"/>
                </a:solidFill>
              </a:defRPr>
            </a:pPr>
            <a:r>
              <a:t>Student activity</a:t>
            </a:r>
          </a:p>
          <a:p>
            <a:pPr>
              <a:spcBef>
                <a:spcPts val="500"/>
              </a:spcBef>
              <a:defRPr sz="1200">
                <a:solidFill>
                  <a:srgbClr val="232323"/>
                </a:solidFill>
              </a:defRPr>
            </a:pPr>
            <a:r>
              <a:t>Run Python first → Try AI prompt → Compare outputs → Write one insight and one caution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6969472" cy="612648"/>
          </a:xfrm>
          <a:prstGeom prst="rect">
            <a:avLst/>
          </a:prstGeom>
          <a:noFill/>
        </p:spPr>
        <p:txBody>
          <a:bodyPr wrap="none">
            <a:normAutofit/>
          </a:bodyPr>
          <a:lstStyle/>
          <a:p>
            <a:pPr>
              <a:defRPr sz="2800" b="1">
                <a:solidFill>
                  <a:srgbClr val="162D4E"/>
                </a:solidFill>
              </a:defRPr>
            </a:pPr>
            <a:r>
              <a:rPr lang="en-SG"/>
              <a:t>6</a:t>
            </a:r>
            <a:r>
              <a:t>. Scatter Plot: Do two things move together?</a:t>
            </a:r>
            <a:endParaRPr lang="en-SG"/>
          </a:p>
        </p:txBody>
      </p:sp>
      <p:sp>
        <p:nvSpPr>
          <p:cNvPr id="3" name="TextBox 2"/>
          <p:cNvSpPr txBox="1"/>
          <p:nvPr/>
        </p:nvSpPr>
        <p:spPr>
          <a:xfrm>
            <a:off x="621792" y="960120"/>
            <a:ext cx="10789920" cy="384048"/>
          </a:xfrm>
          <a:prstGeom prst="rect">
            <a:avLst/>
          </a:prstGeom>
          <a:noFill/>
        </p:spPr>
        <p:txBody>
          <a:bodyPr wrap="none">
            <a:spAutoFit/>
          </a:bodyPr>
          <a:lstStyle/>
          <a:p>
            <a:pPr>
              <a:defRPr sz="1500">
                <a:solidFill>
                  <a:srgbClr val="606060"/>
                </a:solidFill>
              </a:defRPr>
            </a:pPr>
            <a:r>
              <a:t>Question: Is rating related to number of votes?</a:t>
            </a:r>
          </a:p>
        </p:txBody>
      </p:sp>
      <p:sp>
        <p:nvSpPr>
          <p:cNvPr id="4" name="TextBox 3"/>
          <p:cNvSpPr txBox="1"/>
          <p:nvPr/>
        </p:nvSpPr>
        <p:spPr>
          <a:xfrm>
            <a:off x="9457288" y="6473952"/>
            <a:ext cx="2109872" cy="223138"/>
          </a:xfrm>
          <a:prstGeom prst="rect">
            <a:avLst/>
          </a:prstGeom>
          <a:noFill/>
        </p:spPr>
        <p:txBody>
          <a:bodyPr wrap="none">
            <a:spAutoFit/>
          </a:bodyPr>
          <a:lstStyle/>
          <a:p>
            <a:pPr algn="r">
              <a:defRPr sz="850">
                <a:solidFill>
                  <a:srgbClr val="8C8C8C"/>
                </a:solidFill>
              </a:defRPr>
            </a:pPr>
            <a:r>
              <a:t>Data Visualisation with Python and AI  |  </a:t>
            </a:r>
            <a:r>
              <a:rPr lang="en-SG"/>
              <a:t>24</a:t>
            </a:r>
            <a:endParaRPr/>
          </a:p>
        </p:txBody>
      </p:sp>
      <p:sp>
        <p:nvSpPr>
          <p:cNvPr id="5" name="Rounded Rectangle 4"/>
          <p:cNvSpPr/>
          <p:nvPr/>
        </p:nvSpPr>
        <p:spPr>
          <a:xfrm>
            <a:off x="685800" y="1508760"/>
            <a:ext cx="2743200" cy="3108960"/>
          </a:xfrm>
          <a:prstGeom prst="roundRect">
            <a:avLst/>
          </a:prstGeom>
          <a:solidFill>
            <a:srgbClr val="F5F7FA"/>
          </a:solidFill>
          <a:ln w="15240">
            <a:solidFill>
              <a:srgbClr val="665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0392" y="1618488"/>
            <a:ext cx="2414016" cy="2907791"/>
          </a:xfrm>
          <a:prstGeom prst="rect">
            <a:avLst/>
          </a:prstGeom>
          <a:noFill/>
        </p:spPr>
        <p:txBody>
          <a:bodyPr wrap="square">
            <a:spAutoFit/>
          </a:bodyPr>
          <a:lstStyle/>
          <a:p>
            <a:pPr>
              <a:defRPr sz="1500" b="1">
                <a:solidFill>
                  <a:srgbClr val="6656AA"/>
                </a:solidFill>
              </a:defRPr>
            </a:pPr>
            <a:r>
              <a:t>What this chart helps us see</a:t>
            </a:r>
          </a:p>
          <a:p>
            <a:pPr>
              <a:spcBef>
                <a:spcPts val="500"/>
              </a:spcBef>
              <a:defRPr sz="1400">
                <a:solidFill>
                  <a:srgbClr val="232323"/>
                </a:solidFill>
              </a:defRPr>
            </a:pPr>
            <a:r>
              <a:t>Activity: name the four quadrants</a:t>
            </a:r>
          </a:p>
        </p:txBody>
      </p:sp>
      <p:sp>
        <p:nvSpPr>
          <p:cNvPr id="7" name="Oval 6"/>
          <p:cNvSpPr/>
          <p:nvPr/>
        </p:nvSpPr>
        <p:spPr>
          <a:xfrm>
            <a:off x="1495958" y="4443983"/>
            <a:ext cx="109728" cy="109728"/>
          </a:xfrm>
          <a:prstGeom prst="ellipse">
            <a:avLst/>
          </a:prstGeom>
          <a:solidFill>
            <a:srgbClr val="66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637690" y="4270248"/>
            <a:ext cx="109728" cy="109728"/>
          </a:xfrm>
          <a:prstGeom prst="ellipse">
            <a:avLst/>
          </a:prstGeom>
          <a:solidFill>
            <a:srgbClr val="66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821942" y="4313681"/>
            <a:ext cx="109728" cy="109728"/>
          </a:xfrm>
          <a:prstGeom prst="ellipse">
            <a:avLst/>
          </a:prstGeom>
          <a:solidFill>
            <a:srgbClr val="66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977847" y="4122572"/>
            <a:ext cx="109728" cy="109728"/>
          </a:xfrm>
          <a:prstGeom prst="ellipse">
            <a:avLst/>
          </a:prstGeom>
          <a:solidFill>
            <a:srgbClr val="66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2105406" y="4200753"/>
            <a:ext cx="109728" cy="109728"/>
          </a:xfrm>
          <a:prstGeom prst="ellipse">
            <a:avLst/>
          </a:prstGeom>
          <a:solidFill>
            <a:srgbClr val="66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2261311" y="4027017"/>
            <a:ext cx="109728" cy="109728"/>
          </a:xfrm>
          <a:prstGeom prst="ellipse">
            <a:avLst/>
          </a:prstGeom>
          <a:solidFill>
            <a:srgbClr val="66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2431389" y="3966209"/>
            <a:ext cx="109728" cy="109728"/>
          </a:xfrm>
          <a:prstGeom prst="ellipse">
            <a:avLst/>
          </a:prstGeom>
          <a:solidFill>
            <a:srgbClr val="66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601468" y="4079138"/>
            <a:ext cx="109728" cy="109728"/>
          </a:xfrm>
          <a:prstGeom prst="ellipse">
            <a:avLst/>
          </a:prstGeom>
          <a:solidFill>
            <a:srgbClr val="66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703320" y="1508760"/>
            <a:ext cx="4023360" cy="2350000"/>
          </a:xfrm>
          <a:prstGeom prst="roundRect">
            <a:avLst/>
          </a:prstGeom>
          <a:solidFill>
            <a:srgbClr val="FAFAFA"/>
          </a:solidFill>
          <a:ln>
            <a:solidFill>
              <a:srgbClr val="CDD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849624" y="1618488"/>
            <a:ext cx="3730752" cy="892552"/>
          </a:xfrm>
          <a:prstGeom prst="rect">
            <a:avLst/>
          </a:prstGeom>
          <a:noFill/>
        </p:spPr>
        <p:txBody>
          <a:bodyPr wrap="square">
            <a:spAutoFit/>
          </a:bodyPr>
          <a:lstStyle/>
          <a:p>
            <a:pPr>
              <a:defRPr sz="1000">
                <a:solidFill>
                  <a:srgbClr val="232323"/>
                </a:solidFill>
                <a:latin typeface="Consolas"/>
              </a:defRPr>
            </a:pPr>
            <a:r>
              <a:t>sns.scatterplot(data=df, x='vote_average', y='vote_count', alpha=0.6)</a:t>
            </a:r>
            <a:endParaRPr lang="en-US"/>
          </a:p>
          <a:p>
            <a:pPr>
              <a:spcBef>
                <a:spcPts val="200"/>
              </a:spcBef>
              <a:defRPr sz="900">
                <a:solidFill>
                  <a:srgbClr val="3A3A3A"/>
                </a:solidFill>
              </a:defRPr>
            </a:pPr>
            <a:r>
              <a:rPr lang="en-US"/>
              <a:t>- Each point is one movie.</a:t>
            </a:r>
          </a:p>
          <a:p>
            <a:pPr>
              <a:spcBef>
                <a:spcPts val="200"/>
              </a:spcBef>
              <a:defRPr sz="900">
                <a:solidFill>
                  <a:srgbClr val="3A3A3A"/>
                </a:solidFill>
              </a:defRPr>
            </a:pPr>
            <a:r>
              <a:rPr lang="en-US"/>
              <a:t>- alpha=0.6 makes overlapping points visible.</a:t>
            </a:r>
          </a:p>
          <a:p>
            <a:pPr>
              <a:spcBef>
                <a:spcPts val="200"/>
              </a:spcBef>
              <a:defRPr sz="900">
                <a:solidFill>
                  <a:srgbClr val="3A3A3A"/>
                </a:solidFill>
              </a:defRPr>
            </a:pPr>
            <a:r>
              <a:rPr lang="en-US"/>
              <a:t>- Read it in quadrants: rating against number of votes.</a:t>
            </a:r>
          </a:p>
        </p:txBody>
      </p:sp>
      <p:sp>
        <p:nvSpPr>
          <p:cNvPr id="17" name="Rounded Rectangle 16"/>
          <p:cNvSpPr/>
          <p:nvPr/>
        </p:nvSpPr>
        <p:spPr>
          <a:xfrm>
            <a:off x="8001000" y="1508760"/>
            <a:ext cx="3520440" cy="2350000"/>
          </a:xfrm>
          <a:prstGeom prst="roundRect">
            <a:avLst/>
          </a:prstGeom>
          <a:solidFill>
            <a:srgbClr val="E8F8F4"/>
          </a:solidFill>
          <a:ln w="15240">
            <a:solidFill>
              <a:srgbClr val="2A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65592" y="1618488"/>
            <a:ext cx="3191256" cy="1719072"/>
          </a:xfrm>
          <a:prstGeom prst="rect">
            <a:avLst/>
          </a:prstGeom>
          <a:noFill/>
        </p:spPr>
        <p:txBody>
          <a:bodyPr wrap="square">
            <a:spAutoFit/>
          </a:bodyPr>
          <a:lstStyle/>
          <a:p>
            <a:pPr>
              <a:defRPr sz="1400" b="1">
                <a:solidFill>
                  <a:srgbClr val="2A9688"/>
                </a:solidFill>
              </a:defRPr>
            </a:pPr>
            <a:r>
              <a:t>AI prompt to try</a:t>
            </a:r>
          </a:p>
          <a:p>
            <a:pPr>
              <a:spcBef>
                <a:spcPts val="500"/>
              </a:spcBef>
              <a:defRPr sz="1200">
                <a:solidFill>
                  <a:srgbClr val="232323"/>
                </a:solidFill>
              </a:defRPr>
            </a:pPr>
            <a:r>
              <a:t>Use AI to add colour by genre and explain what not to overclaim.</a:t>
            </a:r>
          </a:p>
        </p:txBody>
      </p:sp>
      <p:sp>
        <p:nvSpPr>
          <p:cNvPr id="19" name="Rounded Rectangle 18"/>
          <p:cNvSpPr/>
          <p:nvPr/>
        </p:nvSpPr>
        <p:spPr>
          <a:xfrm>
            <a:off x="3703320" y="3977639"/>
            <a:ext cx="7818120" cy="1051560"/>
          </a:xfrm>
          <a:prstGeom prst="roundRect">
            <a:avLst/>
          </a:prstGeom>
          <a:solidFill>
            <a:srgbClr val="FFF4E8"/>
          </a:solidFill>
          <a:ln w="15240">
            <a:solidFill>
              <a:srgbClr val="E88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867911" y="4087368"/>
            <a:ext cx="7488936" cy="850392"/>
          </a:xfrm>
          <a:prstGeom prst="rect">
            <a:avLst/>
          </a:prstGeom>
          <a:noFill/>
        </p:spPr>
        <p:txBody>
          <a:bodyPr wrap="square">
            <a:spAutoFit/>
          </a:bodyPr>
          <a:lstStyle/>
          <a:p>
            <a:pPr>
              <a:defRPr sz="1400" b="1">
                <a:solidFill>
                  <a:srgbClr val="E88A2D"/>
                </a:solidFill>
              </a:defRPr>
            </a:pPr>
            <a:r>
              <a:t>Student activity</a:t>
            </a:r>
          </a:p>
          <a:p>
            <a:pPr>
              <a:spcBef>
                <a:spcPts val="500"/>
              </a:spcBef>
              <a:defRPr sz="1200">
                <a:solidFill>
                  <a:srgbClr val="232323"/>
                </a:solidFill>
              </a:defRPr>
            </a:pPr>
            <a:r>
              <a:t>Run Python first → Try AI prompt → Compare outputs → Write one insight and one caution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6127190" cy="612648"/>
          </a:xfrm>
          <a:prstGeom prst="rect">
            <a:avLst/>
          </a:prstGeom>
          <a:noFill/>
        </p:spPr>
        <p:txBody>
          <a:bodyPr wrap="none">
            <a:normAutofit/>
          </a:bodyPr>
          <a:lstStyle/>
          <a:p>
            <a:pPr>
              <a:defRPr sz="2800" b="1">
                <a:solidFill>
                  <a:srgbClr val="162D4E"/>
                </a:solidFill>
              </a:defRPr>
            </a:pPr>
            <a:r>
              <a:rPr lang="en-SG"/>
              <a:t>7</a:t>
            </a:r>
            <a:r>
              <a:t>. Heatmap: Many relationships at once</a:t>
            </a:r>
            <a:endParaRPr lang="en-SG"/>
          </a:p>
        </p:txBody>
      </p:sp>
      <p:sp>
        <p:nvSpPr>
          <p:cNvPr id="3" name="TextBox 2"/>
          <p:cNvSpPr txBox="1"/>
          <p:nvPr/>
        </p:nvSpPr>
        <p:spPr>
          <a:xfrm>
            <a:off x="621792" y="960120"/>
            <a:ext cx="10789920" cy="384048"/>
          </a:xfrm>
          <a:prstGeom prst="rect">
            <a:avLst/>
          </a:prstGeom>
          <a:noFill/>
        </p:spPr>
        <p:txBody>
          <a:bodyPr wrap="none">
            <a:spAutoFit/>
          </a:bodyPr>
          <a:lstStyle/>
          <a:p>
            <a:pPr>
              <a:defRPr sz="1500">
                <a:solidFill>
                  <a:srgbClr val="606060"/>
                </a:solidFill>
              </a:defRPr>
            </a:pPr>
            <a:r>
              <a:t>Question: Which numeric variables are related?</a:t>
            </a:r>
          </a:p>
        </p:txBody>
      </p:sp>
      <p:sp>
        <p:nvSpPr>
          <p:cNvPr id="4" name="TextBox 3"/>
          <p:cNvSpPr txBox="1"/>
          <p:nvPr/>
        </p:nvSpPr>
        <p:spPr>
          <a:xfrm>
            <a:off x="9457288" y="6473952"/>
            <a:ext cx="2109872" cy="223138"/>
          </a:xfrm>
          <a:prstGeom prst="rect">
            <a:avLst/>
          </a:prstGeom>
          <a:noFill/>
        </p:spPr>
        <p:txBody>
          <a:bodyPr wrap="none">
            <a:spAutoFit/>
          </a:bodyPr>
          <a:lstStyle/>
          <a:p>
            <a:pPr algn="r">
              <a:defRPr sz="850">
                <a:solidFill>
                  <a:srgbClr val="8C8C8C"/>
                </a:solidFill>
              </a:defRPr>
            </a:pPr>
            <a:r>
              <a:t>Data Visualisation with Python and AI  |  </a:t>
            </a:r>
            <a:r>
              <a:rPr lang="en-SG"/>
              <a:t>25</a:t>
            </a:r>
            <a:endParaRPr/>
          </a:p>
        </p:txBody>
      </p:sp>
      <p:sp>
        <p:nvSpPr>
          <p:cNvPr id="5" name="Rounded Rectangle 4"/>
          <p:cNvSpPr/>
          <p:nvPr/>
        </p:nvSpPr>
        <p:spPr>
          <a:xfrm>
            <a:off x="685800" y="1508760"/>
            <a:ext cx="2743200" cy="3108960"/>
          </a:xfrm>
          <a:prstGeom prst="roundRect">
            <a:avLst/>
          </a:prstGeom>
          <a:solidFill>
            <a:srgbClr val="F5F7FA"/>
          </a:solidFill>
          <a:ln w="15240">
            <a:solidFill>
              <a:srgbClr val="2F69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0392" y="1618488"/>
            <a:ext cx="2414016" cy="2907791"/>
          </a:xfrm>
          <a:prstGeom prst="rect">
            <a:avLst/>
          </a:prstGeom>
          <a:noFill/>
        </p:spPr>
        <p:txBody>
          <a:bodyPr wrap="square">
            <a:spAutoFit/>
          </a:bodyPr>
          <a:lstStyle/>
          <a:p>
            <a:pPr>
              <a:defRPr sz="1500" b="1">
                <a:solidFill>
                  <a:srgbClr val="2F69B4"/>
                </a:solidFill>
              </a:defRPr>
            </a:pPr>
            <a:r>
              <a:t>What this chart helps us see</a:t>
            </a:r>
          </a:p>
          <a:p>
            <a:pPr>
              <a:spcBef>
                <a:spcPts val="500"/>
              </a:spcBef>
              <a:defRPr sz="1400">
                <a:solidFill>
                  <a:srgbClr val="232323"/>
                </a:solidFill>
              </a:defRPr>
            </a:pPr>
            <a:r>
              <a:t>Key phrase: correlation is a clue, not a conclusion</a:t>
            </a:r>
          </a:p>
        </p:txBody>
      </p:sp>
      <p:sp>
        <p:nvSpPr>
          <p:cNvPr id="7" name="Rectangle 6"/>
          <p:cNvSpPr/>
          <p:nvPr/>
        </p:nvSpPr>
        <p:spPr>
          <a:xfrm>
            <a:off x="1325880" y="3749039"/>
            <a:ext cx="354330" cy="217170"/>
          </a:xfrm>
          <a:prstGeom prst="rect">
            <a:avLst/>
          </a:prstGeom>
          <a:solidFill>
            <a:srgbClr val="4678C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325880" y="3966209"/>
            <a:ext cx="354330" cy="217170"/>
          </a:xfrm>
          <a:prstGeom prst="rect">
            <a:avLst/>
          </a:prstGeom>
          <a:solidFill>
            <a:srgbClr val="B4D2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325880" y="4183379"/>
            <a:ext cx="354330" cy="217170"/>
          </a:xfrm>
          <a:prstGeom prst="rect">
            <a:avLst/>
          </a:prstGeom>
          <a:solidFill>
            <a:srgbClr val="F5CD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325880" y="4400550"/>
            <a:ext cx="354330" cy="217170"/>
          </a:xfrm>
          <a:prstGeom prst="rect">
            <a:avLst/>
          </a:prstGeom>
          <a:solidFill>
            <a:srgbClr val="D2555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680210" y="3749039"/>
            <a:ext cx="354330" cy="217170"/>
          </a:xfrm>
          <a:prstGeom prst="rect">
            <a:avLst/>
          </a:prstGeom>
          <a:solidFill>
            <a:srgbClr val="B4D2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680210" y="3966209"/>
            <a:ext cx="354330" cy="217170"/>
          </a:xfrm>
          <a:prstGeom prst="rect">
            <a:avLst/>
          </a:prstGeom>
          <a:solidFill>
            <a:srgbClr val="F5CD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680210" y="4183379"/>
            <a:ext cx="354330" cy="217170"/>
          </a:xfrm>
          <a:prstGeom prst="rect">
            <a:avLst/>
          </a:prstGeom>
          <a:solidFill>
            <a:srgbClr val="D2555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680210" y="4400550"/>
            <a:ext cx="354330" cy="217170"/>
          </a:xfrm>
          <a:prstGeom prst="rect">
            <a:avLst/>
          </a:prstGeom>
          <a:solidFill>
            <a:srgbClr val="4678C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034540" y="3749039"/>
            <a:ext cx="354330" cy="217170"/>
          </a:xfrm>
          <a:prstGeom prst="rect">
            <a:avLst/>
          </a:prstGeom>
          <a:solidFill>
            <a:srgbClr val="F5CD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034540" y="3966209"/>
            <a:ext cx="354330" cy="217170"/>
          </a:xfrm>
          <a:prstGeom prst="rect">
            <a:avLst/>
          </a:prstGeom>
          <a:solidFill>
            <a:srgbClr val="D2555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034540" y="4183379"/>
            <a:ext cx="354330" cy="217170"/>
          </a:xfrm>
          <a:prstGeom prst="rect">
            <a:avLst/>
          </a:prstGeom>
          <a:solidFill>
            <a:srgbClr val="4678C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034540" y="4400550"/>
            <a:ext cx="354330" cy="217170"/>
          </a:xfrm>
          <a:prstGeom prst="rect">
            <a:avLst/>
          </a:prstGeom>
          <a:solidFill>
            <a:srgbClr val="B4D2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388870" y="3749039"/>
            <a:ext cx="354330" cy="217170"/>
          </a:xfrm>
          <a:prstGeom prst="rect">
            <a:avLst/>
          </a:prstGeom>
          <a:solidFill>
            <a:srgbClr val="D2555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388870" y="3966209"/>
            <a:ext cx="354330" cy="217170"/>
          </a:xfrm>
          <a:prstGeom prst="rect">
            <a:avLst/>
          </a:prstGeom>
          <a:solidFill>
            <a:srgbClr val="4678C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388870" y="4183379"/>
            <a:ext cx="354330" cy="217170"/>
          </a:xfrm>
          <a:prstGeom prst="rect">
            <a:avLst/>
          </a:prstGeom>
          <a:solidFill>
            <a:srgbClr val="B4D2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388870" y="4400550"/>
            <a:ext cx="354330" cy="217170"/>
          </a:xfrm>
          <a:prstGeom prst="rect">
            <a:avLst/>
          </a:prstGeom>
          <a:solidFill>
            <a:srgbClr val="F5CD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3703320" y="1508760"/>
            <a:ext cx="4023360" cy="2350000"/>
          </a:xfrm>
          <a:prstGeom prst="roundRect">
            <a:avLst/>
          </a:prstGeom>
          <a:solidFill>
            <a:srgbClr val="FAFAFA"/>
          </a:solidFill>
          <a:ln>
            <a:solidFill>
              <a:srgbClr val="CDD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849624" y="1618488"/>
            <a:ext cx="3730752" cy="1046440"/>
          </a:xfrm>
          <a:prstGeom prst="rect">
            <a:avLst/>
          </a:prstGeom>
          <a:noFill/>
        </p:spPr>
        <p:txBody>
          <a:bodyPr wrap="square">
            <a:spAutoFit/>
          </a:bodyPr>
          <a:lstStyle/>
          <a:p>
            <a:pPr>
              <a:defRPr sz="1000">
                <a:solidFill>
                  <a:srgbClr val="232323"/>
                </a:solidFill>
                <a:latin typeface="Consolas"/>
              </a:defRPr>
            </a:pPr>
            <a:r>
              <a:t>corr_matrix = df[numeric_cols].corr()</a:t>
            </a:r>
            <a:br/>
            <a:r>
              <a:t>sns.heatmap(corr_matrix, annot=True, cmap='coolwarm')</a:t>
            </a:r>
            <a:endParaRPr lang="en-US"/>
          </a:p>
          <a:p>
            <a:pPr>
              <a:spcBef>
                <a:spcPts val="200"/>
              </a:spcBef>
              <a:defRPr sz="900">
                <a:solidFill>
                  <a:srgbClr val="3A3A3A"/>
                </a:solidFill>
              </a:defRPr>
            </a:pPr>
            <a:r>
              <a:rPr lang="en-US"/>
              <a:t>- .corr() computes correlations between numeric columns.</a:t>
            </a:r>
          </a:p>
          <a:p>
            <a:pPr>
              <a:spcBef>
                <a:spcPts val="200"/>
              </a:spcBef>
              <a:defRPr sz="900">
                <a:solidFill>
                  <a:srgbClr val="3A3A3A"/>
                </a:solidFill>
              </a:defRPr>
            </a:pPr>
            <a:r>
              <a:rPr lang="en-US"/>
              <a:t>- annot=True prints the values; fmt='.2f' rounds them.</a:t>
            </a:r>
          </a:p>
          <a:p>
            <a:pPr>
              <a:spcBef>
                <a:spcPts val="200"/>
              </a:spcBef>
              <a:defRPr sz="900">
                <a:solidFill>
                  <a:srgbClr val="3A3A3A"/>
                </a:solidFill>
              </a:defRPr>
            </a:pPr>
            <a:r>
              <a:rPr lang="en-US"/>
              <a:t>- cmap='coolwarm' shows both direction and strength.</a:t>
            </a:r>
          </a:p>
        </p:txBody>
      </p:sp>
      <p:sp>
        <p:nvSpPr>
          <p:cNvPr id="25" name="Rounded Rectangle 24"/>
          <p:cNvSpPr/>
          <p:nvPr/>
        </p:nvSpPr>
        <p:spPr>
          <a:xfrm>
            <a:off x="8001000" y="1508760"/>
            <a:ext cx="3520440" cy="2350000"/>
          </a:xfrm>
          <a:prstGeom prst="roundRect">
            <a:avLst/>
          </a:prstGeom>
          <a:solidFill>
            <a:srgbClr val="E8F8F4"/>
          </a:solidFill>
          <a:ln w="15240">
            <a:solidFill>
              <a:srgbClr val="2A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65592" y="1618488"/>
            <a:ext cx="3191256" cy="1719072"/>
          </a:xfrm>
          <a:prstGeom prst="rect">
            <a:avLst/>
          </a:prstGeom>
          <a:noFill/>
        </p:spPr>
        <p:txBody>
          <a:bodyPr wrap="square">
            <a:spAutoFit/>
          </a:bodyPr>
          <a:lstStyle/>
          <a:p>
            <a:pPr>
              <a:defRPr sz="1400" b="1">
                <a:solidFill>
                  <a:srgbClr val="2A9688"/>
                </a:solidFill>
              </a:defRPr>
            </a:pPr>
            <a:r>
              <a:t>AI prompt to try</a:t>
            </a:r>
          </a:p>
          <a:p>
            <a:pPr>
              <a:spcBef>
                <a:spcPts val="500"/>
              </a:spcBef>
              <a:defRPr sz="1200">
                <a:solidFill>
                  <a:srgbClr val="232323"/>
                </a:solidFill>
              </a:defRPr>
            </a:pPr>
            <a:r>
              <a:t>Use AI to explain correlation values and causation risk.</a:t>
            </a:r>
          </a:p>
        </p:txBody>
      </p:sp>
      <p:sp>
        <p:nvSpPr>
          <p:cNvPr id="27" name="Rounded Rectangle 26"/>
          <p:cNvSpPr/>
          <p:nvPr/>
        </p:nvSpPr>
        <p:spPr>
          <a:xfrm>
            <a:off x="3703320" y="3977639"/>
            <a:ext cx="7818120" cy="1051560"/>
          </a:xfrm>
          <a:prstGeom prst="roundRect">
            <a:avLst/>
          </a:prstGeom>
          <a:solidFill>
            <a:srgbClr val="FFF4E8"/>
          </a:solidFill>
          <a:ln w="15240">
            <a:solidFill>
              <a:srgbClr val="E88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867911" y="4087368"/>
            <a:ext cx="7488936" cy="850392"/>
          </a:xfrm>
          <a:prstGeom prst="rect">
            <a:avLst/>
          </a:prstGeom>
          <a:noFill/>
        </p:spPr>
        <p:txBody>
          <a:bodyPr wrap="square">
            <a:spAutoFit/>
          </a:bodyPr>
          <a:lstStyle/>
          <a:p>
            <a:pPr>
              <a:defRPr sz="1400" b="1">
                <a:solidFill>
                  <a:srgbClr val="E88A2D"/>
                </a:solidFill>
              </a:defRPr>
            </a:pPr>
            <a:r>
              <a:t>Student activity</a:t>
            </a:r>
          </a:p>
          <a:p>
            <a:pPr>
              <a:spcBef>
                <a:spcPts val="500"/>
              </a:spcBef>
              <a:defRPr sz="1200">
                <a:solidFill>
                  <a:srgbClr val="232323"/>
                </a:solidFill>
              </a:defRPr>
            </a:pPr>
            <a:r>
              <a:t>Run Python first → Try AI prompt → Compare outputs → Write one insight and one caution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6057749" cy="612648"/>
          </a:xfrm>
          <a:prstGeom prst="rect">
            <a:avLst/>
          </a:prstGeom>
          <a:noFill/>
        </p:spPr>
        <p:txBody>
          <a:bodyPr wrap="none">
            <a:normAutofit/>
          </a:bodyPr>
          <a:lstStyle/>
          <a:p>
            <a:pPr>
              <a:defRPr sz="2800" b="1">
                <a:solidFill>
                  <a:srgbClr val="162D4E"/>
                </a:solidFill>
              </a:defRPr>
            </a:pPr>
            <a:r>
              <a:rPr lang="en-SG"/>
              <a:t>8</a:t>
            </a:r>
            <a:r>
              <a:t>. Trend Line: What changes over time?</a:t>
            </a:r>
            <a:endParaRPr lang="en-SG"/>
          </a:p>
        </p:txBody>
      </p:sp>
      <p:sp>
        <p:nvSpPr>
          <p:cNvPr id="3" name="TextBox 2"/>
          <p:cNvSpPr txBox="1"/>
          <p:nvPr/>
        </p:nvSpPr>
        <p:spPr>
          <a:xfrm>
            <a:off x="621792" y="960120"/>
            <a:ext cx="10789920" cy="384048"/>
          </a:xfrm>
          <a:prstGeom prst="rect">
            <a:avLst/>
          </a:prstGeom>
          <a:noFill/>
        </p:spPr>
        <p:txBody>
          <a:bodyPr wrap="none">
            <a:spAutoFit/>
          </a:bodyPr>
          <a:lstStyle/>
          <a:p>
            <a:pPr>
              <a:defRPr sz="1500">
                <a:solidFill>
                  <a:srgbClr val="606060"/>
                </a:solidFill>
              </a:defRPr>
            </a:pPr>
            <a:r>
              <a:t>Question: How have average ratings changed over years?</a:t>
            </a:r>
          </a:p>
        </p:txBody>
      </p:sp>
      <p:sp>
        <p:nvSpPr>
          <p:cNvPr id="4" name="TextBox 3"/>
          <p:cNvSpPr txBox="1"/>
          <p:nvPr/>
        </p:nvSpPr>
        <p:spPr>
          <a:xfrm>
            <a:off x="9457288" y="6473952"/>
            <a:ext cx="2109872" cy="223138"/>
          </a:xfrm>
          <a:prstGeom prst="rect">
            <a:avLst/>
          </a:prstGeom>
          <a:noFill/>
        </p:spPr>
        <p:txBody>
          <a:bodyPr wrap="none">
            <a:spAutoFit/>
          </a:bodyPr>
          <a:lstStyle/>
          <a:p>
            <a:pPr algn="r">
              <a:defRPr sz="850">
                <a:solidFill>
                  <a:srgbClr val="8C8C8C"/>
                </a:solidFill>
              </a:defRPr>
            </a:pPr>
            <a:r>
              <a:t>Data Visualisation with Python and AI  |  </a:t>
            </a:r>
            <a:r>
              <a:rPr lang="en-SG"/>
              <a:t>26</a:t>
            </a:r>
            <a:endParaRPr/>
          </a:p>
        </p:txBody>
      </p:sp>
      <p:sp>
        <p:nvSpPr>
          <p:cNvPr id="5" name="Rounded Rectangle 4"/>
          <p:cNvSpPr/>
          <p:nvPr/>
        </p:nvSpPr>
        <p:spPr>
          <a:xfrm>
            <a:off x="685800" y="1508760"/>
            <a:ext cx="2743200" cy="3108960"/>
          </a:xfrm>
          <a:prstGeom prst="roundRect">
            <a:avLst/>
          </a:prstGeom>
          <a:solidFill>
            <a:srgbClr val="F5F7FA"/>
          </a:solidFill>
          <a:ln w="15240">
            <a:solidFill>
              <a:srgbClr val="2A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0392" y="1618488"/>
            <a:ext cx="2414016" cy="2907791"/>
          </a:xfrm>
          <a:prstGeom prst="rect">
            <a:avLst/>
          </a:prstGeom>
          <a:noFill/>
        </p:spPr>
        <p:txBody>
          <a:bodyPr wrap="square">
            <a:spAutoFit/>
          </a:bodyPr>
          <a:lstStyle/>
          <a:p>
            <a:pPr>
              <a:defRPr sz="1500" b="1">
                <a:solidFill>
                  <a:srgbClr val="2A9688"/>
                </a:solidFill>
              </a:defRPr>
            </a:pPr>
            <a:r>
              <a:t>What this chart helps us see</a:t>
            </a:r>
          </a:p>
          <a:p>
            <a:pPr>
              <a:spcBef>
                <a:spcPts val="500"/>
              </a:spcBef>
              <a:defRPr sz="1400">
                <a:solidFill>
                  <a:srgbClr val="232323"/>
                </a:solidFill>
              </a:defRPr>
            </a:pPr>
            <a:r>
              <a:t>Look for: trend, noise, sample-size issues</a:t>
            </a:r>
          </a:p>
        </p:txBody>
      </p:sp>
      <p:cxnSp>
        <p:nvCxnSpPr>
          <p:cNvPr id="7" name="Connector 6"/>
          <p:cNvCxnSpPr/>
          <p:nvPr/>
        </p:nvCxnSpPr>
        <p:spPr>
          <a:xfrm flipV="1">
            <a:off x="1325880" y="4139946"/>
            <a:ext cx="354330" cy="217170"/>
          </a:xfrm>
          <a:prstGeom prst="line">
            <a:avLst/>
          </a:prstGeom>
          <a:ln w="38100">
            <a:solidFill>
              <a:srgbClr val="2A968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680210" y="4139946"/>
            <a:ext cx="354330" cy="86868"/>
          </a:xfrm>
          <a:prstGeom prst="line">
            <a:avLst/>
          </a:prstGeom>
          <a:ln w="38100">
            <a:solidFill>
              <a:srgbClr val="2A968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2034540" y="3966209"/>
            <a:ext cx="354330" cy="260605"/>
          </a:xfrm>
          <a:prstGeom prst="line">
            <a:avLst/>
          </a:prstGeom>
          <a:ln w="38100">
            <a:solidFill>
              <a:srgbClr val="2A968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388870" y="3966209"/>
            <a:ext cx="354330" cy="86868"/>
          </a:xfrm>
          <a:prstGeom prst="line">
            <a:avLst/>
          </a:prstGeom>
          <a:ln w="38100">
            <a:solidFill>
              <a:srgbClr val="2A9688"/>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293876" y="4325112"/>
            <a:ext cx="64008" cy="64008"/>
          </a:xfrm>
          <a:prstGeom prst="ellipse">
            <a:avLst/>
          </a:prstGeom>
          <a:solidFill>
            <a:srgbClr val="2A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648206" y="4107941"/>
            <a:ext cx="64008" cy="64008"/>
          </a:xfrm>
          <a:prstGeom prst="ellipse">
            <a:avLst/>
          </a:prstGeom>
          <a:solidFill>
            <a:srgbClr val="2A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2002536" y="4194809"/>
            <a:ext cx="64008" cy="64008"/>
          </a:xfrm>
          <a:prstGeom prst="ellipse">
            <a:avLst/>
          </a:prstGeom>
          <a:solidFill>
            <a:srgbClr val="2A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356865" y="3934205"/>
            <a:ext cx="64008" cy="64008"/>
          </a:xfrm>
          <a:prstGeom prst="ellipse">
            <a:avLst/>
          </a:prstGeom>
          <a:solidFill>
            <a:srgbClr val="2A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2711196" y="4021073"/>
            <a:ext cx="64008" cy="64008"/>
          </a:xfrm>
          <a:prstGeom prst="ellipse">
            <a:avLst/>
          </a:prstGeom>
          <a:solidFill>
            <a:srgbClr val="2A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703320" y="1508760"/>
            <a:ext cx="4023360" cy="2350000"/>
          </a:xfrm>
          <a:prstGeom prst="roundRect">
            <a:avLst/>
          </a:prstGeom>
          <a:solidFill>
            <a:srgbClr val="FAFAFA"/>
          </a:solidFill>
          <a:ln>
            <a:solidFill>
              <a:srgbClr val="CDD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849624" y="1618488"/>
            <a:ext cx="3730752" cy="1354217"/>
          </a:xfrm>
          <a:prstGeom prst="rect">
            <a:avLst/>
          </a:prstGeom>
          <a:noFill/>
        </p:spPr>
        <p:txBody>
          <a:bodyPr wrap="square">
            <a:spAutoFit/>
          </a:bodyPr>
          <a:lstStyle/>
          <a:p>
            <a:pPr>
              <a:defRPr sz="1000">
                <a:solidFill>
                  <a:srgbClr val="232323"/>
                </a:solidFill>
                <a:latin typeface="Consolas"/>
              </a:defRPr>
            </a:pPr>
            <a:r>
              <a:t>yearly = df.groupby('release_year')['vote_average'].mean().reset_index()</a:t>
            </a:r>
            <a:br/>
            <a:r>
              <a:t>sns.lineplot(data=yearly, x='release_year', y='vote_average')</a:t>
            </a:r>
            <a:endParaRPr lang="en-US"/>
          </a:p>
          <a:p>
            <a:pPr>
              <a:spcBef>
                <a:spcPts val="200"/>
              </a:spcBef>
              <a:defRPr sz="900">
                <a:solidFill>
                  <a:srgbClr val="3A3A3A"/>
                </a:solidFill>
              </a:defRPr>
            </a:pPr>
            <a:r>
              <a:rPr lang="en-US"/>
              <a:t>- groupby('release_year').mean() gives one value per year.</a:t>
            </a:r>
          </a:p>
          <a:p>
            <a:pPr>
              <a:spcBef>
                <a:spcPts val="200"/>
              </a:spcBef>
              <a:defRPr sz="900">
                <a:solidFill>
                  <a:srgbClr val="3A3A3A"/>
                </a:solidFill>
              </a:defRPr>
            </a:pPr>
            <a:r>
              <a:rPr lang="en-US"/>
              <a:t>- .reset_index() turns the result back into a DataFrame.</a:t>
            </a:r>
          </a:p>
          <a:p>
            <a:pPr>
              <a:spcBef>
                <a:spcPts val="200"/>
              </a:spcBef>
              <a:defRPr sz="900">
                <a:solidFill>
                  <a:srgbClr val="3A3A3A"/>
                </a:solidFill>
              </a:defRPr>
            </a:pPr>
            <a:r>
              <a:rPr lang="en-US"/>
              <a:t>- Early years have few films, so they swing more.</a:t>
            </a:r>
          </a:p>
        </p:txBody>
      </p:sp>
      <p:sp>
        <p:nvSpPr>
          <p:cNvPr id="18" name="Rounded Rectangle 17"/>
          <p:cNvSpPr/>
          <p:nvPr/>
        </p:nvSpPr>
        <p:spPr>
          <a:xfrm>
            <a:off x="8001000" y="1508760"/>
            <a:ext cx="3520440" cy="2350000"/>
          </a:xfrm>
          <a:prstGeom prst="roundRect">
            <a:avLst/>
          </a:prstGeom>
          <a:solidFill>
            <a:srgbClr val="E8F8F4"/>
          </a:solidFill>
          <a:ln w="15240">
            <a:solidFill>
              <a:srgbClr val="2A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165592" y="1618488"/>
            <a:ext cx="3191256" cy="1719072"/>
          </a:xfrm>
          <a:prstGeom prst="rect">
            <a:avLst/>
          </a:prstGeom>
          <a:noFill/>
        </p:spPr>
        <p:txBody>
          <a:bodyPr wrap="square">
            <a:spAutoFit/>
          </a:bodyPr>
          <a:lstStyle/>
          <a:p>
            <a:pPr>
              <a:defRPr sz="1400" b="1">
                <a:solidFill>
                  <a:srgbClr val="2A9688"/>
                </a:solidFill>
              </a:defRPr>
            </a:pPr>
            <a:r>
              <a:t>AI prompt to try</a:t>
            </a:r>
          </a:p>
          <a:p>
            <a:pPr>
              <a:spcBef>
                <a:spcPts val="500"/>
              </a:spcBef>
              <a:defRPr sz="1200">
                <a:solidFill>
                  <a:srgbClr val="232323"/>
                </a:solidFill>
              </a:defRPr>
            </a:pPr>
            <a:r>
              <a:t>Use AI to add a rolling average and explain volatility.</a:t>
            </a:r>
          </a:p>
        </p:txBody>
      </p:sp>
      <p:sp>
        <p:nvSpPr>
          <p:cNvPr id="20" name="Rounded Rectangle 19"/>
          <p:cNvSpPr/>
          <p:nvPr/>
        </p:nvSpPr>
        <p:spPr>
          <a:xfrm>
            <a:off x="3703320" y="3977639"/>
            <a:ext cx="7818120" cy="1051560"/>
          </a:xfrm>
          <a:prstGeom prst="roundRect">
            <a:avLst/>
          </a:prstGeom>
          <a:solidFill>
            <a:srgbClr val="FFF4E8"/>
          </a:solidFill>
          <a:ln w="15240">
            <a:solidFill>
              <a:srgbClr val="E88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867911" y="4087368"/>
            <a:ext cx="7488936" cy="850392"/>
          </a:xfrm>
          <a:prstGeom prst="rect">
            <a:avLst/>
          </a:prstGeom>
          <a:noFill/>
        </p:spPr>
        <p:txBody>
          <a:bodyPr wrap="square">
            <a:spAutoFit/>
          </a:bodyPr>
          <a:lstStyle/>
          <a:p>
            <a:pPr>
              <a:defRPr sz="1400" b="1">
                <a:solidFill>
                  <a:srgbClr val="E88A2D"/>
                </a:solidFill>
              </a:defRPr>
            </a:pPr>
            <a:r>
              <a:t>Student activity</a:t>
            </a:r>
          </a:p>
          <a:p>
            <a:pPr>
              <a:spcBef>
                <a:spcPts val="500"/>
              </a:spcBef>
              <a:defRPr sz="1200">
                <a:solidFill>
                  <a:srgbClr val="232323"/>
                </a:solidFill>
              </a:defRPr>
            </a:pPr>
            <a:r>
              <a:t>Run Python first → Try AI prompt → Compare outputs → Write one insight and one caution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6966522" cy="612648"/>
          </a:xfrm>
          <a:prstGeom prst="rect">
            <a:avLst/>
          </a:prstGeom>
          <a:noFill/>
        </p:spPr>
        <p:txBody>
          <a:bodyPr wrap="none">
            <a:normAutofit/>
          </a:bodyPr>
          <a:lstStyle/>
          <a:p>
            <a:pPr>
              <a:defRPr sz="2800" b="1">
                <a:solidFill>
                  <a:srgbClr val="162D4E"/>
                </a:solidFill>
              </a:defRPr>
            </a:pPr>
            <a:r>
              <a:rPr lang="en-SG"/>
              <a:t>9</a:t>
            </a:r>
            <a:r>
              <a:t>. Interactive Scatter: From chart to discovery</a:t>
            </a:r>
            <a:endParaRPr lang="en-SG"/>
          </a:p>
        </p:txBody>
      </p:sp>
      <p:sp>
        <p:nvSpPr>
          <p:cNvPr id="3" name="TextBox 2"/>
          <p:cNvSpPr txBox="1"/>
          <p:nvPr/>
        </p:nvSpPr>
        <p:spPr>
          <a:xfrm>
            <a:off x="621792" y="960120"/>
            <a:ext cx="10789920" cy="384048"/>
          </a:xfrm>
          <a:prstGeom prst="rect">
            <a:avLst/>
          </a:prstGeom>
          <a:noFill/>
        </p:spPr>
        <p:txBody>
          <a:bodyPr wrap="none">
            <a:spAutoFit/>
          </a:bodyPr>
          <a:lstStyle/>
          <a:p>
            <a:pPr>
              <a:defRPr sz="1500">
                <a:solidFill>
                  <a:srgbClr val="606060"/>
                </a:solidFill>
              </a:defRPr>
            </a:pPr>
            <a:r>
              <a:t>Question: Can we identify individual movies?</a:t>
            </a:r>
          </a:p>
        </p:txBody>
      </p:sp>
      <p:sp>
        <p:nvSpPr>
          <p:cNvPr id="4" name="TextBox 3"/>
          <p:cNvSpPr txBox="1"/>
          <p:nvPr/>
        </p:nvSpPr>
        <p:spPr>
          <a:xfrm>
            <a:off x="9457288" y="6473952"/>
            <a:ext cx="2109872" cy="223138"/>
          </a:xfrm>
          <a:prstGeom prst="rect">
            <a:avLst/>
          </a:prstGeom>
          <a:noFill/>
        </p:spPr>
        <p:txBody>
          <a:bodyPr wrap="none">
            <a:spAutoFit/>
          </a:bodyPr>
          <a:lstStyle/>
          <a:p>
            <a:pPr algn="r">
              <a:defRPr sz="850">
                <a:solidFill>
                  <a:srgbClr val="8C8C8C"/>
                </a:solidFill>
              </a:defRPr>
            </a:pPr>
            <a:r>
              <a:t>Data Visualisation with Python and AI  |  </a:t>
            </a:r>
            <a:r>
              <a:rPr lang="en-SG"/>
              <a:t>27</a:t>
            </a:r>
            <a:endParaRPr/>
          </a:p>
        </p:txBody>
      </p:sp>
      <p:sp>
        <p:nvSpPr>
          <p:cNvPr id="5" name="Rounded Rectangle 4"/>
          <p:cNvSpPr/>
          <p:nvPr/>
        </p:nvSpPr>
        <p:spPr>
          <a:xfrm>
            <a:off x="685800" y="1508760"/>
            <a:ext cx="2743200" cy="3108960"/>
          </a:xfrm>
          <a:prstGeom prst="roundRect">
            <a:avLst/>
          </a:prstGeom>
          <a:solidFill>
            <a:srgbClr val="F5F7FA"/>
          </a:solidFill>
          <a:ln w="15240">
            <a:solidFill>
              <a:srgbClr val="E88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0392" y="1618488"/>
            <a:ext cx="2414016" cy="2907791"/>
          </a:xfrm>
          <a:prstGeom prst="rect">
            <a:avLst/>
          </a:prstGeom>
          <a:noFill/>
        </p:spPr>
        <p:txBody>
          <a:bodyPr wrap="square">
            <a:spAutoFit/>
          </a:bodyPr>
          <a:lstStyle/>
          <a:p>
            <a:pPr>
              <a:defRPr sz="1500" b="1">
                <a:solidFill>
                  <a:srgbClr val="E88A2D"/>
                </a:solidFill>
              </a:defRPr>
            </a:pPr>
            <a:r>
              <a:t>What this chart helps us see</a:t>
            </a:r>
          </a:p>
          <a:p>
            <a:pPr>
              <a:spcBef>
                <a:spcPts val="500"/>
              </a:spcBef>
              <a:defRPr sz="1400">
                <a:solidFill>
                  <a:srgbClr val="232323"/>
                </a:solidFill>
              </a:defRPr>
            </a:pPr>
            <a:r>
              <a:t>Activity: find one interesting point</a:t>
            </a:r>
          </a:p>
        </p:txBody>
      </p:sp>
      <p:sp>
        <p:nvSpPr>
          <p:cNvPr id="7" name="Oval 6"/>
          <p:cNvSpPr/>
          <p:nvPr/>
        </p:nvSpPr>
        <p:spPr>
          <a:xfrm>
            <a:off x="1495958" y="4443983"/>
            <a:ext cx="109728" cy="109728"/>
          </a:xfrm>
          <a:prstGeom prst="ellipse">
            <a:avLst/>
          </a:prstGeom>
          <a:solidFill>
            <a:srgbClr val="E88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637690" y="4270248"/>
            <a:ext cx="109728" cy="109728"/>
          </a:xfrm>
          <a:prstGeom prst="ellipse">
            <a:avLst/>
          </a:prstGeom>
          <a:solidFill>
            <a:srgbClr val="E88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821942" y="4313681"/>
            <a:ext cx="109728" cy="109728"/>
          </a:xfrm>
          <a:prstGeom prst="ellipse">
            <a:avLst/>
          </a:prstGeom>
          <a:solidFill>
            <a:srgbClr val="E88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977847" y="4122572"/>
            <a:ext cx="109728" cy="109728"/>
          </a:xfrm>
          <a:prstGeom prst="ellipse">
            <a:avLst/>
          </a:prstGeom>
          <a:solidFill>
            <a:srgbClr val="E88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2105406" y="4200753"/>
            <a:ext cx="109728" cy="109728"/>
          </a:xfrm>
          <a:prstGeom prst="ellipse">
            <a:avLst/>
          </a:prstGeom>
          <a:solidFill>
            <a:srgbClr val="E88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2261311" y="4027017"/>
            <a:ext cx="109728" cy="109728"/>
          </a:xfrm>
          <a:prstGeom prst="ellipse">
            <a:avLst/>
          </a:prstGeom>
          <a:solidFill>
            <a:srgbClr val="E88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2431389" y="3966209"/>
            <a:ext cx="109728" cy="109728"/>
          </a:xfrm>
          <a:prstGeom prst="ellipse">
            <a:avLst/>
          </a:prstGeom>
          <a:solidFill>
            <a:srgbClr val="E88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601468" y="4079138"/>
            <a:ext cx="109728" cy="109728"/>
          </a:xfrm>
          <a:prstGeom prst="ellipse">
            <a:avLst/>
          </a:prstGeom>
          <a:solidFill>
            <a:srgbClr val="E88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703320" y="1508760"/>
            <a:ext cx="4023360" cy="2350000"/>
          </a:xfrm>
          <a:prstGeom prst="roundRect">
            <a:avLst/>
          </a:prstGeom>
          <a:solidFill>
            <a:srgbClr val="FAFAFA"/>
          </a:solidFill>
          <a:ln>
            <a:solidFill>
              <a:srgbClr val="CDD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849624" y="1618488"/>
            <a:ext cx="3730752" cy="1046440"/>
          </a:xfrm>
          <a:prstGeom prst="rect">
            <a:avLst/>
          </a:prstGeom>
          <a:noFill/>
        </p:spPr>
        <p:txBody>
          <a:bodyPr wrap="square">
            <a:spAutoFit/>
          </a:bodyPr>
          <a:lstStyle/>
          <a:p>
            <a:pPr>
              <a:defRPr sz="1000">
                <a:solidFill>
                  <a:srgbClr val="232323"/>
                </a:solidFill>
                <a:latin typeface="Consolas"/>
              </a:defRPr>
            </a:pPr>
            <a:r>
              <a:t>fig = px.scatter(df, x='vote_average', y='vote_count', hover_data=['title'])</a:t>
            </a:r>
            <a:br/>
            <a:r>
              <a:t>fig.show()</a:t>
            </a:r>
            <a:endParaRPr lang="en-US"/>
          </a:p>
          <a:p>
            <a:pPr>
              <a:spcBef>
                <a:spcPts val="200"/>
              </a:spcBef>
              <a:defRPr sz="900">
                <a:solidFill>
                  <a:srgbClr val="3A3A3A"/>
                </a:solidFill>
              </a:defRPr>
            </a:pPr>
            <a:r>
              <a:rPr lang="en-US"/>
              <a:t>- plotly.express builds interactive charts.</a:t>
            </a:r>
          </a:p>
          <a:p>
            <a:pPr>
              <a:spcBef>
                <a:spcPts val="200"/>
              </a:spcBef>
              <a:defRPr sz="900">
                <a:solidFill>
                  <a:srgbClr val="3A3A3A"/>
                </a:solidFill>
              </a:defRPr>
            </a:pPr>
            <a:r>
              <a:rPr lang="en-US"/>
              <a:t>- hover_data controls what appears when you hover.</a:t>
            </a:r>
          </a:p>
          <a:p>
            <a:pPr>
              <a:spcBef>
                <a:spcPts val="200"/>
              </a:spcBef>
              <a:defRPr sz="900">
                <a:solidFill>
                  <a:srgbClr val="3A3A3A"/>
                </a:solidFill>
              </a:defRPr>
            </a:pPr>
            <a:r>
              <a:rPr lang="en-US"/>
              <a:t>- labels renames the axes so they read clearly.</a:t>
            </a:r>
          </a:p>
        </p:txBody>
      </p:sp>
      <p:sp>
        <p:nvSpPr>
          <p:cNvPr id="17" name="Rounded Rectangle 16"/>
          <p:cNvSpPr/>
          <p:nvPr/>
        </p:nvSpPr>
        <p:spPr>
          <a:xfrm>
            <a:off x="8001000" y="1508760"/>
            <a:ext cx="3520440" cy="2350000"/>
          </a:xfrm>
          <a:prstGeom prst="roundRect">
            <a:avLst/>
          </a:prstGeom>
          <a:solidFill>
            <a:srgbClr val="E8F8F4"/>
          </a:solidFill>
          <a:ln w="15240">
            <a:solidFill>
              <a:srgbClr val="2A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65592" y="1618488"/>
            <a:ext cx="3191256" cy="1719072"/>
          </a:xfrm>
          <a:prstGeom prst="rect">
            <a:avLst/>
          </a:prstGeom>
          <a:noFill/>
        </p:spPr>
        <p:txBody>
          <a:bodyPr wrap="square">
            <a:spAutoFit/>
          </a:bodyPr>
          <a:lstStyle/>
          <a:p>
            <a:pPr>
              <a:defRPr sz="1400" b="1">
                <a:solidFill>
                  <a:srgbClr val="2A9688"/>
                </a:solidFill>
              </a:defRPr>
            </a:pPr>
            <a:r>
              <a:t>AI prompt to try</a:t>
            </a:r>
          </a:p>
          <a:p>
            <a:pPr>
              <a:spcBef>
                <a:spcPts val="500"/>
              </a:spcBef>
              <a:defRPr sz="1200">
                <a:solidFill>
                  <a:srgbClr val="232323"/>
                </a:solidFill>
              </a:defRPr>
            </a:pPr>
            <a:r>
              <a:t>Use AI to add genre colour and richer hover information.</a:t>
            </a:r>
          </a:p>
        </p:txBody>
      </p:sp>
      <p:sp>
        <p:nvSpPr>
          <p:cNvPr id="19" name="Rounded Rectangle 18"/>
          <p:cNvSpPr/>
          <p:nvPr/>
        </p:nvSpPr>
        <p:spPr>
          <a:xfrm>
            <a:off x="3703320" y="3977639"/>
            <a:ext cx="7818120" cy="1051560"/>
          </a:xfrm>
          <a:prstGeom prst="roundRect">
            <a:avLst/>
          </a:prstGeom>
          <a:solidFill>
            <a:srgbClr val="FFF4E8"/>
          </a:solidFill>
          <a:ln w="15240">
            <a:solidFill>
              <a:srgbClr val="E88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867911" y="4087368"/>
            <a:ext cx="7488936" cy="850392"/>
          </a:xfrm>
          <a:prstGeom prst="rect">
            <a:avLst/>
          </a:prstGeom>
          <a:noFill/>
        </p:spPr>
        <p:txBody>
          <a:bodyPr wrap="square">
            <a:spAutoFit/>
          </a:bodyPr>
          <a:lstStyle/>
          <a:p>
            <a:pPr>
              <a:defRPr sz="1400" b="1">
                <a:solidFill>
                  <a:srgbClr val="E88A2D"/>
                </a:solidFill>
              </a:defRPr>
            </a:pPr>
            <a:r>
              <a:t>Student activity</a:t>
            </a:r>
          </a:p>
          <a:p>
            <a:pPr>
              <a:spcBef>
                <a:spcPts val="500"/>
              </a:spcBef>
              <a:defRPr sz="1200">
                <a:solidFill>
                  <a:srgbClr val="232323"/>
                </a:solidFill>
              </a:defRPr>
            </a:pPr>
            <a:r>
              <a:t>Run Python first → Try AI prompt → Compare outputs → Write one insight and one caution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6521914" cy="612648"/>
          </a:xfrm>
          <a:prstGeom prst="rect">
            <a:avLst/>
          </a:prstGeom>
          <a:noFill/>
        </p:spPr>
        <p:txBody>
          <a:bodyPr wrap="none">
            <a:normAutofit/>
          </a:bodyPr>
          <a:lstStyle/>
          <a:p>
            <a:pPr>
              <a:defRPr sz="2800" b="1">
                <a:solidFill>
                  <a:srgbClr val="162D4E"/>
                </a:solidFill>
              </a:defRPr>
            </a:pPr>
            <a:r>
              <a:rPr lang="en-SG"/>
              <a:t>10</a:t>
            </a:r>
            <a:r>
              <a:t>. Bubble Chart: More than two variables</a:t>
            </a:r>
            <a:endParaRPr lang="en-SG"/>
          </a:p>
        </p:txBody>
      </p:sp>
      <p:sp>
        <p:nvSpPr>
          <p:cNvPr id="3" name="TextBox 2"/>
          <p:cNvSpPr txBox="1"/>
          <p:nvPr/>
        </p:nvSpPr>
        <p:spPr>
          <a:xfrm>
            <a:off x="621792" y="960120"/>
            <a:ext cx="10789920" cy="384048"/>
          </a:xfrm>
          <a:prstGeom prst="rect">
            <a:avLst/>
          </a:prstGeom>
          <a:noFill/>
        </p:spPr>
        <p:txBody>
          <a:bodyPr wrap="none">
            <a:spAutoFit/>
          </a:bodyPr>
          <a:lstStyle/>
          <a:p>
            <a:pPr>
              <a:defRPr sz="1500">
                <a:solidFill>
                  <a:srgbClr val="606060"/>
                </a:solidFill>
              </a:defRPr>
            </a:pPr>
            <a:r>
              <a:t>Question: How do budget, revenue, popularity and genre relate?</a:t>
            </a:r>
          </a:p>
        </p:txBody>
      </p:sp>
      <p:sp>
        <p:nvSpPr>
          <p:cNvPr id="4" name="TextBox 3"/>
          <p:cNvSpPr txBox="1"/>
          <p:nvPr/>
        </p:nvSpPr>
        <p:spPr>
          <a:xfrm>
            <a:off x="9457288" y="6473952"/>
            <a:ext cx="2109872" cy="223138"/>
          </a:xfrm>
          <a:prstGeom prst="rect">
            <a:avLst/>
          </a:prstGeom>
          <a:noFill/>
        </p:spPr>
        <p:txBody>
          <a:bodyPr wrap="none">
            <a:spAutoFit/>
          </a:bodyPr>
          <a:lstStyle/>
          <a:p>
            <a:pPr algn="r">
              <a:defRPr sz="850">
                <a:solidFill>
                  <a:srgbClr val="8C8C8C"/>
                </a:solidFill>
              </a:defRPr>
            </a:pPr>
            <a:r>
              <a:t>Data Visualisation with Python and AI  |  </a:t>
            </a:r>
            <a:r>
              <a:rPr lang="en-SG"/>
              <a:t>28</a:t>
            </a:r>
            <a:endParaRPr/>
          </a:p>
        </p:txBody>
      </p:sp>
      <p:sp>
        <p:nvSpPr>
          <p:cNvPr id="5" name="Rounded Rectangle 4"/>
          <p:cNvSpPr/>
          <p:nvPr/>
        </p:nvSpPr>
        <p:spPr>
          <a:xfrm>
            <a:off x="685800" y="1508760"/>
            <a:ext cx="2743200" cy="3108960"/>
          </a:xfrm>
          <a:prstGeom prst="roundRect">
            <a:avLst/>
          </a:prstGeom>
          <a:solidFill>
            <a:srgbClr val="F5F7FA"/>
          </a:solidFill>
          <a:ln w="15240">
            <a:solidFill>
              <a:srgbClr val="665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0392" y="1618488"/>
            <a:ext cx="2414016" cy="2907791"/>
          </a:xfrm>
          <a:prstGeom prst="rect">
            <a:avLst/>
          </a:prstGeom>
          <a:noFill/>
        </p:spPr>
        <p:txBody>
          <a:bodyPr wrap="square">
            <a:spAutoFit/>
          </a:bodyPr>
          <a:lstStyle/>
          <a:p>
            <a:pPr>
              <a:defRPr sz="1500" b="1">
                <a:solidFill>
                  <a:srgbClr val="6656AA"/>
                </a:solidFill>
              </a:defRPr>
            </a:pPr>
            <a:r>
              <a:t>What this chart helps us see</a:t>
            </a:r>
          </a:p>
          <a:p>
            <a:pPr>
              <a:spcBef>
                <a:spcPts val="500"/>
              </a:spcBef>
              <a:defRPr sz="1400">
                <a:solidFill>
                  <a:srgbClr val="232323"/>
                </a:solidFill>
              </a:defRPr>
            </a:pPr>
            <a:r>
              <a:t>Ask: richer insight or visual overload?</a:t>
            </a:r>
          </a:p>
        </p:txBody>
      </p:sp>
      <p:sp>
        <p:nvSpPr>
          <p:cNvPr id="7" name="Oval 6"/>
          <p:cNvSpPr/>
          <p:nvPr/>
        </p:nvSpPr>
        <p:spPr>
          <a:xfrm>
            <a:off x="1495958" y="4443983"/>
            <a:ext cx="109728" cy="109728"/>
          </a:xfrm>
          <a:prstGeom prst="ellipse">
            <a:avLst/>
          </a:prstGeom>
          <a:solidFill>
            <a:srgbClr val="66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637690" y="4270248"/>
            <a:ext cx="109728" cy="109728"/>
          </a:xfrm>
          <a:prstGeom prst="ellipse">
            <a:avLst/>
          </a:prstGeom>
          <a:solidFill>
            <a:srgbClr val="66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821942" y="4313681"/>
            <a:ext cx="109728" cy="109728"/>
          </a:xfrm>
          <a:prstGeom prst="ellipse">
            <a:avLst/>
          </a:prstGeom>
          <a:solidFill>
            <a:srgbClr val="66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977847" y="4122572"/>
            <a:ext cx="109728" cy="109728"/>
          </a:xfrm>
          <a:prstGeom prst="ellipse">
            <a:avLst/>
          </a:prstGeom>
          <a:solidFill>
            <a:srgbClr val="66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2105406" y="4200753"/>
            <a:ext cx="109728" cy="109728"/>
          </a:xfrm>
          <a:prstGeom prst="ellipse">
            <a:avLst/>
          </a:prstGeom>
          <a:solidFill>
            <a:srgbClr val="66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2261311" y="4027017"/>
            <a:ext cx="109728" cy="109728"/>
          </a:xfrm>
          <a:prstGeom prst="ellipse">
            <a:avLst/>
          </a:prstGeom>
          <a:solidFill>
            <a:srgbClr val="66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2431389" y="3966209"/>
            <a:ext cx="109728" cy="109728"/>
          </a:xfrm>
          <a:prstGeom prst="ellipse">
            <a:avLst/>
          </a:prstGeom>
          <a:solidFill>
            <a:srgbClr val="66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601468" y="4079138"/>
            <a:ext cx="109728" cy="109728"/>
          </a:xfrm>
          <a:prstGeom prst="ellipse">
            <a:avLst/>
          </a:prstGeom>
          <a:solidFill>
            <a:srgbClr val="66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703320" y="1508760"/>
            <a:ext cx="4023360" cy="2350000"/>
          </a:xfrm>
          <a:prstGeom prst="roundRect">
            <a:avLst/>
          </a:prstGeom>
          <a:solidFill>
            <a:srgbClr val="FAFAFA"/>
          </a:solidFill>
          <a:ln>
            <a:solidFill>
              <a:srgbClr val="CDD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849624" y="1618488"/>
            <a:ext cx="3730752" cy="1046440"/>
          </a:xfrm>
          <a:prstGeom prst="rect">
            <a:avLst/>
          </a:prstGeom>
          <a:noFill/>
        </p:spPr>
        <p:txBody>
          <a:bodyPr wrap="square">
            <a:spAutoFit/>
          </a:bodyPr>
          <a:lstStyle/>
          <a:p>
            <a:pPr>
              <a:defRPr sz="1000">
                <a:solidFill>
                  <a:srgbClr val="232323"/>
                </a:solidFill>
                <a:latin typeface="Consolas"/>
              </a:defRPr>
            </a:pPr>
            <a:r>
              <a:t>fig = px.scatter(df, x='budget', y='revenue', size='popularity', color='primary_genre', log_x=True, log_y=True)</a:t>
            </a:r>
            <a:endParaRPr lang="en-US"/>
          </a:p>
          <a:p>
            <a:pPr>
              <a:spcBef>
                <a:spcPts val="200"/>
              </a:spcBef>
              <a:defRPr sz="900">
                <a:solidFill>
                  <a:srgbClr val="3A3A3A"/>
                </a:solidFill>
              </a:defRPr>
            </a:pPr>
            <a:r>
              <a:rPr lang="en-US"/>
              <a:t>- Bubble size shows popularity; colour shows genre.</a:t>
            </a:r>
          </a:p>
          <a:p>
            <a:pPr>
              <a:spcBef>
                <a:spcPts val="200"/>
              </a:spcBef>
              <a:defRPr sz="900">
                <a:solidFill>
                  <a:srgbClr val="3A3A3A"/>
                </a:solidFill>
              </a:defRPr>
            </a:pPr>
            <a:r>
              <a:rPr lang="en-US"/>
              <a:t>- log_x and log_y handle very wide value ranges.</a:t>
            </a:r>
          </a:p>
          <a:p>
            <a:pPr>
              <a:spcBef>
                <a:spcPts val="200"/>
              </a:spcBef>
              <a:defRPr sz="900">
                <a:solidFill>
                  <a:srgbClr val="3A3A3A"/>
                </a:solidFill>
              </a:defRPr>
            </a:pPr>
            <a:r>
              <a:rPr lang="en-US"/>
              <a:t>- Four variables at once — check it is still readable.</a:t>
            </a:r>
          </a:p>
        </p:txBody>
      </p:sp>
      <p:sp>
        <p:nvSpPr>
          <p:cNvPr id="17" name="Rounded Rectangle 16"/>
          <p:cNvSpPr/>
          <p:nvPr/>
        </p:nvSpPr>
        <p:spPr>
          <a:xfrm>
            <a:off x="8001000" y="1508760"/>
            <a:ext cx="3520440" cy="2350000"/>
          </a:xfrm>
          <a:prstGeom prst="roundRect">
            <a:avLst/>
          </a:prstGeom>
          <a:solidFill>
            <a:srgbClr val="E8F8F4"/>
          </a:solidFill>
          <a:ln w="15240">
            <a:solidFill>
              <a:srgbClr val="2A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65592" y="1618488"/>
            <a:ext cx="3191256" cy="1719072"/>
          </a:xfrm>
          <a:prstGeom prst="rect">
            <a:avLst/>
          </a:prstGeom>
          <a:noFill/>
        </p:spPr>
        <p:txBody>
          <a:bodyPr wrap="square">
            <a:spAutoFit/>
          </a:bodyPr>
          <a:lstStyle/>
          <a:p>
            <a:pPr>
              <a:defRPr sz="1400" b="1">
                <a:solidFill>
                  <a:srgbClr val="2A9688"/>
                </a:solidFill>
              </a:defRPr>
            </a:pPr>
            <a:r>
              <a:t>AI prompt to try</a:t>
            </a:r>
          </a:p>
          <a:p>
            <a:pPr>
              <a:spcBef>
                <a:spcPts val="500"/>
              </a:spcBef>
              <a:defRPr sz="1200">
                <a:solidFill>
                  <a:srgbClr val="232323"/>
                </a:solidFill>
              </a:defRPr>
            </a:pPr>
            <a:r>
              <a:t>Use AI to critique whether the chart is too complex.</a:t>
            </a:r>
          </a:p>
        </p:txBody>
      </p:sp>
      <p:sp>
        <p:nvSpPr>
          <p:cNvPr id="19" name="Rounded Rectangle 18"/>
          <p:cNvSpPr/>
          <p:nvPr/>
        </p:nvSpPr>
        <p:spPr>
          <a:xfrm>
            <a:off x="3703320" y="3977639"/>
            <a:ext cx="7818120" cy="1051560"/>
          </a:xfrm>
          <a:prstGeom prst="roundRect">
            <a:avLst/>
          </a:prstGeom>
          <a:solidFill>
            <a:srgbClr val="FFF4E8"/>
          </a:solidFill>
          <a:ln w="15240">
            <a:solidFill>
              <a:srgbClr val="E88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867911" y="4087368"/>
            <a:ext cx="7488936" cy="850392"/>
          </a:xfrm>
          <a:prstGeom prst="rect">
            <a:avLst/>
          </a:prstGeom>
          <a:noFill/>
        </p:spPr>
        <p:txBody>
          <a:bodyPr wrap="square">
            <a:spAutoFit/>
          </a:bodyPr>
          <a:lstStyle/>
          <a:p>
            <a:pPr>
              <a:defRPr sz="1400" b="1">
                <a:solidFill>
                  <a:srgbClr val="E88A2D"/>
                </a:solidFill>
              </a:defRPr>
            </a:pPr>
            <a:r>
              <a:t>Student activity</a:t>
            </a:r>
          </a:p>
          <a:p>
            <a:pPr>
              <a:spcBef>
                <a:spcPts val="500"/>
              </a:spcBef>
              <a:defRPr sz="1200">
                <a:solidFill>
                  <a:srgbClr val="232323"/>
                </a:solidFill>
              </a:defRPr>
            </a:pPr>
            <a:r>
              <a:t>Run Python first → Try AI prompt → Compare outputs → Write one insight and one caution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8151142" cy="612648"/>
          </a:xfrm>
          <a:prstGeom prst="rect">
            <a:avLst/>
          </a:prstGeom>
          <a:noFill/>
        </p:spPr>
        <p:txBody>
          <a:bodyPr wrap="none">
            <a:normAutofit/>
          </a:bodyPr>
          <a:lstStyle/>
          <a:p>
            <a:pPr>
              <a:defRPr sz="2800" b="1">
                <a:solidFill>
                  <a:srgbClr val="162D4E"/>
                </a:solidFill>
              </a:defRPr>
            </a:pPr>
            <a:r>
              <a:rPr lang="en-SG"/>
              <a:t>11</a:t>
            </a:r>
            <a:r>
              <a:t>. Hexbin / 2D Density: When scatter is too crowded</a:t>
            </a:r>
            <a:endParaRPr lang="en-SG"/>
          </a:p>
        </p:txBody>
      </p:sp>
      <p:sp>
        <p:nvSpPr>
          <p:cNvPr id="3" name="TextBox 2"/>
          <p:cNvSpPr txBox="1"/>
          <p:nvPr/>
        </p:nvSpPr>
        <p:spPr>
          <a:xfrm>
            <a:off x="621792" y="960120"/>
            <a:ext cx="10789920" cy="384048"/>
          </a:xfrm>
          <a:prstGeom prst="rect">
            <a:avLst/>
          </a:prstGeom>
          <a:noFill/>
        </p:spPr>
        <p:txBody>
          <a:bodyPr wrap="none">
            <a:spAutoFit/>
          </a:bodyPr>
          <a:lstStyle/>
          <a:p>
            <a:pPr>
              <a:defRPr sz="1500">
                <a:solidFill>
                  <a:srgbClr val="606060"/>
                </a:solidFill>
              </a:defRPr>
            </a:pPr>
            <a:r>
              <a:t>Question: Where are movies concentrated?</a:t>
            </a:r>
          </a:p>
        </p:txBody>
      </p:sp>
      <p:sp>
        <p:nvSpPr>
          <p:cNvPr id="4" name="TextBox 3"/>
          <p:cNvSpPr txBox="1"/>
          <p:nvPr/>
        </p:nvSpPr>
        <p:spPr>
          <a:xfrm>
            <a:off x="9457288" y="6473952"/>
            <a:ext cx="2109872" cy="223138"/>
          </a:xfrm>
          <a:prstGeom prst="rect">
            <a:avLst/>
          </a:prstGeom>
          <a:noFill/>
        </p:spPr>
        <p:txBody>
          <a:bodyPr wrap="none">
            <a:spAutoFit/>
          </a:bodyPr>
          <a:lstStyle/>
          <a:p>
            <a:pPr algn="r">
              <a:defRPr sz="850">
                <a:solidFill>
                  <a:srgbClr val="8C8C8C"/>
                </a:solidFill>
              </a:defRPr>
            </a:pPr>
            <a:r>
              <a:t>Data Visualisation with Python and AI  |  </a:t>
            </a:r>
            <a:r>
              <a:rPr lang="en-SG"/>
              <a:t>29</a:t>
            </a:r>
            <a:endParaRPr/>
          </a:p>
        </p:txBody>
      </p:sp>
      <p:sp>
        <p:nvSpPr>
          <p:cNvPr id="5" name="Rounded Rectangle 4"/>
          <p:cNvSpPr/>
          <p:nvPr/>
        </p:nvSpPr>
        <p:spPr>
          <a:xfrm>
            <a:off x="685800" y="1508760"/>
            <a:ext cx="2743200" cy="3108960"/>
          </a:xfrm>
          <a:prstGeom prst="roundRect">
            <a:avLst/>
          </a:prstGeom>
          <a:solidFill>
            <a:srgbClr val="F5F7FA"/>
          </a:solidFill>
          <a:ln w="15240">
            <a:solidFill>
              <a:srgbClr val="2F69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0392" y="1618488"/>
            <a:ext cx="2414016" cy="2907791"/>
          </a:xfrm>
          <a:prstGeom prst="rect">
            <a:avLst/>
          </a:prstGeom>
          <a:noFill/>
        </p:spPr>
        <p:txBody>
          <a:bodyPr wrap="square">
            <a:spAutoFit/>
          </a:bodyPr>
          <a:lstStyle/>
          <a:p>
            <a:pPr>
              <a:defRPr sz="1500" b="1">
                <a:solidFill>
                  <a:srgbClr val="2F69B4"/>
                </a:solidFill>
              </a:defRPr>
            </a:pPr>
            <a:r>
              <a:t>What this chart helps us see</a:t>
            </a:r>
          </a:p>
          <a:p>
            <a:pPr>
              <a:spcBef>
                <a:spcPts val="500"/>
              </a:spcBef>
              <a:defRPr sz="1400">
                <a:solidFill>
                  <a:srgbClr val="232323"/>
                </a:solidFill>
              </a:defRPr>
            </a:pPr>
            <a:r>
              <a:t>Look for: dense regions, not individual movies</a:t>
            </a:r>
          </a:p>
        </p:txBody>
      </p:sp>
      <p:sp>
        <p:nvSpPr>
          <p:cNvPr id="7" name="Rectangle 6"/>
          <p:cNvSpPr/>
          <p:nvPr/>
        </p:nvSpPr>
        <p:spPr>
          <a:xfrm>
            <a:off x="1325880" y="3749039"/>
            <a:ext cx="354330" cy="217170"/>
          </a:xfrm>
          <a:prstGeom prst="rect">
            <a:avLst/>
          </a:prstGeom>
          <a:solidFill>
            <a:srgbClr val="4678C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325880" y="3966209"/>
            <a:ext cx="354330" cy="217170"/>
          </a:xfrm>
          <a:prstGeom prst="rect">
            <a:avLst/>
          </a:prstGeom>
          <a:solidFill>
            <a:srgbClr val="B4D2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325880" y="4183379"/>
            <a:ext cx="354330" cy="217170"/>
          </a:xfrm>
          <a:prstGeom prst="rect">
            <a:avLst/>
          </a:prstGeom>
          <a:solidFill>
            <a:srgbClr val="F5CD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325880" y="4400550"/>
            <a:ext cx="354330" cy="217170"/>
          </a:xfrm>
          <a:prstGeom prst="rect">
            <a:avLst/>
          </a:prstGeom>
          <a:solidFill>
            <a:srgbClr val="D2555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680210" y="3749039"/>
            <a:ext cx="354330" cy="217170"/>
          </a:xfrm>
          <a:prstGeom prst="rect">
            <a:avLst/>
          </a:prstGeom>
          <a:solidFill>
            <a:srgbClr val="B4D2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680210" y="3966209"/>
            <a:ext cx="354330" cy="217170"/>
          </a:xfrm>
          <a:prstGeom prst="rect">
            <a:avLst/>
          </a:prstGeom>
          <a:solidFill>
            <a:srgbClr val="F5CD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680210" y="4183379"/>
            <a:ext cx="354330" cy="217170"/>
          </a:xfrm>
          <a:prstGeom prst="rect">
            <a:avLst/>
          </a:prstGeom>
          <a:solidFill>
            <a:srgbClr val="D2555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680210" y="4400550"/>
            <a:ext cx="354330" cy="217170"/>
          </a:xfrm>
          <a:prstGeom prst="rect">
            <a:avLst/>
          </a:prstGeom>
          <a:solidFill>
            <a:srgbClr val="4678C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034540" y="3749039"/>
            <a:ext cx="354330" cy="217170"/>
          </a:xfrm>
          <a:prstGeom prst="rect">
            <a:avLst/>
          </a:prstGeom>
          <a:solidFill>
            <a:srgbClr val="F5CD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034540" y="3966209"/>
            <a:ext cx="354330" cy="217170"/>
          </a:xfrm>
          <a:prstGeom prst="rect">
            <a:avLst/>
          </a:prstGeom>
          <a:solidFill>
            <a:srgbClr val="D2555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034540" y="4183379"/>
            <a:ext cx="354330" cy="217170"/>
          </a:xfrm>
          <a:prstGeom prst="rect">
            <a:avLst/>
          </a:prstGeom>
          <a:solidFill>
            <a:srgbClr val="4678C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034540" y="4400550"/>
            <a:ext cx="354330" cy="217170"/>
          </a:xfrm>
          <a:prstGeom prst="rect">
            <a:avLst/>
          </a:prstGeom>
          <a:solidFill>
            <a:srgbClr val="B4D2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388870" y="3749039"/>
            <a:ext cx="354330" cy="217170"/>
          </a:xfrm>
          <a:prstGeom prst="rect">
            <a:avLst/>
          </a:prstGeom>
          <a:solidFill>
            <a:srgbClr val="D2555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388870" y="3966209"/>
            <a:ext cx="354330" cy="217170"/>
          </a:xfrm>
          <a:prstGeom prst="rect">
            <a:avLst/>
          </a:prstGeom>
          <a:solidFill>
            <a:srgbClr val="4678C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388870" y="4183379"/>
            <a:ext cx="354330" cy="217170"/>
          </a:xfrm>
          <a:prstGeom prst="rect">
            <a:avLst/>
          </a:prstGeom>
          <a:solidFill>
            <a:srgbClr val="B4D2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388870" y="4400550"/>
            <a:ext cx="354330" cy="217170"/>
          </a:xfrm>
          <a:prstGeom prst="rect">
            <a:avLst/>
          </a:prstGeom>
          <a:solidFill>
            <a:srgbClr val="F5CDB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3703320" y="1508760"/>
            <a:ext cx="4023360" cy="2350000"/>
          </a:xfrm>
          <a:prstGeom prst="roundRect">
            <a:avLst/>
          </a:prstGeom>
          <a:solidFill>
            <a:srgbClr val="FAFAFA"/>
          </a:solidFill>
          <a:ln>
            <a:solidFill>
              <a:srgbClr val="CDD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849624" y="1618488"/>
            <a:ext cx="3730752" cy="892552"/>
          </a:xfrm>
          <a:prstGeom prst="rect">
            <a:avLst/>
          </a:prstGeom>
          <a:noFill/>
        </p:spPr>
        <p:txBody>
          <a:bodyPr wrap="square">
            <a:spAutoFit/>
          </a:bodyPr>
          <a:lstStyle/>
          <a:p>
            <a:pPr>
              <a:defRPr sz="1000">
                <a:solidFill>
                  <a:srgbClr val="232323"/>
                </a:solidFill>
                <a:latin typeface="Consolas"/>
              </a:defRPr>
            </a:pPr>
            <a:r>
              <a:t>plt.hexbin(df['vote_average'], df['vote_count'], gridsize=30, cmap='Blues')</a:t>
            </a:r>
            <a:endParaRPr lang="en-US"/>
          </a:p>
          <a:p>
            <a:pPr>
              <a:spcBef>
                <a:spcPts val="200"/>
              </a:spcBef>
              <a:defRPr sz="900">
                <a:solidFill>
                  <a:srgbClr val="3A3A3A"/>
                </a:solidFill>
              </a:defRPr>
            </a:pPr>
            <a:r>
              <a:rPr lang="en-US"/>
              <a:t>- hexbin groups many points into hexagonal bins.</a:t>
            </a:r>
          </a:p>
          <a:p>
            <a:pPr>
              <a:spcBef>
                <a:spcPts val="200"/>
              </a:spcBef>
              <a:defRPr sz="900">
                <a:solidFill>
                  <a:srgbClr val="3A3A3A"/>
                </a:solidFill>
              </a:defRPr>
            </a:pPr>
            <a:r>
              <a:rPr lang="en-US"/>
              <a:t>- gridsize controls how fine the bins are.</a:t>
            </a:r>
          </a:p>
          <a:p>
            <a:pPr>
              <a:spcBef>
                <a:spcPts val="200"/>
              </a:spcBef>
              <a:defRPr sz="900">
                <a:solidFill>
                  <a:srgbClr val="3A3A3A"/>
                </a:solidFill>
              </a:defRPr>
            </a:pPr>
            <a:r>
              <a:rPr lang="en-US"/>
              <a:t>- Darker areas simply mean more movies.</a:t>
            </a:r>
          </a:p>
        </p:txBody>
      </p:sp>
      <p:sp>
        <p:nvSpPr>
          <p:cNvPr id="25" name="Rounded Rectangle 24"/>
          <p:cNvSpPr/>
          <p:nvPr/>
        </p:nvSpPr>
        <p:spPr>
          <a:xfrm>
            <a:off x="8001000" y="1508760"/>
            <a:ext cx="3520440" cy="2350000"/>
          </a:xfrm>
          <a:prstGeom prst="roundRect">
            <a:avLst/>
          </a:prstGeom>
          <a:solidFill>
            <a:srgbClr val="E8F8F4"/>
          </a:solidFill>
          <a:ln w="15240">
            <a:solidFill>
              <a:srgbClr val="2A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65592" y="1618488"/>
            <a:ext cx="3191256" cy="1719072"/>
          </a:xfrm>
          <a:prstGeom prst="rect">
            <a:avLst/>
          </a:prstGeom>
          <a:noFill/>
        </p:spPr>
        <p:txBody>
          <a:bodyPr wrap="square">
            <a:spAutoFit/>
          </a:bodyPr>
          <a:lstStyle/>
          <a:p>
            <a:pPr>
              <a:defRPr sz="1400" b="1">
                <a:solidFill>
                  <a:srgbClr val="2A9688"/>
                </a:solidFill>
              </a:defRPr>
            </a:pPr>
            <a:r>
              <a:t>AI prompt to try</a:t>
            </a:r>
          </a:p>
          <a:p>
            <a:pPr>
              <a:spcBef>
                <a:spcPts val="500"/>
              </a:spcBef>
              <a:defRPr sz="1200">
                <a:solidFill>
                  <a:srgbClr val="232323"/>
                </a:solidFill>
              </a:defRPr>
            </a:pPr>
            <a:r>
              <a:t>Use AI to explain why density can be clearer than dots.</a:t>
            </a:r>
          </a:p>
        </p:txBody>
      </p:sp>
      <p:sp>
        <p:nvSpPr>
          <p:cNvPr id="27" name="Rounded Rectangle 26"/>
          <p:cNvSpPr/>
          <p:nvPr/>
        </p:nvSpPr>
        <p:spPr>
          <a:xfrm>
            <a:off x="3703320" y="3977639"/>
            <a:ext cx="7818120" cy="1051560"/>
          </a:xfrm>
          <a:prstGeom prst="roundRect">
            <a:avLst/>
          </a:prstGeom>
          <a:solidFill>
            <a:srgbClr val="FFF4E8"/>
          </a:solidFill>
          <a:ln w="15240">
            <a:solidFill>
              <a:srgbClr val="E88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867911" y="4087368"/>
            <a:ext cx="7488936" cy="850392"/>
          </a:xfrm>
          <a:prstGeom prst="rect">
            <a:avLst/>
          </a:prstGeom>
          <a:noFill/>
        </p:spPr>
        <p:txBody>
          <a:bodyPr wrap="square">
            <a:spAutoFit/>
          </a:bodyPr>
          <a:lstStyle/>
          <a:p>
            <a:pPr>
              <a:defRPr sz="1400" b="1">
                <a:solidFill>
                  <a:srgbClr val="E88A2D"/>
                </a:solidFill>
              </a:defRPr>
            </a:pPr>
            <a:r>
              <a:t>Student activity</a:t>
            </a:r>
          </a:p>
          <a:p>
            <a:pPr>
              <a:spcBef>
                <a:spcPts val="500"/>
              </a:spcBef>
              <a:defRPr sz="1200">
                <a:solidFill>
                  <a:srgbClr val="232323"/>
                </a:solidFill>
              </a:defRPr>
            </a:pPr>
            <a:r>
              <a:t>Run Python first → Try AI prompt → Compare outputs → Write one insight and one caution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5891356" cy="612648"/>
          </a:xfrm>
          <a:prstGeom prst="rect">
            <a:avLst/>
          </a:prstGeom>
          <a:noFill/>
        </p:spPr>
        <p:txBody>
          <a:bodyPr wrap="none">
            <a:normAutofit/>
          </a:bodyPr>
          <a:lstStyle/>
          <a:p>
            <a:pPr>
              <a:defRPr sz="2800" b="1">
                <a:solidFill>
                  <a:srgbClr val="162D4E"/>
                </a:solidFill>
              </a:defRPr>
            </a:pPr>
            <a:r>
              <a:rPr lang="en-SG"/>
              <a:t>12</a:t>
            </a:r>
            <a:r>
              <a:t>. 3D Scatter: Impressive, but useful?</a:t>
            </a:r>
            <a:endParaRPr lang="en-SG"/>
          </a:p>
        </p:txBody>
      </p:sp>
      <p:sp>
        <p:nvSpPr>
          <p:cNvPr id="3" name="TextBox 2"/>
          <p:cNvSpPr txBox="1"/>
          <p:nvPr/>
        </p:nvSpPr>
        <p:spPr>
          <a:xfrm>
            <a:off x="621792" y="960120"/>
            <a:ext cx="10789920" cy="384048"/>
          </a:xfrm>
          <a:prstGeom prst="rect">
            <a:avLst/>
          </a:prstGeom>
          <a:noFill/>
        </p:spPr>
        <p:txBody>
          <a:bodyPr wrap="none">
            <a:spAutoFit/>
          </a:bodyPr>
          <a:lstStyle/>
          <a:p>
            <a:pPr>
              <a:defRPr sz="1500">
                <a:solidFill>
                  <a:srgbClr val="606060"/>
                </a:solidFill>
              </a:defRPr>
            </a:pPr>
            <a:r>
              <a:t>Question: How do budget, revenue and rating relate in 3D?</a:t>
            </a:r>
          </a:p>
        </p:txBody>
      </p:sp>
      <p:sp>
        <p:nvSpPr>
          <p:cNvPr id="4" name="TextBox 3"/>
          <p:cNvSpPr txBox="1"/>
          <p:nvPr/>
        </p:nvSpPr>
        <p:spPr>
          <a:xfrm>
            <a:off x="9457288" y="6473952"/>
            <a:ext cx="2109872" cy="223138"/>
          </a:xfrm>
          <a:prstGeom prst="rect">
            <a:avLst/>
          </a:prstGeom>
          <a:noFill/>
        </p:spPr>
        <p:txBody>
          <a:bodyPr wrap="none">
            <a:spAutoFit/>
          </a:bodyPr>
          <a:lstStyle/>
          <a:p>
            <a:pPr algn="r">
              <a:defRPr sz="850">
                <a:solidFill>
                  <a:srgbClr val="8C8C8C"/>
                </a:solidFill>
              </a:defRPr>
            </a:pPr>
            <a:r>
              <a:t>Data Visualisation with Python and AI  |  </a:t>
            </a:r>
            <a:r>
              <a:rPr lang="en-SG"/>
              <a:t>30</a:t>
            </a:r>
            <a:endParaRPr/>
          </a:p>
        </p:txBody>
      </p:sp>
      <p:sp>
        <p:nvSpPr>
          <p:cNvPr id="5" name="Rounded Rectangle 4"/>
          <p:cNvSpPr/>
          <p:nvPr/>
        </p:nvSpPr>
        <p:spPr>
          <a:xfrm>
            <a:off x="685800" y="1508760"/>
            <a:ext cx="2743200" cy="3108960"/>
          </a:xfrm>
          <a:prstGeom prst="roundRect">
            <a:avLst/>
          </a:prstGeom>
          <a:solidFill>
            <a:srgbClr val="F5F7FA"/>
          </a:solidFill>
          <a:ln w="15240">
            <a:solidFill>
              <a:srgbClr val="D24E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0392" y="1618488"/>
            <a:ext cx="2414016" cy="2907791"/>
          </a:xfrm>
          <a:prstGeom prst="rect">
            <a:avLst/>
          </a:prstGeom>
          <a:noFill/>
        </p:spPr>
        <p:txBody>
          <a:bodyPr wrap="square">
            <a:spAutoFit/>
          </a:bodyPr>
          <a:lstStyle/>
          <a:p>
            <a:pPr>
              <a:defRPr sz="1500" b="1">
                <a:solidFill>
                  <a:srgbClr val="D24E4E"/>
                </a:solidFill>
              </a:defRPr>
            </a:pPr>
            <a:r>
              <a:t>What this chart helps us see</a:t>
            </a:r>
          </a:p>
          <a:p>
            <a:pPr>
              <a:spcBef>
                <a:spcPts val="500"/>
              </a:spcBef>
              <a:defRPr sz="1400">
                <a:solidFill>
                  <a:srgbClr val="232323"/>
                </a:solidFill>
              </a:defRPr>
            </a:pPr>
            <a:r>
              <a:t>Critical question: would a 2D chart communicate better?</a:t>
            </a:r>
          </a:p>
        </p:txBody>
      </p:sp>
      <p:sp>
        <p:nvSpPr>
          <p:cNvPr id="7" name="Oval 6"/>
          <p:cNvSpPr/>
          <p:nvPr/>
        </p:nvSpPr>
        <p:spPr>
          <a:xfrm>
            <a:off x="1609344" y="4400550"/>
            <a:ext cx="109728" cy="109728"/>
          </a:xfrm>
          <a:prstGeom prst="ellipse">
            <a:avLst/>
          </a:prstGeom>
          <a:solidFill>
            <a:srgbClr val="2F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864461" y="4226814"/>
            <a:ext cx="146304" cy="146304"/>
          </a:xfrm>
          <a:prstGeom prst="ellipse">
            <a:avLst/>
          </a:prstGeom>
          <a:solidFill>
            <a:srgbClr val="2A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2105406" y="4287621"/>
            <a:ext cx="91440" cy="91440"/>
          </a:xfrm>
          <a:prstGeom prst="ellipse">
            <a:avLst/>
          </a:prstGeom>
          <a:solidFill>
            <a:srgbClr val="E88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2388870" y="4053077"/>
            <a:ext cx="182880" cy="182880"/>
          </a:xfrm>
          <a:prstGeom prst="ellipse">
            <a:avLst/>
          </a:prstGeom>
          <a:solidFill>
            <a:srgbClr val="66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2247138" y="4426610"/>
            <a:ext cx="128016" cy="128016"/>
          </a:xfrm>
          <a:prstGeom prst="ellipse">
            <a:avLst/>
          </a:prstGeom>
          <a:solidFill>
            <a:srgbClr val="D24E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703320" y="1508760"/>
            <a:ext cx="4023360" cy="2350000"/>
          </a:xfrm>
          <a:prstGeom prst="roundRect">
            <a:avLst/>
          </a:prstGeom>
          <a:solidFill>
            <a:srgbClr val="FAFAFA"/>
          </a:solidFill>
          <a:ln>
            <a:solidFill>
              <a:srgbClr val="CDD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49624" y="1618488"/>
            <a:ext cx="3730752" cy="892552"/>
          </a:xfrm>
          <a:prstGeom prst="rect">
            <a:avLst/>
          </a:prstGeom>
          <a:noFill/>
        </p:spPr>
        <p:txBody>
          <a:bodyPr wrap="square">
            <a:spAutoFit/>
          </a:bodyPr>
          <a:lstStyle/>
          <a:p>
            <a:pPr>
              <a:defRPr sz="1000">
                <a:solidFill>
                  <a:srgbClr val="232323"/>
                </a:solidFill>
                <a:latin typeface="Consolas"/>
              </a:defRPr>
            </a:pPr>
            <a:r>
              <a:t>fig = px.scatter_3d(df, x='budget', y='revenue', z='vote_average', color='primary_genre')</a:t>
            </a:r>
            <a:endParaRPr lang="en-US"/>
          </a:p>
          <a:p>
            <a:pPr>
              <a:spcBef>
                <a:spcPts val="200"/>
              </a:spcBef>
              <a:defRPr sz="900">
                <a:solidFill>
                  <a:srgbClr val="3A3A3A"/>
                </a:solidFill>
              </a:defRPr>
            </a:pPr>
            <a:r>
              <a:rPr lang="en-US"/>
              <a:t>- z adds a third numeric axis.</a:t>
            </a:r>
          </a:p>
          <a:p>
            <a:pPr>
              <a:spcBef>
                <a:spcPts val="200"/>
              </a:spcBef>
              <a:defRPr sz="900">
                <a:solidFill>
                  <a:srgbClr val="3A3A3A"/>
                </a:solidFill>
              </a:defRPr>
            </a:pPr>
            <a:r>
              <a:rPr lang="en-US"/>
              <a:t>- Colour shows genre; rotation helps exploration.</a:t>
            </a:r>
          </a:p>
          <a:p>
            <a:pPr>
              <a:spcBef>
                <a:spcPts val="200"/>
              </a:spcBef>
              <a:defRPr sz="900">
                <a:solidFill>
                  <a:srgbClr val="3A3A3A"/>
                </a:solidFill>
              </a:defRPr>
            </a:pPr>
            <a:r>
              <a:rPr lang="en-US"/>
              <a:t>- Ask whether a 2D chart would communicate better.</a:t>
            </a:r>
          </a:p>
        </p:txBody>
      </p:sp>
      <p:sp>
        <p:nvSpPr>
          <p:cNvPr id="14" name="Rounded Rectangle 13"/>
          <p:cNvSpPr/>
          <p:nvPr/>
        </p:nvSpPr>
        <p:spPr>
          <a:xfrm>
            <a:off x="8001000" y="1508760"/>
            <a:ext cx="3520440" cy="2350000"/>
          </a:xfrm>
          <a:prstGeom prst="roundRect">
            <a:avLst/>
          </a:prstGeom>
          <a:solidFill>
            <a:srgbClr val="E8F8F4"/>
          </a:solidFill>
          <a:ln w="15240">
            <a:solidFill>
              <a:srgbClr val="2A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65592" y="1618488"/>
            <a:ext cx="3191256" cy="1719072"/>
          </a:xfrm>
          <a:prstGeom prst="rect">
            <a:avLst/>
          </a:prstGeom>
          <a:noFill/>
        </p:spPr>
        <p:txBody>
          <a:bodyPr wrap="square">
            <a:spAutoFit/>
          </a:bodyPr>
          <a:lstStyle/>
          <a:p>
            <a:pPr>
              <a:defRPr sz="1400" b="1">
                <a:solidFill>
                  <a:srgbClr val="2A9688"/>
                </a:solidFill>
              </a:defRPr>
            </a:pPr>
            <a:r>
              <a:t>AI prompt to try</a:t>
            </a:r>
          </a:p>
          <a:p>
            <a:pPr>
              <a:spcBef>
                <a:spcPts val="500"/>
              </a:spcBef>
              <a:defRPr sz="1200">
                <a:solidFill>
                  <a:srgbClr val="232323"/>
                </a:solidFill>
              </a:defRPr>
            </a:pPr>
            <a:r>
              <a:t>Use AI to identify one benefit and one limitation.</a:t>
            </a:r>
          </a:p>
        </p:txBody>
      </p:sp>
      <p:sp>
        <p:nvSpPr>
          <p:cNvPr id="16" name="Rounded Rectangle 15"/>
          <p:cNvSpPr/>
          <p:nvPr/>
        </p:nvSpPr>
        <p:spPr>
          <a:xfrm>
            <a:off x="3703320" y="3977639"/>
            <a:ext cx="7818120" cy="1051560"/>
          </a:xfrm>
          <a:prstGeom prst="roundRect">
            <a:avLst/>
          </a:prstGeom>
          <a:solidFill>
            <a:srgbClr val="FFF4E8"/>
          </a:solidFill>
          <a:ln w="15240">
            <a:solidFill>
              <a:srgbClr val="E88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867911" y="4087368"/>
            <a:ext cx="7488936" cy="850392"/>
          </a:xfrm>
          <a:prstGeom prst="rect">
            <a:avLst/>
          </a:prstGeom>
          <a:noFill/>
        </p:spPr>
        <p:txBody>
          <a:bodyPr wrap="square">
            <a:spAutoFit/>
          </a:bodyPr>
          <a:lstStyle/>
          <a:p>
            <a:pPr>
              <a:defRPr sz="1400" b="1">
                <a:solidFill>
                  <a:srgbClr val="E88A2D"/>
                </a:solidFill>
              </a:defRPr>
            </a:pPr>
            <a:r>
              <a:t>Student activity</a:t>
            </a:r>
          </a:p>
          <a:p>
            <a:pPr>
              <a:spcBef>
                <a:spcPts val="500"/>
              </a:spcBef>
              <a:defRPr sz="1200">
                <a:solidFill>
                  <a:srgbClr val="232323"/>
                </a:solidFill>
              </a:defRPr>
            </a:pPr>
            <a:r>
              <a:t>Run Python first → Try AI prompt → Compare outputs → Write one insight and one caution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658368"/>
          </a:xfrm>
          <a:prstGeom prst="rect">
            <a:avLst/>
          </a:prstGeom>
          <a:noFill/>
        </p:spPr>
        <p:txBody>
          <a:bodyPr wrap="none">
            <a:spAutoFit/>
          </a:bodyPr>
          <a:lstStyle/>
          <a:p>
            <a:pPr>
              <a:defRPr sz="3000" b="1">
                <a:solidFill>
                  <a:srgbClr val="162D4E"/>
                </a:solidFill>
              </a:defRPr>
            </a:pPr>
            <a:r>
              <a:t>The Most Important Skill: Human Judgement</a:t>
            </a:r>
          </a:p>
        </p:txBody>
      </p:sp>
      <p:sp>
        <p:nvSpPr>
          <p:cNvPr id="3" name="TextBox 2"/>
          <p:cNvSpPr txBox="1"/>
          <p:nvPr/>
        </p:nvSpPr>
        <p:spPr>
          <a:xfrm>
            <a:off x="621792" y="960120"/>
            <a:ext cx="10789920" cy="384048"/>
          </a:xfrm>
          <a:prstGeom prst="rect">
            <a:avLst/>
          </a:prstGeom>
          <a:noFill/>
        </p:spPr>
        <p:txBody>
          <a:bodyPr wrap="none">
            <a:spAutoFit/>
          </a:bodyPr>
          <a:lstStyle/>
          <a:p>
            <a:pPr>
              <a:defRPr sz="1500">
                <a:solidFill>
                  <a:srgbClr val="606060"/>
                </a:solidFill>
              </a:defRPr>
            </a:pPr>
            <a:r>
              <a:t>A chart can be technically correct but still misleading, confusing, or unsuitable.</a:t>
            </a:r>
          </a:p>
        </p:txBody>
      </p:sp>
      <p:sp>
        <p:nvSpPr>
          <p:cNvPr id="4" name="TextBox 3"/>
          <p:cNvSpPr txBox="1"/>
          <p:nvPr/>
        </p:nvSpPr>
        <p:spPr>
          <a:xfrm>
            <a:off x="9457288" y="6473952"/>
            <a:ext cx="2109872" cy="223138"/>
          </a:xfrm>
          <a:prstGeom prst="rect">
            <a:avLst/>
          </a:prstGeom>
          <a:noFill/>
        </p:spPr>
        <p:txBody>
          <a:bodyPr wrap="none">
            <a:spAutoFit/>
          </a:bodyPr>
          <a:lstStyle/>
          <a:p>
            <a:pPr algn="r">
              <a:defRPr sz="850">
                <a:solidFill>
                  <a:srgbClr val="8C8C8C"/>
                </a:solidFill>
              </a:defRPr>
            </a:pPr>
            <a:r>
              <a:t>Data Visualisation with Python and AI  |  </a:t>
            </a:r>
            <a:r>
              <a:rPr lang="en-SG"/>
              <a:t>31</a:t>
            </a:r>
            <a:endParaRPr/>
          </a:p>
        </p:txBody>
      </p:sp>
      <p:sp>
        <p:nvSpPr>
          <p:cNvPr id="5" name="Rounded Rectangle 4"/>
          <p:cNvSpPr/>
          <p:nvPr/>
        </p:nvSpPr>
        <p:spPr>
          <a:xfrm>
            <a:off x="777240" y="1554480"/>
            <a:ext cx="3246120" cy="2743200"/>
          </a:xfrm>
          <a:prstGeom prst="roundRect">
            <a:avLst/>
          </a:prstGeom>
          <a:solidFill>
            <a:srgbClr val="E2EFFD"/>
          </a:solidFill>
          <a:ln w="15240">
            <a:solidFill>
              <a:srgbClr val="2F69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41832" y="1664207"/>
            <a:ext cx="2916936" cy="2542032"/>
          </a:xfrm>
          <a:prstGeom prst="rect">
            <a:avLst/>
          </a:prstGeom>
          <a:noFill/>
        </p:spPr>
        <p:txBody>
          <a:bodyPr wrap="square">
            <a:spAutoFit/>
          </a:bodyPr>
          <a:lstStyle/>
          <a:p>
            <a:pPr>
              <a:defRPr sz="1600" b="1">
                <a:solidFill>
                  <a:srgbClr val="2F69B4"/>
                </a:solidFill>
              </a:defRPr>
            </a:pPr>
            <a:r>
              <a:t>Ask before presenting</a:t>
            </a:r>
          </a:p>
          <a:p>
            <a:pPr>
              <a:spcBef>
                <a:spcPts val="500"/>
              </a:spcBef>
              <a:defRPr sz="1400">
                <a:solidFill>
                  <a:srgbClr val="232323"/>
                </a:solidFill>
              </a:defRPr>
            </a:pPr>
            <a:r>
              <a:t>• What question does this answer?</a:t>
            </a:r>
            <a:br/>
            <a:r>
              <a:t>• Who is the audience?</a:t>
            </a:r>
            <a:br/>
            <a:r>
              <a:t>• Is the chart type suitable?</a:t>
            </a:r>
          </a:p>
        </p:txBody>
      </p:sp>
      <p:sp>
        <p:nvSpPr>
          <p:cNvPr id="7" name="Rounded Rectangle 6"/>
          <p:cNvSpPr/>
          <p:nvPr/>
        </p:nvSpPr>
        <p:spPr>
          <a:xfrm>
            <a:off x="4480560" y="1554480"/>
            <a:ext cx="3246120" cy="2743200"/>
          </a:xfrm>
          <a:prstGeom prst="roundRect">
            <a:avLst/>
          </a:prstGeom>
          <a:solidFill>
            <a:srgbClr val="E8F8F4"/>
          </a:solidFill>
          <a:ln w="15240">
            <a:solidFill>
              <a:srgbClr val="2A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45152" y="1664207"/>
            <a:ext cx="2916936" cy="2542032"/>
          </a:xfrm>
          <a:prstGeom prst="rect">
            <a:avLst/>
          </a:prstGeom>
          <a:noFill/>
        </p:spPr>
        <p:txBody>
          <a:bodyPr wrap="square">
            <a:spAutoFit/>
          </a:bodyPr>
          <a:lstStyle/>
          <a:p>
            <a:pPr>
              <a:defRPr sz="1600" b="1">
                <a:solidFill>
                  <a:srgbClr val="2A9688"/>
                </a:solidFill>
              </a:defRPr>
            </a:pPr>
            <a:r>
              <a:t>Check before trusting</a:t>
            </a:r>
          </a:p>
          <a:p>
            <a:pPr>
              <a:spcBef>
                <a:spcPts val="500"/>
              </a:spcBef>
              <a:defRPr sz="1400">
                <a:solidFill>
                  <a:srgbClr val="232323"/>
                </a:solidFill>
              </a:defRPr>
            </a:pPr>
            <a:r>
              <a:t>• Did AI use the right column?</a:t>
            </a:r>
            <a:br/>
            <a:r>
              <a:t>• Are missing values handled?</a:t>
            </a:r>
            <a:br/>
            <a:r>
              <a:t>• Are labels clear?</a:t>
            </a:r>
          </a:p>
        </p:txBody>
      </p:sp>
      <p:sp>
        <p:nvSpPr>
          <p:cNvPr id="9" name="Rounded Rectangle 8"/>
          <p:cNvSpPr/>
          <p:nvPr/>
        </p:nvSpPr>
        <p:spPr>
          <a:xfrm>
            <a:off x="8183879" y="1554480"/>
            <a:ext cx="3246120" cy="2743200"/>
          </a:xfrm>
          <a:prstGeom prst="roundRect">
            <a:avLst/>
          </a:prstGeom>
          <a:solidFill>
            <a:srgbClr val="FFF4E8"/>
          </a:solidFill>
          <a:ln w="15240">
            <a:solidFill>
              <a:srgbClr val="E88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48471" y="1664207"/>
            <a:ext cx="2916936" cy="2542032"/>
          </a:xfrm>
          <a:prstGeom prst="rect">
            <a:avLst/>
          </a:prstGeom>
          <a:noFill/>
        </p:spPr>
        <p:txBody>
          <a:bodyPr wrap="square">
            <a:spAutoFit/>
          </a:bodyPr>
          <a:lstStyle/>
          <a:p>
            <a:pPr>
              <a:defRPr sz="1600" b="1">
                <a:solidFill>
                  <a:srgbClr val="E88A2D"/>
                </a:solidFill>
              </a:defRPr>
            </a:pPr>
            <a:r>
              <a:t>Interpret with care</a:t>
            </a:r>
          </a:p>
          <a:p>
            <a:pPr>
              <a:spcBef>
                <a:spcPts val="500"/>
              </a:spcBef>
              <a:defRPr sz="1400">
                <a:solidFill>
                  <a:srgbClr val="232323"/>
                </a:solidFill>
              </a:defRPr>
            </a:pPr>
            <a:r>
              <a:t>• What pattern do I see?</a:t>
            </a:r>
            <a:br/>
            <a:r>
              <a:t>• What else could explain it?</a:t>
            </a:r>
            <a:br/>
            <a:r>
              <a:t>• What should I not overclaim?</a:t>
            </a:r>
          </a:p>
        </p:txBody>
      </p:sp>
      <p:sp>
        <p:nvSpPr>
          <p:cNvPr id="11" name="TextBox 10"/>
          <p:cNvSpPr txBox="1"/>
          <p:nvPr/>
        </p:nvSpPr>
        <p:spPr>
          <a:xfrm>
            <a:off x="914400" y="5074920"/>
            <a:ext cx="10241280" cy="594360"/>
          </a:xfrm>
          <a:prstGeom prst="rect">
            <a:avLst/>
          </a:prstGeom>
          <a:noFill/>
        </p:spPr>
        <p:txBody>
          <a:bodyPr wrap="square">
            <a:spAutoFit/>
          </a:bodyPr>
          <a:lstStyle/>
          <a:p>
            <a:pPr algn="ctr">
              <a:defRPr sz="2400" b="1">
                <a:solidFill>
                  <a:srgbClr val="162D4E"/>
                </a:solidFill>
              </a:defRPr>
            </a:pPr>
            <a:r>
              <a:t>Good visualisation is not about showing everything. It is about showing what matters.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658368"/>
          </a:xfrm>
          <a:prstGeom prst="rect">
            <a:avLst/>
          </a:prstGeom>
          <a:noFill/>
        </p:spPr>
        <p:txBody>
          <a:bodyPr wrap="none">
            <a:spAutoFit/>
          </a:bodyPr>
          <a:lstStyle/>
          <a:p>
            <a:pPr>
              <a:defRPr sz="3000" b="1">
                <a:solidFill>
                  <a:srgbClr val="162D4E"/>
                </a:solidFill>
              </a:defRPr>
            </a:pPr>
            <a:r>
              <a:t>Student Challenge: One Chart, One Insight</a:t>
            </a:r>
          </a:p>
        </p:txBody>
      </p:sp>
      <p:sp>
        <p:nvSpPr>
          <p:cNvPr id="3" name="TextBox 2"/>
          <p:cNvSpPr txBox="1"/>
          <p:nvPr/>
        </p:nvSpPr>
        <p:spPr>
          <a:xfrm>
            <a:off x="621792" y="960120"/>
            <a:ext cx="10789920" cy="384048"/>
          </a:xfrm>
          <a:prstGeom prst="rect">
            <a:avLst/>
          </a:prstGeom>
          <a:noFill/>
        </p:spPr>
        <p:txBody>
          <a:bodyPr wrap="none">
            <a:spAutoFit/>
          </a:bodyPr>
          <a:lstStyle/>
          <a:p>
            <a:pPr>
              <a:defRPr sz="1500">
                <a:solidFill>
                  <a:srgbClr val="606060"/>
                </a:solidFill>
              </a:defRPr>
            </a:pPr>
            <a:r>
              <a:t>Choose one question. Build one chart. Improve it with AI. Share one insight.</a:t>
            </a:r>
          </a:p>
        </p:txBody>
      </p:sp>
      <p:sp>
        <p:nvSpPr>
          <p:cNvPr id="4" name="TextBox 3"/>
          <p:cNvSpPr txBox="1"/>
          <p:nvPr/>
        </p:nvSpPr>
        <p:spPr>
          <a:xfrm>
            <a:off x="9457288" y="6473952"/>
            <a:ext cx="2109872" cy="223138"/>
          </a:xfrm>
          <a:prstGeom prst="rect">
            <a:avLst/>
          </a:prstGeom>
          <a:noFill/>
        </p:spPr>
        <p:txBody>
          <a:bodyPr wrap="none">
            <a:spAutoFit/>
          </a:bodyPr>
          <a:lstStyle/>
          <a:p>
            <a:pPr algn="r">
              <a:defRPr sz="850">
                <a:solidFill>
                  <a:srgbClr val="8C8C8C"/>
                </a:solidFill>
              </a:defRPr>
            </a:pPr>
            <a:r>
              <a:t>Data Visualisation with Python and AI  |  </a:t>
            </a:r>
            <a:r>
              <a:rPr lang="en-SG"/>
              <a:t>32</a:t>
            </a:r>
            <a:endParaRPr/>
          </a:p>
        </p:txBody>
      </p:sp>
      <p:sp>
        <p:nvSpPr>
          <p:cNvPr id="5" name="Rounded Rectangle 4"/>
          <p:cNvSpPr/>
          <p:nvPr/>
        </p:nvSpPr>
        <p:spPr>
          <a:xfrm>
            <a:off x="777240" y="1508760"/>
            <a:ext cx="3474720" cy="3291840"/>
          </a:xfrm>
          <a:prstGeom prst="roundRect">
            <a:avLst/>
          </a:prstGeom>
          <a:solidFill>
            <a:srgbClr val="E2EFFD"/>
          </a:solidFill>
          <a:ln w="15240">
            <a:solidFill>
              <a:srgbClr val="2F69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41832" y="1618488"/>
            <a:ext cx="3145536" cy="3090672"/>
          </a:xfrm>
          <a:prstGeom prst="rect">
            <a:avLst/>
          </a:prstGeom>
          <a:noFill/>
        </p:spPr>
        <p:txBody>
          <a:bodyPr wrap="square">
            <a:spAutoFit/>
          </a:bodyPr>
          <a:lstStyle/>
          <a:p>
            <a:pPr>
              <a:defRPr sz="1500" b="1">
                <a:solidFill>
                  <a:srgbClr val="2F69B4"/>
                </a:solidFill>
              </a:defRPr>
            </a:pPr>
            <a:r>
              <a:t>Step 1: Choose</a:t>
            </a:r>
          </a:p>
          <a:p>
            <a:pPr>
              <a:spcBef>
                <a:spcPts val="500"/>
              </a:spcBef>
              <a:defRPr sz="1250">
                <a:solidFill>
                  <a:srgbClr val="232323"/>
                </a:solidFill>
              </a:defRPr>
            </a:pPr>
            <a:r>
              <a:t>Pick one question:</a:t>
            </a:r>
            <a:br/>
            <a:r>
              <a:t>• Budget vs revenue?</a:t>
            </a:r>
            <a:br/>
            <a:r>
              <a:t>• Ratings by genre?</a:t>
            </a:r>
            <a:br/>
            <a:r>
              <a:t>• Ratings over time?</a:t>
            </a:r>
            <a:br/>
            <a:r>
              <a:t>• Hidden gems?</a:t>
            </a:r>
            <a:br/>
            <a:r>
              <a:t>• Outliers?</a:t>
            </a:r>
          </a:p>
        </p:txBody>
      </p:sp>
      <p:sp>
        <p:nvSpPr>
          <p:cNvPr id="7" name="Rounded Rectangle 6"/>
          <p:cNvSpPr/>
          <p:nvPr/>
        </p:nvSpPr>
        <p:spPr>
          <a:xfrm>
            <a:off x="4343400" y="1508760"/>
            <a:ext cx="3474720" cy="3291840"/>
          </a:xfrm>
          <a:prstGeom prst="roundRect">
            <a:avLst/>
          </a:prstGeom>
          <a:solidFill>
            <a:srgbClr val="E8F8F4"/>
          </a:solidFill>
          <a:ln w="15240">
            <a:solidFill>
              <a:srgbClr val="2A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07992" y="1618488"/>
            <a:ext cx="3145536" cy="3090672"/>
          </a:xfrm>
          <a:prstGeom prst="rect">
            <a:avLst/>
          </a:prstGeom>
          <a:noFill/>
        </p:spPr>
        <p:txBody>
          <a:bodyPr wrap="square">
            <a:spAutoFit/>
          </a:bodyPr>
          <a:lstStyle/>
          <a:p>
            <a:pPr>
              <a:defRPr sz="1500" b="1">
                <a:solidFill>
                  <a:srgbClr val="2A9688"/>
                </a:solidFill>
              </a:defRPr>
            </a:pPr>
            <a:r>
              <a:t>Step 2: Build + prompt</a:t>
            </a:r>
          </a:p>
          <a:p>
            <a:pPr>
              <a:spcBef>
                <a:spcPts val="500"/>
              </a:spcBef>
              <a:defRPr sz="1250">
                <a:solidFill>
                  <a:srgbClr val="232323"/>
                </a:solidFill>
              </a:defRPr>
            </a:pPr>
            <a:r>
              <a:t>Run the Python code first.</a:t>
            </a:r>
            <a:br/>
            <a:r>
              <a:t>Then ask AI to recreate, explain, improve or extend the chart.</a:t>
            </a:r>
          </a:p>
        </p:txBody>
      </p:sp>
      <p:sp>
        <p:nvSpPr>
          <p:cNvPr id="9" name="Rounded Rectangle 8"/>
          <p:cNvSpPr/>
          <p:nvPr/>
        </p:nvSpPr>
        <p:spPr>
          <a:xfrm>
            <a:off x="7909560" y="1508760"/>
            <a:ext cx="3474720" cy="3291840"/>
          </a:xfrm>
          <a:prstGeom prst="roundRect">
            <a:avLst/>
          </a:prstGeom>
          <a:solidFill>
            <a:srgbClr val="FFF4E8"/>
          </a:solidFill>
          <a:ln w="15240">
            <a:solidFill>
              <a:srgbClr val="E88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74152" y="1618488"/>
            <a:ext cx="3145536" cy="3090672"/>
          </a:xfrm>
          <a:prstGeom prst="rect">
            <a:avLst/>
          </a:prstGeom>
          <a:noFill/>
        </p:spPr>
        <p:txBody>
          <a:bodyPr wrap="square">
            <a:spAutoFit/>
          </a:bodyPr>
          <a:lstStyle/>
          <a:p>
            <a:pPr>
              <a:defRPr sz="1500" b="1">
                <a:solidFill>
                  <a:srgbClr val="E88A2D"/>
                </a:solidFill>
              </a:defRPr>
            </a:pPr>
            <a:r>
              <a:t>Step 3: Share</a:t>
            </a:r>
          </a:p>
          <a:p>
            <a:pPr>
              <a:spcBef>
                <a:spcPts val="500"/>
              </a:spcBef>
              <a:defRPr sz="1250">
                <a:solidFill>
                  <a:srgbClr val="232323"/>
                </a:solidFill>
              </a:defRPr>
            </a:pPr>
            <a:r>
              <a:t>Chart type:</a:t>
            </a:r>
            <a:br/>
            <a:r>
              <a:t>Question:</a:t>
            </a:r>
            <a:br/>
            <a:r>
              <a:t>Python helped me...</a:t>
            </a:r>
            <a:br/>
            <a:r>
              <a:t>AI helped me...</a:t>
            </a:r>
            <a:br/>
            <a:r>
              <a:t>One insight:</a:t>
            </a:r>
            <a:br/>
            <a:r>
              <a:t>One caution: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658368"/>
          </a:xfrm>
          <a:prstGeom prst="rect">
            <a:avLst/>
          </a:prstGeom>
          <a:noFill/>
        </p:spPr>
        <p:txBody>
          <a:bodyPr wrap="none">
            <a:spAutoFit/>
          </a:bodyPr>
          <a:lstStyle/>
          <a:p>
            <a:pPr>
              <a:defRPr sz="3000" b="1">
                <a:solidFill>
                  <a:srgbClr val="162D4E"/>
                </a:solidFill>
              </a:defRPr>
            </a:pPr>
            <a:r>
              <a:t>Quick Activity: Chart Match Challenge</a:t>
            </a:r>
          </a:p>
        </p:txBody>
      </p:sp>
      <p:sp>
        <p:nvSpPr>
          <p:cNvPr id="3" name="TextBox 2"/>
          <p:cNvSpPr txBox="1"/>
          <p:nvPr/>
        </p:nvSpPr>
        <p:spPr>
          <a:xfrm>
            <a:off x="621792" y="960120"/>
            <a:ext cx="10789920" cy="384048"/>
          </a:xfrm>
          <a:prstGeom prst="rect">
            <a:avLst/>
          </a:prstGeom>
          <a:noFill/>
        </p:spPr>
        <p:txBody>
          <a:bodyPr wrap="none">
            <a:spAutoFit/>
          </a:bodyPr>
          <a:lstStyle/>
          <a:p>
            <a:pPr>
              <a:defRPr sz="1500">
                <a:solidFill>
                  <a:srgbClr val="606060"/>
                </a:solidFill>
              </a:defRPr>
            </a:pPr>
            <a:r>
              <a:t>Match the question to the most suitable visualisation.</a:t>
            </a:r>
          </a:p>
        </p:txBody>
      </p:sp>
      <p:sp>
        <p:nvSpPr>
          <p:cNvPr id="4" name="TextBox 3"/>
          <p:cNvSpPr txBox="1"/>
          <p:nvPr/>
        </p:nvSpPr>
        <p:spPr>
          <a:xfrm>
            <a:off x="9457288" y="6473952"/>
            <a:ext cx="2109872" cy="223138"/>
          </a:xfrm>
          <a:prstGeom prst="rect">
            <a:avLst/>
          </a:prstGeom>
          <a:noFill/>
        </p:spPr>
        <p:txBody>
          <a:bodyPr wrap="none">
            <a:spAutoFit/>
          </a:bodyPr>
          <a:lstStyle/>
          <a:p>
            <a:pPr algn="r">
              <a:defRPr sz="850">
                <a:solidFill>
                  <a:srgbClr val="8C8C8C"/>
                </a:solidFill>
              </a:defRPr>
            </a:pPr>
            <a:r>
              <a:t>Data Visualisation with Python and AI  |  </a:t>
            </a:r>
            <a:r>
              <a:rPr lang="en-SG"/>
              <a:t>33</a:t>
            </a:r>
            <a:endParaRPr/>
          </a:p>
        </p:txBody>
      </p:sp>
      <p:sp>
        <p:nvSpPr>
          <p:cNvPr id="5" name="Rounded Rectangle 4"/>
          <p:cNvSpPr/>
          <p:nvPr/>
        </p:nvSpPr>
        <p:spPr>
          <a:xfrm>
            <a:off x="822960" y="1508760"/>
            <a:ext cx="4663440" cy="676656"/>
          </a:xfrm>
          <a:prstGeom prst="roundRect">
            <a:avLst/>
          </a:prstGeom>
          <a:solidFill>
            <a:srgbClr val="FFFFFF"/>
          </a:solidFill>
          <a:ln w="15240">
            <a:solidFill>
              <a:srgbClr val="2F69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87552" y="1618488"/>
            <a:ext cx="4334255" cy="475488"/>
          </a:xfrm>
          <a:prstGeom prst="rect">
            <a:avLst/>
          </a:prstGeom>
          <a:noFill/>
        </p:spPr>
        <p:txBody>
          <a:bodyPr wrap="square">
            <a:spAutoFit/>
          </a:bodyPr>
          <a:lstStyle/>
          <a:p>
            <a:pPr>
              <a:defRPr sz="1400" b="1">
                <a:solidFill>
                  <a:srgbClr val="2F69B4"/>
                </a:solidFill>
              </a:defRPr>
            </a:pPr>
            <a:r>
              <a:t>Distribution of movie ratings</a:t>
            </a:r>
          </a:p>
        </p:txBody>
      </p:sp>
      <p:sp>
        <p:nvSpPr>
          <p:cNvPr id="7" name="Rounded Rectangle 6"/>
          <p:cNvSpPr/>
          <p:nvPr/>
        </p:nvSpPr>
        <p:spPr>
          <a:xfrm>
            <a:off x="822960" y="2468880"/>
            <a:ext cx="4663440" cy="676656"/>
          </a:xfrm>
          <a:prstGeom prst="roundRect">
            <a:avLst/>
          </a:prstGeom>
          <a:solidFill>
            <a:srgbClr val="FFFFFF"/>
          </a:solidFill>
          <a:ln w="15240">
            <a:solidFill>
              <a:srgbClr val="2F69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2578608"/>
            <a:ext cx="4334255" cy="307777"/>
          </a:xfrm>
          <a:prstGeom prst="rect">
            <a:avLst/>
          </a:prstGeom>
          <a:noFill/>
        </p:spPr>
        <p:txBody>
          <a:bodyPr wrap="square">
            <a:spAutoFit/>
          </a:bodyPr>
          <a:lstStyle/>
          <a:p>
            <a:pPr>
              <a:defRPr sz="1400" b="1">
                <a:solidFill>
                  <a:srgbClr val="2F69B4"/>
                </a:solidFill>
              </a:defRPr>
            </a:pPr>
            <a:r>
              <a:rPr lang="en-SG"/>
              <a:t>Which </a:t>
            </a:r>
            <a:r>
              <a:t>genre</a:t>
            </a:r>
            <a:r>
              <a:rPr lang="en-SG"/>
              <a:t> has the most movies</a:t>
            </a:r>
            <a:endParaRPr/>
          </a:p>
        </p:txBody>
      </p:sp>
      <p:sp>
        <p:nvSpPr>
          <p:cNvPr id="9" name="Rounded Rectangle 8"/>
          <p:cNvSpPr/>
          <p:nvPr/>
        </p:nvSpPr>
        <p:spPr>
          <a:xfrm>
            <a:off x="822960" y="3429000"/>
            <a:ext cx="4663440" cy="676656"/>
          </a:xfrm>
          <a:prstGeom prst="roundRect">
            <a:avLst/>
          </a:prstGeom>
          <a:solidFill>
            <a:srgbClr val="FFFFFF"/>
          </a:solidFill>
          <a:ln w="15240">
            <a:solidFill>
              <a:srgbClr val="2F69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87552" y="3538728"/>
            <a:ext cx="4334255" cy="475488"/>
          </a:xfrm>
          <a:prstGeom prst="rect">
            <a:avLst/>
          </a:prstGeom>
          <a:noFill/>
        </p:spPr>
        <p:txBody>
          <a:bodyPr wrap="square">
            <a:spAutoFit/>
          </a:bodyPr>
          <a:lstStyle/>
          <a:p>
            <a:pPr>
              <a:defRPr sz="1400" b="1">
                <a:solidFill>
                  <a:srgbClr val="2F69B4"/>
                </a:solidFill>
              </a:defRPr>
            </a:pPr>
            <a:r>
              <a:t>Ratings vary across genres</a:t>
            </a:r>
          </a:p>
        </p:txBody>
      </p:sp>
      <p:sp>
        <p:nvSpPr>
          <p:cNvPr id="11" name="Rounded Rectangle 10"/>
          <p:cNvSpPr/>
          <p:nvPr/>
        </p:nvSpPr>
        <p:spPr>
          <a:xfrm>
            <a:off x="822960" y="4389120"/>
            <a:ext cx="4663440" cy="676656"/>
          </a:xfrm>
          <a:prstGeom prst="roundRect">
            <a:avLst/>
          </a:prstGeom>
          <a:solidFill>
            <a:srgbClr val="FFFFFF"/>
          </a:solidFill>
          <a:ln w="15240">
            <a:solidFill>
              <a:srgbClr val="2F69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87552" y="4498848"/>
            <a:ext cx="4334255" cy="307777"/>
          </a:xfrm>
          <a:prstGeom prst="rect">
            <a:avLst/>
          </a:prstGeom>
          <a:noFill/>
        </p:spPr>
        <p:txBody>
          <a:bodyPr wrap="square">
            <a:spAutoFit/>
          </a:bodyPr>
          <a:lstStyle/>
          <a:p>
            <a:pPr>
              <a:defRPr sz="1400" b="1">
                <a:solidFill>
                  <a:srgbClr val="2F69B4"/>
                </a:solidFill>
              </a:defRPr>
            </a:pPr>
            <a:r>
              <a:rPr lang="en-US"/>
              <a:t>Common themes in movie overviews</a:t>
            </a:r>
            <a:endParaRPr/>
          </a:p>
        </p:txBody>
      </p:sp>
      <p:sp>
        <p:nvSpPr>
          <p:cNvPr id="13" name="Rounded Rectangle 12"/>
          <p:cNvSpPr/>
          <p:nvPr/>
        </p:nvSpPr>
        <p:spPr>
          <a:xfrm>
            <a:off x="6675120" y="1508760"/>
            <a:ext cx="4206240" cy="676656"/>
          </a:xfrm>
          <a:prstGeom prst="roundRect">
            <a:avLst/>
          </a:prstGeom>
          <a:solidFill>
            <a:srgbClr val="E2EFFD"/>
          </a:solidFill>
          <a:ln w="15240">
            <a:solidFill>
              <a:srgbClr val="2F69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39712" y="1618488"/>
            <a:ext cx="3877055" cy="475488"/>
          </a:xfrm>
          <a:prstGeom prst="rect">
            <a:avLst/>
          </a:prstGeom>
          <a:noFill/>
        </p:spPr>
        <p:txBody>
          <a:bodyPr wrap="square">
            <a:spAutoFit/>
          </a:bodyPr>
          <a:lstStyle/>
          <a:p>
            <a:pPr>
              <a:defRPr sz="1400" b="1">
                <a:solidFill>
                  <a:srgbClr val="2F69B4"/>
                </a:solidFill>
              </a:defRPr>
            </a:pPr>
            <a:r>
              <a:rPr dirty="0"/>
              <a:t>Histogram</a:t>
            </a:r>
          </a:p>
        </p:txBody>
      </p:sp>
      <p:sp>
        <p:nvSpPr>
          <p:cNvPr id="15" name="Rounded Rectangle 14"/>
          <p:cNvSpPr/>
          <p:nvPr/>
        </p:nvSpPr>
        <p:spPr>
          <a:xfrm>
            <a:off x="6675120" y="2468880"/>
            <a:ext cx="4206240" cy="676656"/>
          </a:xfrm>
          <a:prstGeom prst="roundRect">
            <a:avLst/>
          </a:prstGeom>
          <a:solidFill>
            <a:srgbClr val="E2EFFD"/>
          </a:solidFill>
          <a:ln w="15240">
            <a:solidFill>
              <a:srgbClr val="2F69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39712" y="2578608"/>
            <a:ext cx="3877055" cy="307777"/>
          </a:xfrm>
          <a:prstGeom prst="rect">
            <a:avLst/>
          </a:prstGeom>
          <a:noFill/>
        </p:spPr>
        <p:txBody>
          <a:bodyPr wrap="square">
            <a:spAutoFit/>
          </a:bodyPr>
          <a:lstStyle/>
          <a:p>
            <a:pPr>
              <a:defRPr sz="1400" b="1">
                <a:solidFill>
                  <a:srgbClr val="2F69B4"/>
                </a:solidFill>
              </a:defRPr>
            </a:pPr>
            <a:r>
              <a:rPr lang="en-SG"/>
              <a:t>Treemap / bar</a:t>
            </a:r>
            <a:r>
              <a:t> chart</a:t>
            </a:r>
          </a:p>
        </p:txBody>
      </p:sp>
      <p:sp>
        <p:nvSpPr>
          <p:cNvPr id="17" name="Rounded Rectangle 16"/>
          <p:cNvSpPr/>
          <p:nvPr/>
        </p:nvSpPr>
        <p:spPr>
          <a:xfrm>
            <a:off x="6675120" y="3429000"/>
            <a:ext cx="4206240" cy="676656"/>
          </a:xfrm>
          <a:prstGeom prst="roundRect">
            <a:avLst/>
          </a:prstGeom>
          <a:solidFill>
            <a:srgbClr val="E2EFFD"/>
          </a:solidFill>
          <a:ln w="15240">
            <a:solidFill>
              <a:srgbClr val="2F69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39712" y="3538728"/>
            <a:ext cx="3877055" cy="475488"/>
          </a:xfrm>
          <a:prstGeom prst="rect">
            <a:avLst/>
          </a:prstGeom>
          <a:noFill/>
        </p:spPr>
        <p:txBody>
          <a:bodyPr wrap="square">
            <a:spAutoFit/>
          </a:bodyPr>
          <a:lstStyle/>
          <a:p>
            <a:pPr>
              <a:defRPr sz="1400" b="1">
                <a:solidFill>
                  <a:srgbClr val="2F69B4"/>
                </a:solidFill>
              </a:defRPr>
            </a:pPr>
            <a:r>
              <a:t>Box plot</a:t>
            </a:r>
          </a:p>
        </p:txBody>
      </p:sp>
      <p:sp>
        <p:nvSpPr>
          <p:cNvPr id="19" name="Rounded Rectangle 18"/>
          <p:cNvSpPr/>
          <p:nvPr/>
        </p:nvSpPr>
        <p:spPr>
          <a:xfrm>
            <a:off x="6675120" y="4389120"/>
            <a:ext cx="4206240" cy="676656"/>
          </a:xfrm>
          <a:prstGeom prst="roundRect">
            <a:avLst/>
          </a:prstGeom>
          <a:solidFill>
            <a:srgbClr val="E2EFFD"/>
          </a:solidFill>
          <a:ln w="15240">
            <a:solidFill>
              <a:srgbClr val="2F69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39712" y="4498848"/>
            <a:ext cx="3877055" cy="307777"/>
          </a:xfrm>
          <a:prstGeom prst="rect">
            <a:avLst/>
          </a:prstGeom>
          <a:noFill/>
        </p:spPr>
        <p:txBody>
          <a:bodyPr wrap="square">
            <a:spAutoFit/>
          </a:bodyPr>
          <a:lstStyle/>
          <a:p>
            <a:pPr>
              <a:defRPr sz="1400" b="1">
                <a:solidFill>
                  <a:srgbClr val="2F69B4"/>
                </a:solidFill>
              </a:defRPr>
            </a:pPr>
            <a:r>
              <a:rPr lang="en-SG"/>
              <a:t>Word cloud</a:t>
            </a:r>
            <a:endParaRPr/>
          </a:p>
        </p:txBody>
      </p:sp>
      <p:cxnSp>
        <p:nvCxnSpPr>
          <p:cNvPr id="24" name="Straight Arrow Connector 23">
            <a:extLst>
              <a:ext uri="{FF2B5EF4-FFF2-40B4-BE49-F238E27FC236}">
                <a16:creationId xmlns:a16="http://schemas.microsoft.com/office/drawing/2014/main" id="{21D09A00-F24A-B2B9-5C59-51CD0CCE47B6}"/>
              </a:ext>
            </a:extLst>
          </p:cNvPr>
          <p:cNvCxnSpPr/>
          <p:nvPr/>
        </p:nvCxnSpPr>
        <p:spPr>
          <a:xfrm>
            <a:off x="5588000" y="2879710"/>
            <a:ext cx="9398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66DEBCC7-593E-6401-87C2-A4F14A57D516}"/>
              </a:ext>
            </a:extLst>
          </p:cNvPr>
          <p:cNvCxnSpPr/>
          <p:nvPr/>
        </p:nvCxnSpPr>
        <p:spPr>
          <a:xfrm>
            <a:off x="5588000" y="4806625"/>
            <a:ext cx="9398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CAEDEE91-8BBB-A1F0-AF01-8687B725D73E}"/>
              </a:ext>
            </a:extLst>
          </p:cNvPr>
          <p:cNvCxnSpPr>
            <a:cxnSpLocks/>
          </p:cNvCxnSpPr>
          <p:nvPr/>
        </p:nvCxnSpPr>
        <p:spPr>
          <a:xfrm>
            <a:off x="5588000" y="1943100"/>
            <a:ext cx="939800" cy="17693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C0404AE0-F082-9485-4B13-44C142168F7A}"/>
              </a:ext>
            </a:extLst>
          </p:cNvPr>
          <p:cNvCxnSpPr>
            <a:cxnSpLocks/>
            <a:stCxn id="9" idx="3"/>
          </p:cNvCxnSpPr>
          <p:nvPr/>
        </p:nvCxnSpPr>
        <p:spPr>
          <a:xfrm flipV="1">
            <a:off x="5486400" y="1943100"/>
            <a:ext cx="1193800" cy="18242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anim calcmode="lin" valueType="num">
                                      <p:cBhvr>
                                        <p:cTn id="8" dur="1000" fill="hold"/>
                                        <p:tgtEl>
                                          <p:spTgt spid="26"/>
                                        </p:tgtEl>
                                        <p:attrNameLst>
                                          <p:attrName>ppt_x</p:attrName>
                                        </p:attrNameLst>
                                      </p:cBhvr>
                                      <p:tavLst>
                                        <p:tav tm="0">
                                          <p:val>
                                            <p:strVal val="#ppt_x"/>
                                          </p:val>
                                        </p:tav>
                                        <p:tav tm="100000">
                                          <p:val>
                                            <p:strVal val="#ppt_x"/>
                                          </p:val>
                                        </p:tav>
                                      </p:tavLst>
                                    </p:anim>
                                    <p:anim calcmode="lin" valueType="num">
                                      <p:cBhvr>
                                        <p:cTn id="9" dur="1000" fill="hold"/>
                                        <p:tgtEl>
                                          <p:spTgt spid="2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1000"/>
                                        <p:tgtEl>
                                          <p:spTgt spid="29"/>
                                        </p:tgtEl>
                                      </p:cBhvr>
                                    </p:animEffect>
                                    <p:anim calcmode="lin" valueType="num">
                                      <p:cBhvr>
                                        <p:cTn id="13" dur="1000" fill="hold"/>
                                        <p:tgtEl>
                                          <p:spTgt spid="29"/>
                                        </p:tgtEl>
                                        <p:attrNameLst>
                                          <p:attrName>ppt_x</p:attrName>
                                        </p:attrNameLst>
                                      </p:cBhvr>
                                      <p:tavLst>
                                        <p:tav tm="0">
                                          <p:val>
                                            <p:strVal val="#ppt_x"/>
                                          </p:val>
                                        </p:tav>
                                        <p:tav tm="100000">
                                          <p:val>
                                            <p:strVal val="#ppt_x"/>
                                          </p:val>
                                        </p:tav>
                                      </p:tavLst>
                                    </p:anim>
                                    <p:anim calcmode="lin" valueType="num">
                                      <p:cBhvr>
                                        <p:cTn id="14" dur="1000" fill="hold"/>
                                        <p:tgtEl>
                                          <p:spTgt spid="2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1000"/>
                                        <p:tgtEl>
                                          <p:spTgt spid="24"/>
                                        </p:tgtEl>
                                      </p:cBhvr>
                                    </p:animEffect>
                                    <p:anim calcmode="lin" valueType="num">
                                      <p:cBhvr>
                                        <p:cTn id="18" dur="1000" fill="hold"/>
                                        <p:tgtEl>
                                          <p:spTgt spid="24"/>
                                        </p:tgtEl>
                                        <p:attrNameLst>
                                          <p:attrName>ppt_x</p:attrName>
                                        </p:attrNameLst>
                                      </p:cBhvr>
                                      <p:tavLst>
                                        <p:tav tm="0">
                                          <p:val>
                                            <p:strVal val="#ppt_x"/>
                                          </p:val>
                                        </p:tav>
                                        <p:tav tm="100000">
                                          <p:val>
                                            <p:strVal val="#ppt_x"/>
                                          </p:val>
                                        </p:tav>
                                      </p:tavLst>
                                    </p:anim>
                                    <p:anim calcmode="lin" valueType="num">
                                      <p:cBhvr>
                                        <p:cTn id="19" dur="1000" fill="hold"/>
                                        <p:tgtEl>
                                          <p:spTgt spid="2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1000"/>
                                        <p:tgtEl>
                                          <p:spTgt spid="25"/>
                                        </p:tgtEl>
                                      </p:cBhvr>
                                    </p:animEffect>
                                    <p:anim calcmode="lin" valueType="num">
                                      <p:cBhvr>
                                        <p:cTn id="23" dur="1000" fill="hold"/>
                                        <p:tgtEl>
                                          <p:spTgt spid="25"/>
                                        </p:tgtEl>
                                        <p:attrNameLst>
                                          <p:attrName>ppt_x</p:attrName>
                                        </p:attrNameLst>
                                      </p:cBhvr>
                                      <p:tavLst>
                                        <p:tav tm="0">
                                          <p:val>
                                            <p:strVal val="#ppt_x"/>
                                          </p:val>
                                        </p:tav>
                                        <p:tav tm="100000">
                                          <p:val>
                                            <p:strVal val="#ppt_x"/>
                                          </p:val>
                                        </p:tav>
                                      </p:tavLst>
                                    </p:anim>
                                    <p:anim calcmode="lin" valueType="num">
                                      <p:cBhvr>
                                        <p:cTn id="24"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658368"/>
          </a:xfrm>
          <a:prstGeom prst="rect">
            <a:avLst/>
          </a:prstGeom>
          <a:noFill/>
        </p:spPr>
        <p:txBody>
          <a:bodyPr wrap="none">
            <a:spAutoFit/>
          </a:bodyPr>
          <a:lstStyle/>
          <a:p>
            <a:pPr>
              <a:defRPr sz="3000" b="1">
                <a:solidFill>
                  <a:srgbClr val="162D4E"/>
                </a:solidFill>
              </a:defRPr>
            </a:pPr>
            <a:r>
              <a:t>Final Reflection</a:t>
            </a:r>
          </a:p>
        </p:txBody>
      </p:sp>
      <p:sp>
        <p:nvSpPr>
          <p:cNvPr id="3" name="TextBox 2"/>
          <p:cNvSpPr txBox="1"/>
          <p:nvPr/>
        </p:nvSpPr>
        <p:spPr>
          <a:xfrm>
            <a:off x="621792" y="960120"/>
            <a:ext cx="10789920" cy="384048"/>
          </a:xfrm>
          <a:prstGeom prst="rect">
            <a:avLst/>
          </a:prstGeom>
          <a:noFill/>
        </p:spPr>
        <p:txBody>
          <a:bodyPr wrap="none">
            <a:spAutoFit/>
          </a:bodyPr>
          <a:lstStyle/>
          <a:p>
            <a:pPr>
              <a:defRPr sz="1500">
                <a:solidFill>
                  <a:srgbClr val="606060"/>
                </a:solidFill>
              </a:defRPr>
            </a:pPr>
            <a:r>
              <a:t>What will you do differently when creating visualisations?</a:t>
            </a:r>
          </a:p>
        </p:txBody>
      </p:sp>
      <p:sp>
        <p:nvSpPr>
          <p:cNvPr id="4" name="TextBox 3"/>
          <p:cNvSpPr txBox="1"/>
          <p:nvPr/>
        </p:nvSpPr>
        <p:spPr>
          <a:xfrm>
            <a:off x="9457288" y="6473952"/>
            <a:ext cx="2109872" cy="223138"/>
          </a:xfrm>
          <a:prstGeom prst="rect">
            <a:avLst/>
          </a:prstGeom>
          <a:noFill/>
        </p:spPr>
        <p:txBody>
          <a:bodyPr wrap="none">
            <a:spAutoFit/>
          </a:bodyPr>
          <a:lstStyle/>
          <a:p>
            <a:pPr algn="r">
              <a:defRPr sz="850">
                <a:solidFill>
                  <a:srgbClr val="8C8C8C"/>
                </a:solidFill>
              </a:defRPr>
            </a:pPr>
            <a:r>
              <a:t>Data Visualisation with Python and AI  |  </a:t>
            </a:r>
            <a:r>
              <a:rPr lang="en-SG"/>
              <a:t>34</a:t>
            </a:r>
            <a:endParaRPr/>
          </a:p>
        </p:txBody>
      </p:sp>
      <p:sp>
        <p:nvSpPr>
          <p:cNvPr id="5" name="TextBox 4"/>
          <p:cNvSpPr txBox="1"/>
          <p:nvPr/>
        </p:nvSpPr>
        <p:spPr>
          <a:xfrm>
            <a:off x="914400" y="1508760"/>
            <a:ext cx="10515600" cy="3200400"/>
          </a:xfrm>
          <a:prstGeom prst="rect">
            <a:avLst/>
          </a:prstGeom>
          <a:noFill/>
        </p:spPr>
        <p:txBody>
          <a:bodyPr wrap="square" lIns="45720">
            <a:spAutoFit/>
          </a:bodyPr>
          <a:lstStyle/>
          <a:p>
            <a:pPr marL="285750" indent="-171450">
              <a:spcAft>
                <a:spcPts val="700"/>
              </a:spcAft>
              <a:defRPr sz="2300">
                <a:solidFill>
                  <a:srgbClr val="232323"/>
                </a:solidFill>
              </a:defRPr>
            </a:pPr>
            <a:r>
              <a:t>Start with a question, not a chart type</a:t>
            </a:r>
          </a:p>
          <a:p>
            <a:pPr marL="285750" indent="-171450">
              <a:spcAft>
                <a:spcPts val="700"/>
              </a:spcAft>
              <a:defRPr sz="2300">
                <a:solidFill>
                  <a:srgbClr val="232323"/>
                </a:solidFill>
              </a:defRPr>
            </a:pPr>
            <a:r>
              <a:t>Learn the Python logic before relying on AI</a:t>
            </a:r>
          </a:p>
          <a:p>
            <a:pPr marL="285750" indent="-171450">
              <a:spcAft>
                <a:spcPts val="700"/>
              </a:spcAft>
              <a:defRPr sz="2300">
                <a:solidFill>
                  <a:srgbClr val="232323"/>
                </a:solidFill>
              </a:defRPr>
            </a:pPr>
            <a:r>
              <a:t>Use AI to explain, improve and extend — not to replace thinking</a:t>
            </a:r>
          </a:p>
          <a:p>
            <a:pPr marL="285750" indent="-171450">
              <a:spcAft>
                <a:spcPts val="700"/>
              </a:spcAft>
              <a:defRPr sz="2300">
                <a:solidFill>
                  <a:srgbClr val="232323"/>
                </a:solidFill>
              </a:defRPr>
            </a:pPr>
            <a:r>
              <a:t>Choose clarity over complexity</a:t>
            </a:r>
          </a:p>
          <a:p>
            <a:pPr marL="285750" indent="-171450">
              <a:spcAft>
                <a:spcPts val="700"/>
              </a:spcAft>
              <a:defRPr sz="2300">
                <a:solidFill>
                  <a:srgbClr val="232323"/>
                </a:solidFill>
              </a:defRPr>
            </a:pPr>
            <a:r>
              <a:t>End with an insight and a caution</a:t>
            </a:r>
          </a:p>
        </p:txBody>
      </p:sp>
      <p:sp>
        <p:nvSpPr>
          <p:cNvPr id="6" name="Rounded Rectangle 5"/>
          <p:cNvSpPr/>
          <p:nvPr/>
        </p:nvSpPr>
        <p:spPr>
          <a:xfrm>
            <a:off x="1600200" y="4983480"/>
            <a:ext cx="9052560" cy="868680"/>
          </a:xfrm>
          <a:prstGeom prst="roundRect">
            <a:avLst/>
          </a:prstGeom>
          <a:solidFill>
            <a:srgbClr val="E8F8F4"/>
          </a:solidFill>
          <a:ln w="15240">
            <a:solidFill>
              <a:srgbClr val="2A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764792" y="5093208"/>
            <a:ext cx="8723376" cy="667512"/>
          </a:xfrm>
          <a:prstGeom prst="rect">
            <a:avLst/>
          </a:prstGeom>
          <a:noFill/>
        </p:spPr>
        <p:txBody>
          <a:bodyPr wrap="square">
            <a:spAutoFit/>
          </a:bodyPr>
          <a:lstStyle/>
          <a:p>
            <a:pPr>
              <a:defRPr sz="1600" b="1">
                <a:solidFill>
                  <a:srgbClr val="2A9688"/>
                </a:solidFill>
              </a:defRPr>
            </a:pPr>
            <a:r>
              <a:t>Closing message</a:t>
            </a:r>
          </a:p>
          <a:p>
            <a:pPr>
              <a:spcBef>
                <a:spcPts val="500"/>
              </a:spcBef>
              <a:defRPr sz="1500">
                <a:solidFill>
                  <a:srgbClr val="232323"/>
                </a:solidFill>
              </a:defRPr>
            </a:pPr>
            <a:r>
              <a:t>Python builds the chart. AI supports the learning. Humans decide what is meaningful, clear, and responsible.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658368"/>
          </a:xfrm>
          <a:prstGeom prst="rect">
            <a:avLst/>
          </a:prstGeom>
          <a:noFill/>
        </p:spPr>
        <p:txBody>
          <a:bodyPr wrap="none">
            <a:spAutoFit/>
          </a:bodyPr>
          <a:lstStyle/>
          <a:p>
            <a:pPr>
              <a:defRPr sz="3000" b="1">
                <a:solidFill>
                  <a:srgbClr val="162D4E"/>
                </a:solidFill>
              </a:defRPr>
            </a:pPr>
            <a:r>
              <a:t>AI as a Visualisation Partner</a:t>
            </a:r>
          </a:p>
        </p:txBody>
      </p:sp>
      <p:sp>
        <p:nvSpPr>
          <p:cNvPr id="3" name="TextBox 2"/>
          <p:cNvSpPr txBox="1"/>
          <p:nvPr/>
        </p:nvSpPr>
        <p:spPr>
          <a:xfrm>
            <a:off x="621792" y="960120"/>
            <a:ext cx="10789920" cy="384048"/>
          </a:xfrm>
          <a:prstGeom prst="rect">
            <a:avLst/>
          </a:prstGeom>
          <a:noFill/>
        </p:spPr>
        <p:txBody>
          <a:bodyPr wrap="none">
            <a:spAutoFit/>
          </a:bodyPr>
          <a:lstStyle/>
          <a:p>
            <a:pPr>
              <a:defRPr sz="1500">
                <a:solidFill>
                  <a:srgbClr val="606060"/>
                </a:solidFill>
              </a:defRPr>
            </a:pPr>
            <a:r>
              <a:t>AI is most useful when we direct it clearly.</a:t>
            </a:r>
          </a:p>
        </p:txBody>
      </p:sp>
      <p:sp>
        <p:nvSpPr>
          <p:cNvPr id="4" name="TextBox 3"/>
          <p:cNvSpPr txBox="1"/>
          <p:nvPr/>
        </p:nvSpPr>
        <p:spPr>
          <a:xfrm>
            <a:off x="9457288" y="6473952"/>
            <a:ext cx="2109872" cy="223138"/>
          </a:xfrm>
          <a:prstGeom prst="rect">
            <a:avLst/>
          </a:prstGeom>
          <a:noFill/>
        </p:spPr>
        <p:txBody>
          <a:bodyPr wrap="none">
            <a:spAutoFit/>
          </a:bodyPr>
          <a:lstStyle/>
          <a:p>
            <a:pPr algn="r">
              <a:defRPr sz="850">
                <a:solidFill>
                  <a:srgbClr val="8C8C8C"/>
                </a:solidFill>
              </a:defRPr>
            </a:pPr>
            <a:r>
              <a:t>Data Visualisation with Python and AI  |  </a:t>
            </a:r>
            <a:r>
              <a:rPr lang="en-SG"/>
              <a:t>35</a:t>
            </a:r>
            <a:endParaRPr/>
          </a:p>
        </p:txBody>
      </p:sp>
      <p:sp>
        <p:nvSpPr>
          <p:cNvPr id="5" name="Rounded Rectangle 4"/>
          <p:cNvSpPr/>
          <p:nvPr/>
        </p:nvSpPr>
        <p:spPr>
          <a:xfrm>
            <a:off x="777240" y="1508760"/>
            <a:ext cx="3429000" cy="3017520"/>
          </a:xfrm>
          <a:prstGeom prst="roundRect">
            <a:avLst/>
          </a:prstGeom>
          <a:solidFill>
            <a:srgbClr val="E8F8F4"/>
          </a:solidFill>
          <a:ln w="15240">
            <a:solidFill>
              <a:srgbClr val="2A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41832" y="1618488"/>
            <a:ext cx="3099816" cy="2816351"/>
          </a:xfrm>
          <a:prstGeom prst="rect">
            <a:avLst/>
          </a:prstGeom>
          <a:noFill/>
        </p:spPr>
        <p:txBody>
          <a:bodyPr wrap="square">
            <a:spAutoFit/>
          </a:bodyPr>
          <a:lstStyle/>
          <a:p>
            <a:pPr>
              <a:defRPr sz="1700" b="1">
                <a:solidFill>
                  <a:srgbClr val="2A9688"/>
                </a:solidFill>
              </a:defRPr>
            </a:pPr>
            <a:r>
              <a:t>AI can help with</a:t>
            </a:r>
          </a:p>
          <a:p>
            <a:pPr>
              <a:spcBef>
                <a:spcPts val="500"/>
              </a:spcBef>
              <a:defRPr sz="1400">
                <a:solidFill>
                  <a:srgbClr val="232323"/>
                </a:solidFill>
              </a:defRPr>
            </a:pPr>
            <a:r>
              <a:t>• Generate code</a:t>
            </a:r>
            <a:br/>
            <a:r>
              <a:t>• Explain code</a:t>
            </a:r>
            <a:br/>
            <a:r>
              <a:t>• Improve labels and colours</a:t>
            </a:r>
            <a:br/>
            <a:r>
              <a:t>• Suggest alternatives</a:t>
            </a:r>
            <a:br/>
            <a:r>
              <a:t>• Interpret patterns</a:t>
            </a:r>
            <a:br/>
            <a:r>
              <a:t>• Warn about limitations</a:t>
            </a:r>
          </a:p>
        </p:txBody>
      </p:sp>
      <p:sp>
        <p:nvSpPr>
          <p:cNvPr id="7" name="Rounded Rectangle 6"/>
          <p:cNvSpPr/>
          <p:nvPr/>
        </p:nvSpPr>
        <p:spPr>
          <a:xfrm>
            <a:off x="4434840" y="1508760"/>
            <a:ext cx="3429000" cy="3017520"/>
          </a:xfrm>
          <a:prstGeom prst="roundRect">
            <a:avLst/>
          </a:prstGeom>
          <a:solidFill>
            <a:srgbClr val="FFF4E8"/>
          </a:solidFill>
          <a:ln w="15240">
            <a:solidFill>
              <a:srgbClr val="E88A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99431" y="1618488"/>
            <a:ext cx="3099816" cy="2816351"/>
          </a:xfrm>
          <a:prstGeom prst="rect">
            <a:avLst/>
          </a:prstGeom>
          <a:noFill/>
        </p:spPr>
        <p:txBody>
          <a:bodyPr wrap="square">
            <a:spAutoFit/>
          </a:bodyPr>
          <a:lstStyle/>
          <a:p>
            <a:pPr>
              <a:defRPr sz="1700" b="1">
                <a:solidFill>
                  <a:srgbClr val="E88A2D"/>
                </a:solidFill>
              </a:defRPr>
            </a:pPr>
            <a:r>
              <a:t>AI should not replace</a:t>
            </a:r>
          </a:p>
          <a:p>
            <a:pPr>
              <a:spcBef>
                <a:spcPts val="500"/>
              </a:spcBef>
              <a:defRPr sz="1400">
                <a:solidFill>
                  <a:srgbClr val="232323"/>
                </a:solidFill>
              </a:defRPr>
            </a:pPr>
            <a:r>
              <a:t>• Your question</a:t>
            </a:r>
            <a:br/>
            <a:r>
              <a:t>• Your understanding</a:t>
            </a:r>
            <a:br/>
            <a:r>
              <a:t>• Your judgement</a:t>
            </a:r>
            <a:br/>
            <a:r>
              <a:t>• Your responsibility to verify</a:t>
            </a:r>
            <a:br/>
            <a:r>
              <a:t>• Your audience awareness</a:t>
            </a:r>
          </a:p>
        </p:txBody>
      </p:sp>
      <p:sp>
        <p:nvSpPr>
          <p:cNvPr id="9" name="Rounded Rectangle 8"/>
          <p:cNvSpPr/>
          <p:nvPr/>
        </p:nvSpPr>
        <p:spPr>
          <a:xfrm>
            <a:off x="8092440" y="1508760"/>
            <a:ext cx="3429000" cy="3017520"/>
          </a:xfrm>
          <a:prstGeom prst="roundRect">
            <a:avLst/>
          </a:prstGeom>
          <a:solidFill>
            <a:srgbClr val="E2EFFD"/>
          </a:solidFill>
          <a:ln w="15240">
            <a:solidFill>
              <a:srgbClr val="2F69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57031" y="1618488"/>
            <a:ext cx="3099816" cy="2816351"/>
          </a:xfrm>
          <a:prstGeom prst="rect">
            <a:avLst/>
          </a:prstGeom>
          <a:noFill/>
        </p:spPr>
        <p:txBody>
          <a:bodyPr wrap="square">
            <a:spAutoFit/>
          </a:bodyPr>
          <a:lstStyle/>
          <a:p>
            <a:pPr>
              <a:defRPr sz="1700" b="1">
                <a:solidFill>
                  <a:srgbClr val="2F69B4"/>
                </a:solidFill>
              </a:defRPr>
            </a:pPr>
            <a:r>
              <a:t>Our rule today</a:t>
            </a:r>
          </a:p>
          <a:p>
            <a:pPr>
              <a:spcBef>
                <a:spcPts val="500"/>
              </a:spcBef>
              <a:defRPr sz="2000">
                <a:solidFill>
                  <a:srgbClr val="232323"/>
                </a:solidFill>
              </a:defRPr>
            </a:pPr>
            <a:r>
              <a:t>Python first.</a:t>
            </a:r>
            <a:br/>
            <a:r>
              <a:t>AI second.</a:t>
            </a:r>
            <a:br/>
            <a:r>
              <a:t>Compare always.</a:t>
            </a:r>
          </a:p>
        </p:txBody>
      </p:sp>
      <p:sp>
        <p:nvSpPr>
          <p:cNvPr id="11" name="TextBox 10"/>
          <p:cNvSpPr txBox="1"/>
          <p:nvPr/>
        </p:nvSpPr>
        <p:spPr>
          <a:xfrm>
            <a:off x="1097280" y="5257800"/>
            <a:ext cx="9875520" cy="502920"/>
          </a:xfrm>
          <a:prstGeom prst="rect">
            <a:avLst/>
          </a:prstGeom>
          <a:noFill/>
        </p:spPr>
        <p:txBody>
          <a:bodyPr wrap="square">
            <a:spAutoFit/>
          </a:bodyPr>
          <a:lstStyle/>
          <a:p>
            <a:pPr algn="ctr">
              <a:defRPr sz="2400" b="1">
                <a:solidFill>
                  <a:srgbClr val="162D4E"/>
                </a:solidFill>
              </a:defRPr>
            </a:pPr>
            <a:r>
              <a:t>AI responds better when our thinking is clearer.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E2EFFD"/>
        </a:solidFill>
        <a:effectLst/>
      </p:bgPr>
    </p:bg>
    <p:spTree>
      <p:nvGrpSpPr>
        <p:cNvPr id="1" name=""/>
        <p:cNvGrpSpPr/>
        <p:nvPr/>
      </p:nvGrpSpPr>
      <p:grpSpPr>
        <a:xfrm>
          <a:off x="0" y="0"/>
          <a:ext cx="0" cy="0"/>
          <a:chOff x="0" y="0"/>
          <a:chExt cx="0" cy="0"/>
        </a:xfrm>
      </p:grpSpPr>
      <p:sp>
        <p:nvSpPr>
          <p:cNvPr id="2" name="TextBox 1"/>
          <p:cNvSpPr txBox="1"/>
          <p:nvPr/>
        </p:nvSpPr>
        <p:spPr>
          <a:xfrm>
            <a:off x="822960" y="2103120"/>
            <a:ext cx="10515600" cy="731520"/>
          </a:xfrm>
          <a:prstGeom prst="rect">
            <a:avLst/>
          </a:prstGeom>
          <a:noFill/>
        </p:spPr>
        <p:txBody>
          <a:bodyPr wrap="square">
            <a:spAutoFit/>
          </a:bodyPr>
          <a:lstStyle/>
          <a:p>
            <a:pPr algn="ctr">
              <a:defRPr sz="4400" b="1">
                <a:solidFill>
                  <a:srgbClr val="162D4E"/>
                </a:solidFill>
              </a:defRPr>
            </a:pPr>
            <a:r>
              <a:t>Thank You</a:t>
            </a:r>
          </a:p>
        </p:txBody>
      </p:sp>
      <p:sp>
        <p:nvSpPr>
          <p:cNvPr id="3" name="TextBox 2"/>
          <p:cNvSpPr txBox="1"/>
          <p:nvPr/>
        </p:nvSpPr>
        <p:spPr>
          <a:xfrm>
            <a:off x="822960" y="2907792"/>
            <a:ext cx="10515600" cy="457200"/>
          </a:xfrm>
          <a:prstGeom prst="rect">
            <a:avLst/>
          </a:prstGeom>
          <a:noFill/>
        </p:spPr>
        <p:txBody>
          <a:bodyPr wrap="square">
            <a:spAutoFit/>
          </a:bodyPr>
          <a:lstStyle/>
          <a:p>
            <a:pPr algn="ctr">
              <a:defRPr sz="2200" b="0">
                <a:solidFill>
                  <a:srgbClr val="606060"/>
                </a:solidFill>
              </a:defRPr>
            </a:pPr>
            <a:r>
              <a:t>Questions, discussion, and sharing</a:t>
            </a:r>
          </a:p>
        </p:txBody>
      </p:sp>
      <p:sp>
        <p:nvSpPr>
          <p:cNvPr id="4" name="TextBox 3"/>
          <p:cNvSpPr txBox="1"/>
          <p:nvPr/>
        </p:nvSpPr>
        <p:spPr>
          <a:xfrm>
            <a:off x="822960" y="3886200"/>
            <a:ext cx="10515600" cy="502920"/>
          </a:xfrm>
          <a:prstGeom prst="rect">
            <a:avLst/>
          </a:prstGeom>
          <a:noFill/>
        </p:spPr>
        <p:txBody>
          <a:bodyPr wrap="square">
            <a:spAutoFit/>
          </a:bodyPr>
          <a:lstStyle/>
          <a:p>
            <a:pPr algn="ctr">
              <a:defRPr sz="2500" b="1">
                <a:solidFill>
                  <a:srgbClr val="2A9688"/>
                </a:solidFill>
              </a:defRPr>
            </a:pPr>
            <a:r>
              <a:t>Code first. Prompt second. Think throughout.</a:t>
            </a:r>
          </a:p>
        </p:txBody>
      </p:sp>
      <p:sp>
        <p:nvSpPr>
          <p:cNvPr id="5" name="TextBox 4"/>
          <p:cNvSpPr txBox="1"/>
          <p:nvPr/>
        </p:nvSpPr>
        <p:spPr>
          <a:xfrm>
            <a:off x="9457288" y="6473952"/>
            <a:ext cx="2109872" cy="223138"/>
          </a:xfrm>
          <a:prstGeom prst="rect">
            <a:avLst/>
          </a:prstGeom>
          <a:noFill/>
        </p:spPr>
        <p:txBody>
          <a:bodyPr wrap="none">
            <a:spAutoFit/>
          </a:bodyPr>
          <a:lstStyle/>
          <a:p>
            <a:pPr algn="r">
              <a:defRPr sz="850">
                <a:solidFill>
                  <a:srgbClr val="8C8C8C"/>
                </a:solidFill>
              </a:defRPr>
            </a:pPr>
            <a:r>
              <a:t>Data Visualisation with Python and AI  |  </a:t>
            </a:r>
            <a:r>
              <a:rPr lang="en-SG"/>
              <a:t>38</a:t>
            </a: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951d41b-6b8e-4636-984f-012bff14ba18}" enabled="1" method="Standard" siteId="{c98a79ca-5a9a-4791-a243-f06afd67464d}" contentBits="0" removed="0"/>
</clbl:labelList>
</file>

<file path=docProps/app.xml><?xml version="1.0" encoding="utf-8"?>
<Properties xmlns="http://schemas.openxmlformats.org/officeDocument/2006/extended-properties" xmlns:vt="http://schemas.openxmlformats.org/officeDocument/2006/docPropsVTypes">
  <TotalTime>8172</TotalTime>
  <Words>8311</Words>
  <Application>Microsoft Office PowerPoint</Application>
  <PresentationFormat>Widescreen</PresentationFormat>
  <Paragraphs>542</Paragraphs>
  <Slides>36</Slides>
  <Notes>36</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Aptos</vt: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Janna XU</dc:creator>
  <cp:keywords/>
  <dc:description>generated using python-pptx</dc:description>
  <cp:lastModifiedBy>Janna XU</cp:lastModifiedBy>
  <cp:revision>1</cp:revision>
  <dcterms:created xsi:type="dcterms:W3CDTF">2026-07-06T07:47:35Z</dcterms:created>
  <dcterms:modified xsi:type="dcterms:W3CDTF">2026-10-16T08:31:48Z</dcterms:modified>
  <cp:category/>
</cp:coreProperties>
</file>